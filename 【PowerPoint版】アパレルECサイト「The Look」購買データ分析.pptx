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76" r:id="rId2"/>
    <p:sldId id="260" r:id="rId3"/>
    <p:sldId id="261" r:id="rId4"/>
    <p:sldId id="262" r:id="rId5"/>
    <p:sldId id="263" r:id="rId6"/>
    <p:sldId id="264" r:id="rId7"/>
    <p:sldId id="256" r:id="rId8"/>
    <p:sldId id="265" r:id="rId9"/>
    <p:sldId id="266" r:id="rId10"/>
    <p:sldId id="267" r:id="rId11"/>
    <p:sldId id="268" r:id="rId12"/>
    <p:sldId id="257" r:id="rId13"/>
    <p:sldId id="269" r:id="rId14"/>
    <p:sldId id="270" r:id="rId15"/>
    <p:sldId id="271" r:id="rId16"/>
    <p:sldId id="272" r:id="rId17"/>
    <p:sldId id="258" r:id="rId18"/>
    <p:sldId id="274" r:id="rId19"/>
    <p:sldId id="275" r:id="rId20"/>
    <p:sldId id="273" r:id="rId21"/>
  </p:sldIdLst>
  <p:sldSz cx="18745200" cy="10744200"/>
  <p:notesSz cx="18745200" cy="10744200"/>
  <p:defaultTextStyle>
    <a:defPPr>
      <a:defRPr kern="0"/>
    </a:defPPr>
  </p:defaultTextStyle>
  <p:extLst>
    <p:ext uri="{521415D9-36F7-43E2-AB2F-B90AF26B5E84}">
      <p14:sectionLst xmlns:p14="http://schemas.microsoft.com/office/powerpoint/2010/main">
        <p14:section name="1.表紙・目次" id="{094E534F-8AA5-4568-8462-88D646C8904D}">
          <p14:sldIdLst>
            <p14:sldId id="276"/>
          </p14:sldIdLst>
        </p14:section>
        <p14:section name="2.概要" id="{53CE3E8B-70CC-4BAE-A0AD-648E18DD807C}">
          <p14:sldIdLst>
            <p14:sldId id="260"/>
            <p14:sldId id="261"/>
          </p14:sldIdLst>
        </p14:section>
        <p14:section name="3.分析内容・SQLクエリ" id="{91CA4DB0-BBF9-4A99-9355-2649CD1A73D2}">
          <p14:sldIdLst>
            <p14:sldId id="262"/>
            <p14:sldId id="263"/>
            <p14:sldId id="264"/>
            <p14:sldId id="256"/>
          </p14:sldIdLst>
        </p14:section>
        <p14:section name="ABC分析" id="{C78EA29E-A097-4543-A408-E0F8E685635E}">
          <p14:sldIdLst>
            <p14:sldId id="265"/>
            <p14:sldId id="266"/>
            <p14:sldId id="267"/>
            <p14:sldId id="268"/>
            <p14:sldId id="257"/>
          </p14:sldIdLst>
        </p14:section>
        <p14:section name="コホート分析" id="{1BD87D00-CD35-400B-98A1-DF8420953ECD}">
          <p14:sldIdLst>
            <p14:sldId id="269"/>
            <p14:sldId id="270"/>
            <p14:sldId id="271"/>
            <p14:sldId id="272"/>
            <p14:sldId id="258"/>
            <p14:sldId id="274"/>
            <p14:sldId id="275"/>
          </p14:sldIdLst>
        </p14:section>
        <p14:section name=" 4.分析結果からの考察" id="{0135F76F-FC1A-4A38-A809-6A1FCA63F97C}">
          <p14:sldIdLst>
            <p14:sldId id="273"/>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25500F-2872-4982-B716-34266521055D}" v="5" dt="2026-09-23T05:27:16.75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38" d="100"/>
          <a:sy n="38" d="100"/>
        </p:scale>
        <p:origin x="964" y="4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こずえ 斎藤" userId="9b48c2e6dfbe3897" providerId="LiveId" clId="{43F723B1-2D39-4ADD-8CAE-8E67728365CE}"/>
    <pc:docChg chg="addSld modSld sldOrd addSection modSection">
      <pc:chgData name="こずえ 斎藤" userId="9b48c2e6dfbe3897" providerId="LiveId" clId="{43F723B1-2D39-4ADD-8CAE-8E67728365CE}" dt="2026-09-23T05:31:41.606" v="403" actId="255"/>
      <pc:docMkLst>
        <pc:docMk/>
      </pc:docMkLst>
      <pc:sldChg chg="modSp mod">
        <pc:chgData name="こずえ 斎藤" userId="9b48c2e6dfbe3897" providerId="LiveId" clId="{43F723B1-2D39-4ADD-8CAE-8E67728365CE}" dt="2026-09-23T05:30:08.780" v="402" actId="20577"/>
        <pc:sldMkLst>
          <pc:docMk/>
          <pc:sldMk cId="2668899663" sldId="260"/>
        </pc:sldMkLst>
        <pc:spChg chg="mod">
          <ac:chgData name="こずえ 斎藤" userId="9b48c2e6dfbe3897" providerId="LiveId" clId="{43F723B1-2D39-4ADD-8CAE-8E67728365CE}" dt="2026-09-23T05:30:08.780" v="402" actId="20577"/>
          <ac:spMkLst>
            <pc:docMk/>
            <pc:sldMk cId="2668899663" sldId="260"/>
            <ac:spMk id="3" creationId="{E4C95E0D-62C2-9015-5618-73F1DCEEB9AC}"/>
          </ac:spMkLst>
        </pc:spChg>
      </pc:sldChg>
      <pc:sldChg chg="modSp mod">
        <pc:chgData name="こずえ 斎藤" userId="9b48c2e6dfbe3897" providerId="LiveId" clId="{43F723B1-2D39-4ADD-8CAE-8E67728365CE}" dt="2026-09-23T04:36:00.151" v="307" actId="20577"/>
        <pc:sldMkLst>
          <pc:docMk/>
          <pc:sldMk cId="2300890695" sldId="261"/>
        </pc:sldMkLst>
        <pc:spChg chg="mod">
          <ac:chgData name="こずえ 斎藤" userId="9b48c2e6dfbe3897" providerId="LiveId" clId="{43F723B1-2D39-4ADD-8CAE-8E67728365CE}" dt="2026-09-23T04:36:00.151" v="307" actId="20577"/>
          <ac:spMkLst>
            <pc:docMk/>
            <pc:sldMk cId="2300890695" sldId="261"/>
            <ac:spMk id="3" creationId="{286880EB-8189-D44A-76AC-1B697BBBFA78}"/>
          </ac:spMkLst>
        </pc:spChg>
      </pc:sldChg>
      <pc:sldChg chg="modSp mod">
        <pc:chgData name="こずえ 斎藤" userId="9b48c2e6dfbe3897" providerId="LiveId" clId="{43F723B1-2D39-4ADD-8CAE-8E67728365CE}" dt="2026-09-23T05:27:38.278" v="391" actId="1076"/>
        <pc:sldMkLst>
          <pc:docMk/>
          <pc:sldMk cId="3855807023" sldId="262"/>
        </pc:sldMkLst>
        <pc:spChg chg="mod">
          <ac:chgData name="こずえ 斎藤" userId="9b48c2e6dfbe3897" providerId="LiveId" clId="{43F723B1-2D39-4ADD-8CAE-8E67728365CE}" dt="2026-09-23T05:27:38.278" v="391" actId="1076"/>
          <ac:spMkLst>
            <pc:docMk/>
            <pc:sldMk cId="3855807023" sldId="262"/>
            <ac:spMk id="2" creationId="{EE1E576F-AD16-2A24-D696-E444905E438F}"/>
          </ac:spMkLst>
        </pc:spChg>
        <pc:spChg chg="mod">
          <ac:chgData name="こずえ 斎藤" userId="9b48c2e6dfbe3897" providerId="LiveId" clId="{43F723B1-2D39-4ADD-8CAE-8E67728365CE}" dt="2026-09-23T05:27:07.358" v="373" actId="21"/>
          <ac:spMkLst>
            <pc:docMk/>
            <pc:sldMk cId="3855807023" sldId="262"/>
            <ac:spMk id="3" creationId="{0E979FD9-9A86-7CF0-4312-C656A1142FAA}"/>
          </ac:spMkLst>
        </pc:spChg>
      </pc:sldChg>
      <pc:sldChg chg="modSp mod">
        <pc:chgData name="こずえ 斎藤" userId="9b48c2e6dfbe3897" providerId="LiveId" clId="{43F723B1-2D39-4ADD-8CAE-8E67728365CE}" dt="2026-09-23T04:28:45.878" v="127" actId="20577"/>
        <pc:sldMkLst>
          <pc:docMk/>
          <pc:sldMk cId="2762578313" sldId="263"/>
        </pc:sldMkLst>
        <pc:spChg chg="mod">
          <ac:chgData name="こずえ 斎藤" userId="9b48c2e6dfbe3897" providerId="LiveId" clId="{43F723B1-2D39-4ADD-8CAE-8E67728365CE}" dt="2026-09-23T04:28:45.878" v="127" actId="20577"/>
          <ac:spMkLst>
            <pc:docMk/>
            <pc:sldMk cId="2762578313" sldId="263"/>
            <ac:spMk id="3" creationId="{A48A2A44-F282-9EFC-359F-1FF33296779C}"/>
          </ac:spMkLst>
        </pc:spChg>
      </pc:sldChg>
      <pc:sldChg chg="modSp mod">
        <pc:chgData name="こずえ 斎藤" userId="9b48c2e6dfbe3897" providerId="LiveId" clId="{43F723B1-2D39-4ADD-8CAE-8E67728365CE}" dt="2026-09-23T05:31:41.606" v="403" actId="255"/>
        <pc:sldMkLst>
          <pc:docMk/>
          <pc:sldMk cId="492870772" sldId="269"/>
        </pc:sldMkLst>
        <pc:spChg chg="mod">
          <ac:chgData name="こずえ 斎藤" userId="9b48c2e6dfbe3897" providerId="LiveId" clId="{43F723B1-2D39-4ADD-8CAE-8E67728365CE}" dt="2026-09-23T05:28:43.828" v="394" actId="1076"/>
          <ac:spMkLst>
            <pc:docMk/>
            <pc:sldMk cId="492870772" sldId="269"/>
            <ac:spMk id="2" creationId="{382D966E-5DCF-FDE5-850F-DE5820E911ED}"/>
          </ac:spMkLst>
        </pc:spChg>
        <pc:spChg chg="mod">
          <ac:chgData name="こずえ 斎藤" userId="9b48c2e6dfbe3897" providerId="LiveId" clId="{43F723B1-2D39-4ADD-8CAE-8E67728365CE}" dt="2026-09-23T05:31:41.606" v="403" actId="255"/>
          <ac:spMkLst>
            <pc:docMk/>
            <pc:sldMk cId="492870772" sldId="269"/>
            <ac:spMk id="3" creationId="{784A3D12-ABBA-85AB-D4A3-5A13E92F24E3}"/>
          </ac:spMkLst>
        </pc:spChg>
      </pc:sldChg>
      <pc:sldChg chg="modSp mod">
        <pc:chgData name="こずえ 斎藤" userId="9b48c2e6dfbe3897" providerId="LiveId" clId="{43F723B1-2D39-4ADD-8CAE-8E67728365CE}" dt="2026-09-23T05:25:16.864" v="372" actId="20577"/>
        <pc:sldMkLst>
          <pc:docMk/>
          <pc:sldMk cId="2035965995" sldId="273"/>
        </pc:sldMkLst>
        <pc:spChg chg="mod">
          <ac:chgData name="こずえ 斎藤" userId="9b48c2e6dfbe3897" providerId="LiveId" clId="{43F723B1-2D39-4ADD-8CAE-8E67728365CE}" dt="2026-09-23T05:25:16.864" v="372" actId="20577"/>
          <ac:spMkLst>
            <pc:docMk/>
            <pc:sldMk cId="2035965995" sldId="273"/>
            <ac:spMk id="3" creationId="{C372FBB9-AEEF-4C22-F17E-14EE58FE79B2}"/>
          </ac:spMkLst>
        </pc:spChg>
      </pc:sldChg>
      <pc:sldChg chg="addSp modSp new mod ord">
        <pc:chgData name="こずえ 斎藤" userId="9b48c2e6dfbe3897" providerId="LiveId" clId="{43F723B1-2D39-4ADD-8CAE-8E67728365CE}" dt="2026-09-23T05:29:42.068" v="396" actId="113"/>
        <pc:sldMkLst>
          <pc:docMk/>
          <pc:sldMk cId="1735119283" sldId="276"/>
        </pc:sldMkLst>
        <pc:spChg chg="add mod">
          <ac:chgData name="こずえ 斎藤" userId="9b48c2e6dfbe3897" providerId="LiveId" clId="{43F723B1-2D39-4ADD-8CAE-8E67728365CE}" dt="2026-09-22T10:55:59.860" v="21" actId="115"/>
          <ac:spMkLst>
            <pc:docMk/>
            <pc:sldMk cId="1735119283" sldId="276"/>
            <ac:spMk id="2" creationId="{C605AF16-C2C8-2737-76D1-1A487A7E6760}"/>
          </ac:spMkLst>
        </pc:spChg>
        <pc:spChg chg="add mod">
          <ac:chgData name="こずえ 斎藤" userId="9b48c2e6dfbe3897" providerId="LiveId" clId="{43F723B1-2D39-4ADD-8CAE-8E67728365CE}" dt="2026-09-23T05:29:42.068" v="396" actId="113"/>
          <ac:spMkLst>
            <pc:docMk/>
            <pc:sldMk cId="1735119283" sldId="276"/>
            <ac:spMk id="3" creationId="{D4D76979-35A2-C29D-0E10-362E93D8178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8123238" cy="53816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10617200" y="0"/>
            <a:ext cx="8123238" cy="538163"/>
          </a:xfrm>
          <a:prstGeom prst="rect">
            <a:avLst/>
          </a:prstGeom>
        </p:spPr>
        <p:txBody>
          <a:bodyPr vert="horz" lIns="91440" tIns="45720" rIns="91440" bIns="45720" rtlCol="0"/>
          <a:lstStyle>
            <a:lvl1pPr algn="r">
              <a:defRPr sz="1200"/>
            </a:lvl1pPr>
          </a:lstStyle>
          <a:p>
            <a:fld id="{2DAB07E0-5CD1-43F8-BEA8-0B1A52C0D598}" type="datetimeFigureOut">
              <a:rPr kumimoji="1" lang="ja-JP" altLang="en-US" smtClean="0"/>
              <a:t>2026/9/23</a:t>
            </a:fld>
            <a:endParaRPr kumimoji="1" lang="ja-JP" altLang="en-US"/>
          </a:p>
        </p:txBody>
      </p:sp>
      <p:sp>
        <p:nvSpPr>
          <p:cNvPr id="4" name="スライド イメージ プレースホルダー 3"/>
          <p:cNvSpPr>
            <a:spLocks noGrp="1" noRot="1" noChangeAspect="1"/>
          </p:cNvSpPr>
          <p:nvPr>
            <p:ph type="sldImg" idx="2"/>
          </p:nvPr>
        </p:nvSpPr>
        <p:spPr>
          <a:xfrm>
            <a:off x="6210300" y="1343025"/>
            <a:ext cx="6324600" cy="362585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1874838" y="5170488"/>
            <a:ext cx="14995525" cy="4230687"/>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10206038"/>
            <a:ext cx="8123238" cy="53816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10617200" y="10206038"/>
            <a:ext cx="8123238" cy="538162"/>
          </a:xfrm>
          <a:prstGeom prst="rect">
            <a:avLst/>
          </a:prstGeom>
        </p:spPr>
        <p:txBody>
          <a:bodyPr vert="horz" lIns="91440" tIns="45720" rIns="91440" bIns="45720" rtlCol="0" anchor="b"/>
          <a:lstStyle>
            <a:lvl1pPr algn="r">
              <a:defRPr sz="1200"/>
            </a:lvl1pPr>
          </a:lstStyle>
          <a:p>
            <a:fld id="{70AF3225-E218-4B98-A617-6BDBEE8CAFCC}" type="slidenum">
              <a:rPr kumimoji="1" lang="ja-JP" altLang="en-US" smtClean="0"/>
              <a:t>‹#›</a:t>
            </a:fld>
            <a:endParaRPr kumimoji="1" lang="ja-JP" altLang="en-US"/>
          </a:p>
        </p:txBody>
      </p:sp>
    </p:spTree>
    <p:extLst>
      <p:ext uri="{BB962C8B-B14F-4D97-AF65-F5344CB8AC3E}">
        <p14:creationId xmlns:p14="http://schemas.microsoft.com/office/powerpoint/2010/main" val="41602770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70AF3225-E218-4B98-A617-6BDBEE8CAFCC}" type="slidenum">
              <a:rPr kumimoji="1" lang="ja-JP" altLang="en-US" smtClean="0"/>
              <a:t>2</a:t>
            </a:fld>
            <a:endParaRPr kumimoji="1" lang="ja-JP" altLang="en-US"/>
          </a:p>
        </p:txBody>
      </p:sp>
    </p:spTree>
    <p:extLst>
      <p:ext uri="{BB962C8B-B14F-4D97-AF65-F5344CB8AC3E}">
        <p14:creationId xmlns:p14="http://schemas.microsoft.com/office/powerpoint/2010/main" val="32614119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405890" y="3330702"/>
            <a:ext cx="15933420" cy="2256282"/>
          </a:xfrm>
          <a:prstGeom prst="rect">
            <a:avLst/>
          </a:prstGeom>
        </p:spPr>
        <p:txBody>
          <a:bodyPr wrap="square" lIns="0" tIns="0" rIns="0" bIns="0">
            <a:spAutoFit/>
          </a:bodyPr>
          <a:lstStyle>
            <a:lvl1pPr>
              <a:defRPr sz="2450" b="1" i="0">
                <a:solidFill>
                  <a:srgbClr val="242424"/>
                </a:solidFill>
                <a:latin typeface="Ryo Gothic Std B"/>
                <a:cs typeface="Ryo Gothic Std B"/>
              </a:defRPr>
            </a:lvl1pPr>
          </a:lstStyle>
          <a:p>
            <a:endParaRPr/>
          </a:p>
        </p:txBody>
      </p:sp>
      <p:sp>
        <p:nvSpPr>
          <p:cNvPr id="3" name="Holder 3"/>
          <p:cNvSpPr>
            <a:spLocks noGrp="1"/>
          </p:cNvSpPr>
          <p:nvPr>
            <p:ph type="subTitle" idx="4"/>
          </p:nvPr>
        </p:nvSpPr>
        <p:spPr>
          <a:xfrm>
            <a:off x="2811780" y="6016752"/>
            <a:ext cx="13121640" cy="26860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50" b="1" i="0">
                <a:solidFill>
                  <a:srgbClr val="242424"/>
                </a:solidFill>
                <a:latin typeface="Ryo Gothic Std B"/>
                <a:cs typeface="Ryo Gothic Std B"/>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50" b="1" i="0">
                <a:solidFill>
                  <a:srgbClr val="242424"/>
                </a:solidFill>
                <a:latin typeface="Ryo Gothic Std B"/>
                <a:cs typeface="Ryo Gothic Std B"/>
              </a:defRPr>
            </a:lvl1pPr>
          </a:lstStyle>
          <a:p>
            <a:endParaRPr/>
          </a:p>
        </p:txBody>
      </p:sp>
      <p:sp>
        <p:nvSpPr>
          <p:cNvPr id="3" name="Holder 3"/>
          <p:cNvSpPr>
            <a:spLocks noGrp="1"/>
          </p:cNvSpPr>
          <p:nvPr>
            <p:ph sz="half" idx="2"/>
          </p:nvPr>
        </p:nvSpPr>
        <p:spPr>
          <a:xfrm>
            <a:off x="937260" y="2471166"/>
            <a:ext cx="8154162" cy="709117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653778" y="2471166"/>
            <a:ext cx="8154162" cy="709117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50" b="1" i="0">
                <a:solidFill>
                  <a:srgbClr val="242424"/>
                </a:solidFill>
                <a:latin typeface="Ryo Gothic Std B"/>
                <a:cs typeface="Ryo Gothic Std B"/>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28600" y="228600"/>
            <a:ext cx="18288000" cy="323850"/>
          </a:xfrm>
          <a:custGeom>
            <a:avLst/>
            <a:gdLst/>
            <a:ahLst/>
            <a:cxnLst/>
            <a:rect l="l" t="t" r="r" b="b"/>
            <a:pathLst>
              <a:path w="18288000" h="323850">
                <a:moveTo>
                  <a:pt x="18287998" y="323849"/>
                </a:moveTo>
                <a:lnTo>
                  <a:pt x="0" y="323849"/>
                </a:lnTo>
                <a:lnTo>
                  <a:pt x="0" y="0"/>
                </a:lnTo>
                <a:lnTo>
                  <a:pt x="18287998" y="0"/>
                </a:lnTo>
                <a:lnTo>
                  <a:pt x="18287998" y="323849"/>
                </a:lnTo>
                <a:close/>
              </a:path>
            </a:pathLst>
          </a:custGeom>
          <a:solidFill>
            <a:srgbClr val="3B3A38"/>
          </a:solidFill>
        </p:spPr>
        <p:txBody>
          <a:bodyPr wrap="square" lIns="0" tIns="0" rIns="0" bIns="0" rtlCol="0"/>
          <a:lstStyle/>
          <a:p>
            <a:endParaRPr/>
          </a:p>
        </p:txBody>
      </p:sp>
      <p:sp>
        <p:nvSpPr>
          <p:cNvPr id="17" name="bg object 17"/>
          <p:cNvSpPr/>
          <p:nvPr/>
        </p:nvSpPr>
        <p:spPr>
          <a:xfrm>
            <a:off x="228587" y="548639"/>
            <a:ext cx="18288000" cy="1222375"/>
          </a:xfrm>
          <a:custGeom>
            <a:avLst/>
            <a:gdLst/>
            <a:ahLst/>
            <a:cxnLst/>
            <a:rect l="l" t="t" r="r" b="b"/>
            <a:pathLst>
              <a:path w="18288000" h="1222375">
                <a:moveTo>
                  <a:pt x="18288000" y="1213485"/>
                </a:moveTo>
                <a:lnTo>
                  <a:pt x="0" y="1213485"/>
                </a:lnTo>
                <a:lnTo>
                  <a:pt x="0" y="1221752"/>
                </a:lnTo>
                <a:lnTo>
                  <a:pt x="18288000" y="1221752"/>
                </a:lnTo>
                <a:lnTo>
                  <a:pt x="18288000" y="1213485"/>
                </a:lnTo>
                <a:close/>
              </a:path>
              <a:path w="18288000" h="1222375">
                <a:moveTo>
                  <a:pt x="18288000" y="0"/>
                </a:moveTo>
                <a:lnTo>
                  <a:pt x="0" y="0"/>
                </a:lnTo>
                <a:lnTo>
                  <a:pt x="0" y="3810"/>
                </a:lnTo>
                <a:lnTo>
                  <a:pt x="18288000" y="3810"/>
                </a:lnTo>
                <a:lnTo>
                  <a:pt x="18288000" y="0"/>
                </a:lnTo>
                <a:close/>
              </a:path>
            </a:pathLst>
          </a:custGeom>
          <a:solidFill>
            <a:srgbClr val="000000">
              <a:alpha val="10998"/>
            </a:srgbClr>
          </a:solidFill>
        </p:spPr>
        <p:txBody>
          <a:bodyPr wrap="square" lIns="0" tIns="0" rIns="0" bIns="0" rtlCol="0"/>
          <a:lstStyle/>
          <a:p>
            <a:endParaRPr/>
          </a:p>
        </p:txBody>
      </p:sp>
      <p:sp>
        <p:nvSpPr>
          <p:cNvPr id="18" name="bg object 18"/>
          <p:cNvSpPr/>
          <p:nvPr/>
        </p:nvSpPr>
        <p:spPr>
          <a:xfrm>
            <a:off x="228600" y="1762124"/>
            <a:ext cx="18288000" cy="64135"/>
          </a:xfrm>
          <a:custGeom>
            <a:avLst/>
            <a:gdLst/>
            <a:ahLst/>
            <a:cxnLst/>
            <a:rect l="l" t="t" r="r" b="b"/>
            <a:pathLst>
              <a:path w="18288000" h="64135">
                <a:moveTo>
                  <a:pt x="0" y="64135"/>
                </a:moveTo>
                <a:lnTo>
                  <a:pt x="18287999" y="64135"/>
                </a:lnTo>
                <a:lnTo>
                  <a:pt x="18287999" y="0"/>
                </a:lnTo>
                <a:lnTo>
                  <a:pt x="0" y="0"/>
                </a:lnTo>
                <a:lnTo>
                  <a:pt x="0" y="64135"/>
                </a:lnTo>
                <a:close/>
              </a:path>
            </a:pathLst>
          </a:custGeom>
          <a:solidFill>
            <a:srgbClr val="000000">
              <a:alpha val="12998"/>
            </a:srgbClr>
          </a:solidFill>
        </p:spPr>
        <p:txBody>
          <a:bodyPr wrap="square" lIns="0" tIns="0" rIns="0" bIns="0" rtlCol="0"/>
          <a:lstStyle/>
          <a:p>
            <a:endParaRPr/>
          </a:p>
        </p:txBody>
      </p:sp>
      <p:sp>
        <p:nvSpPr>
          <p:cNvPr id="19" name="bg object 19"/>
          <p:cNvSpPr/>
          <p:nvPr/>
        </p:nvSpPr>
        <p:spPr>
          <a:xfrm>
            <a:off x="228600" y="552449"/>
            <a:ext cx="18288000" cy="1209675"/>
          </a:xfrm>
          <a:custGeom>
            <a:avLst/>
            <a:gdLst/>
            <a:ahLst/>
            <a:cxnLst/>
            <a:rect l="l" t="t" r="r" b="b"/>
            <a:pathLst>
              <a:path w="18288000" h="1209675">
                <a:moveTo>
                  <a:pt x="18287998" y="1209674"/>
                </a:moveTo>
                <a:lnTo>
                  <a:pt x="0" y="1209674"/>
                </a:lnTo>
                <a:lnTo>
                  <a:pt x="0" y="0"/>
                </a:lnTo>
                <a:lnTo>
                  <a:pt x="18287998" y="0"/>
                </a:lnTo>
                <a:lnTo>
                  <a:pt x="18287998" y="1209674"/>
                </a:lnTo>
                <a:close/>
              </a:path>
            </a:pathLst>
          </a:custGeom>
          <a:solidFill>
            <a:srgbClr val="F2F1F1"/>
          </a:solidFill>
        </p:spPr>
        <p:txBody>
          <a:bodyPr wrap="square" lIns="0" tIns="0" rIns="0" bIns="0" rtlCol="0"/>
          <a:lstStyle/>
          <a:p>
            <a:endParaRPr/>
          </a:p>
        </p:txBody>
      </p:sp>
      <p:sp>
        <p:nvSpPr>
          <p:cNvPr id="2" name="Holder 2"/>
          <p:cNvSpPr>
            <a:spLocks noGrp="1"/>
          </p:cNvSpPr>
          <p:nvPr>
            <p:ph type="title"/>
          </p:nvPr>
        </p:nvSpPr>
        <p:spPr>
          <a:xfrm>
            <a:off x="7723534" y="776513"/>
            <a:ext cx="2926715" cy="404494"/>
          </a:xfrm>
          <a:prstGeom prst="rect">
            <a:avLst/>
          </a:prstGeom>
        </p:spPr>
        <p:txBody>
          <a:bodyPr wrap="square" lIns="0" tIns="0" rIns="0" bIns="0">
            <a:spAutoFit/>
          </a:bodyPr>
          <a:lstStyle>
            <a:lvl1pPr>
              <a:defRPr sz="2450" b="1" i="0">
                <a:solidFill>
                  <a:srgbClr val="242424"/>
                </a:solidFill>
                <a:latin typeface="Ryo Gothic Std B"/>
                <a:cs typeface="Ryo Gothic Std B"/>
              </a:defRPr>
            </a:lvl1pPr>
          </a:lstStyle>
          <a:p>
            <a:endParaRPr/>
          </a:p>
        </p:txBody>
      </p:sp>
      <p:sp>
        <p:nvSpPr>
          <p:cNvPr id="3" name="Holder 3"/>
          <p:cNvSpPr>
            <a:spLocks noGrp="1"/>
          </p:cNvSpPr>
          <p:nvPr>
            <p:ph type="body" idx="1"/>
          </p:nvPr>
        </p:nvSpPr>
        <p:spPr>
          <a:xfrm>
            <a:off x="937260" y="2471166"/>
            <a:ext cx="16870680" cy="709117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6373368" y="9992106"/>
            <a:ext cx="5998464" cy="53721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37260" y="9992106"/>
            <a:ext cx="4311396" cy="53721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9/23/2026</a:t>
            </a:fld>
            <a:endParaRPr lang="en-US"/>
          </a:p>
        </p:txBody>
      </p:sp>
      <p:sp>
        <p:nvSpPr>
          <p:cNvPr id="6" name="Holder 6"/>
          <p:cNvSpPr>
            <a:spLocks noGrp="1"/>
          </p:cNvSpPr>
          <p:nvPr>
            <p:ph type="sldNum" sz="quarter" idx="7"/>
          </p:nvPr>
        </p:nvSpPr>
        <p:spPr>
          <a:xfrm>
            <a:off x="13496545" y="9992106"/>
            <a:ext cx="4311396" cy="53721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SAITO1912/ECanalysis.git" TargetMode="Externa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SAITO1912/ECanalysis.git" TargetMode="Externa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605AF16-C2C8-2737-76D1-1A487A7E6760}"/>
              </a:ext>
            </a:extLst>
          </p:cNvPr>
          <p:cNvSpPr txBox="1"/>
          <p:nvPr/>
        </p:nvSpPr>
        <p:spPr>
          <a:xfrm>
            <a:off x="4800598" y="685337"/>
            <a:ext cx="9143999" cy="923330"/>
          </a:xfrm>
          <a:prstGeom prst="rect">
            <a:avLst/>
          </a:prstGeom>
          <a:noFill/>
        </p:spPr>
        <p:txBody>
          <a:bodyPr wrap="square" rtlCol="0">
            <a:spAutoFit/>
          </a:bodyPr>
          <a:lstStyle/>
          <a:p>
            <a:r>
              <a:rPr kumimoji="1" lang="ja-JP" altLang="en-US" sz="3600" b="1" u="sng">
                <a:latin typeface="+mj-ea"/>
                <a:ea typeface="+mj-ea"/>
              </a:rPr>
              <a:t>アパレル</a:t>
            </a:r>
            <a:r>
              <a:rPr kumimoji="1" lang="en-US" altLang="ja-JP" sz="3600" b="1" u="sng">
                <a:latin typeface="+mj-ea"/>
                <a:ea typeface="+mj-ea"/>
              </a:rPr>
              <a:t>EC</a:t>
            </a:r>
            <a:r>
              <a:rPr kumimoji="1" lang="ja-JP" altLang="en-US" sz="3600" b="1" u="sng">
                <a:latin typeface="+mj-ea"/>
                <a:ea typeface="+mj-ea"/>
              </a:rPr>
              <a:t>サイト「</a:t>
            </a:r>
            <a:r>
              <a:rPr kumimoji="1" lang="en-US" altLang="ja-JP" sz="3600" b="1" u="sng">
                <a:latin typeface="+mj-ea"/>
                <a:ea typeface="+mj-ea"/>
              </a:rPr>
              <a:t>The Look</a:t>
            </a:r>
            <a:r>
              <a:rPr kumimoji="1" lang="ja-JP" altLang="en-US" sz="3600" b="1" u="sng">
                <a:latin typeface="+mj-ea"/>
                <a:ea typeface="+mj-ea"/>
              </a:rPr>
              <a:t>」 購買データ分析</a:t>
            </a:r>
          </a:p>
          <a:p>
            <a:endParaRPr kumimoji="1" lang="ja-JP" altLang="en-US" b="1"/>
          </a:p>
        </p:txBody>
      </p:sp>
      <p:sp>
        <p:nvSpPr>
          <p:cNvPr id="3" name="テキスト ボックス 2">
            <a:extLst>
              <a:ext uri="{FF2B5EF4-FFF2-40B4-BE49-F238E27FC236}">
                <a16:creationId xmlns:a16="http://schemas.microsoft.com/office/drawing/2014/main" id="{D4D76979-35A2-C29D-0E10-362E93D81789}"/>
              </a:ext>
            </a:extLst>
          </p:cNvPr>
          <p:cNvSpPr txBox="1"/>
          <p:nvPr/>
        </p:nvSpPr>
        <p:spPr>
          <a:xfrm>
            <a:off x="3273010" y="2232779"/>
            <a:ext cx="10923183" cy="7263527"/>
          </a:xfrm>
          <a:prstGeom prst="rect">
            <a:avLst/>
          </a:prstGeom>
          <a:noFill/>
        </p:spPr>
        <p:txBody>
          <a:bodyPr wrap="none" rtlCol="0">
            <a:spAutoFit/>
          </a:bodyPr>
          <a:lstStyle/>
          <a:p>
            <a:r>
              <a:rPr kumimoji="1" lang="ja-JP" altLang="en-US" sz="3200"/>
              <a:t>● 目次</a:t>
            </a:r>
          </a:p>
          <a:p>
            <a:endParaRPr kumimoji="1" lang="ja-JP" altLang="en-US" sz="3200"/>
          </a:p>
          <a:p>
            <a:r>
              <a:rPr kumimoji="1" lang="ja-JP" altLang="en-US" sz="3200"/>
              <a:t>　</a:t>
            </a:r>
            <a:r>
              <a:rPr kumimoji="1" lang="ja-JP" altLang="en-US" sz="3200" b="1"/>
              <a:t>・</a:t>
            </a:r>
            <a:r>
              <a:rPr kumimoji="1" lang="en-US" altLang="ja-JP" sz="3200" b="1"/>
              <a:t>2.</a:t>
            </a:r>
            <a:r>
              <a:rPr kumimoji="1" lang="ja-JP" altLang="en-US" sz="3200" b="1"/>
              <a:t>概要</a:t>
            </a:r>
            <a:endParaRPr kumimoji="1" lang="en-US" altLang="ja-JP" sz="3200" b="1"/>
          </a:p>
          <a:p>
            <a:r>
              <a:rPr kumimoji="1" lang="ja-JP" altLang="en-US" sz="3200" b="1"/>
              <a:t>　　</a:t>
            </a:r>
            <a:r>
              <a:rPr kumimoji="1" lang="ja-JP" altLang="en-US" sz="3200"/>
              <a:t>・背景と分析の目的 </a:t>
            </a:r>
          </a:p>
          <a:p>
            <a:r>
              <a:rPr kumimoji="1" lang="ja-JP" altLang="en-US" sz="3200"/>
              <a:t>　　・使用データと分析環境 </a:t>
            </a:r>
          </a:p>
          <a:p>
            <a:endParaRPr kumimoji="1" lang="ja-JP" altLang="en-US" sz="3200"/>
          </a:p>
          <a:p>
            <a:r>
              <a:rPr kumimoji="1" lang="ja-JP" altLang="en-US" sz="3200"/>
              <a:t>　</a:t>
            </a:r>
            <a:endParaRPr kumimoji="1" lang="en-US" altLang="ja-JP" sz="3200"/>
          </a:p>
          <a:p>
            <a:r>
              <a:rPr kumimoji="1" lang="ja-JP" altLang="en-US" sz="3200" b="1"/>
              <a:t>　・</a:t>
            </a:r>
            <a:r>
              <a:rPr kumimoji="1" lang="en-US" altLang="ja-JP" sz="3200" b="1"/>
              <a:t>3.</a:t>
            </a:r>
            <a:r>
              <a:rPr kumimoji="1" lang="ja-JP" altLang="en-US" sz="3200" b="1"/>
              <a:t>分析内容と</a:t>
            </a:r>
            <a:r>
              <a:rPr kumimoji="1" lang="en-US" altLang="ja-JP" sz="3200" b="1"/>
              <a:t>SQL</a:t>
            </a:r>
            <a:r>
              <a:rPr kumimoji="1" lang="ja-JP" altLang="en-US" sz="3200" b="1"/>
              <a:t>クエリ</a:t>
            </a:r>
          </a:p>
          <a:p>
            <a:r>
              <a:rPr kumimoji="1" lang="ja-JP" altLang="en-US" sz="3200"/>
              <a:t>　　　</a:t>
            </a:r>
            <a:r>
              <a:rPr kumimoji="1" lang="ja-JP" altLang="en-US" sz="2800"/>
              <a:t>① 月別売上・注文数・客単価の推移（売上集計分析）</a:t>
            </a:r>
          </a:p>
          <a:p>
            <a:r>
              <a:rPr kumimoji="1" lang="ja-JP" altLang="en-US" sz="3200"/>
              <a:t>　　　</a:t>
            </a:r>
            <a:r>
              <a:rPr kumimoji="1" lang="ja-JP" altLang="en-US" sz="2800"/>
              <a:t>② 商品別の売上ランキング（</a:t>
            </a:r>
            <a:r>
              <a:rPr kumimoji="1" lang="en-US" altLang="ja-JP" sz="2800"/>
              <a:t>ABC</a:t>
            </a:r>
            <a:r>
              <a:rPr kumimoji="1" lang="ja-JP" altLang="en-US" sz="2800"/>
              <a:t>分析）</a:t>
            </a:r>
          </a:p>
          <a:p>
            <a:r>
              <a:rPr kumimoji="1" lang="ja-JP" altLang="en-US" sz="3200"/>
              <a:t>　　　</a:t>
            </a:r>
            <a:r>
              <a:rPr kumimoji="1" lang="ja-JP" altLang="en-US" sz="2800"/>
              <a:t>③ ユーザー初回購入月からの継続率分析（コホート分析）</a:t>
            </a:r>
          </a:p>
          <a:p>
            <a:endParaRPr kumimoji="1" lang="ja-JP" altLang="en-US" sz="3200"/>
          </a:p>
          <a:p>
            <a:endParaRPr kumimoji="1" lang="en-US" altLang="ja-JP" sz="3200"/>
          </a:p>
          <a:p>
            <a:r>
              <a:rPr kumimoji="1" lang="ja-JP" altLang="en-US" sz="3200"/>
              <a:t>　</a:t>
            </a:r>
            <a:r>
              <a:rPr kumimoji="1" lang="ja-JP" altLang="en-US" sz="3200" b="1"/>
              <a:t>・</a:t>
            </a:r>
            <a:r>
              <a:rPr kumimoji="1" lang="en-US" altLang="ja-JP" sz="3200" b="1"/>
              <a:t>4.</a:t>
            </a:r>
            <a:r>
              <a:rPr kumimoji="1" lang="ja-JP" altLang="en-US" sz="3200" b="1"/>
              <a:t>分析結果からの考察（ビジネス提言の例）</a:t>
            </a:r>
          </a:p>
          <a:p>
            <a:endParaRPr kumimoji="1" lang="ja-JP" altLang="en-US"/>
          </a:p>
        </p:txBody>
      </p:sp>
    </p:spTree>
    <p:extLst>
      <p:ext uri="{BB962C8B-B14F-4D97-AF65-F5344CB8AC3E}">
        <p14:creationId xmlns:p14="http://schemas.microsoft.com/office/powerpoint/2010/main" val="17351192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409BA3-81D9-198E-6A95-C9079E4E5676}"/>
              </a:ext>
            </a:extLst>
          </p:cNvPr>
          <p:cNvSpPr>
            <a:spLocks noGrp="1"/>
          </p:cNvSpPr>
          <p:nvPr>
            <p:ph type="title"/>
          </p:nvPr>
        </p:nvSpPr>
        <p:spPr>
          <a:xfrm>
            <a:off x="3506245" y="647700"/>
            <a:ext cx="11992624" cy="553998"/>
          </a:xfrm>
        </p:spPr>
        <p:txBody>
          <a:bodyPr/>
          <a:lstStyle/>
          <a:p>
            <a:pPr algn="ctr"/>
            <a:r>
              <a:rPr kumimoji="1" lang="ja-JP" altLang="en-US" sz="3600">
                <a:latin typeface="+mj-ea"/>
              </a:rPr>
              <a:t>ポートフォリオ</a:t>
            </a:r>
            <a:r>
              <a:rPr kumimoji="1" lang="en-US" altLang="ja-JP" sz="3600">
                <a:latin typeface="+mj-ea"/>
              </a:rPr>
              <a:t>/ </a:t>
            </a:r>
            <a:r>
              <a:rPr kumimoji="1" lang="ja-JP" altLang="en-US" sz="3600">
                <a:latin typeface="+mj-ea"/>
              </a:rPr>
              <a:t>アパレル</a:t>
            </a:r>
            <a:r>
              <a:rPr kumimoji="1" lang="en-US" altLang="ja-JP" sz="3600">
                <a:latin typeface="+mj-ea"/>
              </a:rPr>
              <a:t>EC</a:t>
            </a:r>
            <a:r>
              <a:rPr kumimoji="1" lang="ja-JP" altLang="en-US" sz="3600">
                <a:latin typeface="+mj-ea"/>
              </a:rPr>
              <a:t>サイト「</a:t>
            </a:r>
            <a:r>
              <a:rPr kumimoji="1" lang="en-US" altLang="ja-JP" sz="3600">
                <a:latin typeface="+mj-ea"/>
              </a:rPr>
              <a:t>The Look</a:t>
            </a:r>
            <a:r>
              <a:rPr kumimoji="1" lang="ja-JP" altLang="en-US" sz="3600">
                <a:latin typeface="+mj-ea"/>
              </a:rPr>
              <a:t>」 購買データ分析</a:t>
            </a:r>
          </a:p>
        </p:txBody>
      </p:sp>
      <p:sp>
        <p:nvSpPr>
          <p:cNvPr id="3" name="テキスト ボックス 2">
            <a:extLst>
              <a:ext uri="{FF2B5EF4-FFF2-40B4-BE49-F238E27FC236}">
                <a16:creationId xmlns:a16="http://schemas.microsoft.com/office/drawing/2014/main" id="{E4C95E0D-62C2-9015-5618-73F1DCEEB9AC}"/>
              </a:ext>
            </a:extLst>
          </p:cNvPr>
          <p:cNvSpPr txBox="1"/>
          <p:nvPr/>
        </p:nvSpPr>
        <p:spPr>
          <a:xfrm>
            <a:off x="1371600" y="2552700"/>
            <a:ext cx="16261915" cy="6555641"/>
          </a:xfrm>
          <a:prstGeom prst="rect">
            <a:avLst/>
          </a:prstGeom>
          <a:noFill/>
        </p:spPr>
        <p:txBody>
          <a:bodyPr wrap="square" rtlCol="0">
            <a:spAutoFit/>
          </a:bodyPr>
          <a:lstStyle/>
          <a:p>
            <a:r>
              <a:rPr kumimoji="1" lang="en-US" altLang="ja-JP" sz="2800" b="1" u="sng"/>
              <a:t>1. </a:t>
            </a:r>
            <a:r>
              <a:rPr kumimoji="1" lang="ja-JP" altLang="en-US" sz="2800" b="1" u="sng"/>
              <a:t>背景と目的（分析理由）</a:t>
            </a:r>
          </a:p>
          <a:p>
            <a:endParaRPr kumimoji="1" lang="en-US" altLang="ja-JP" sz="2800"/>
          </a:p>
          <a:p>
            <a:r>
              <a:rPr kumimoji="1" lang="ja-JP" altLang="en-US" sz="2800"/>
              <a:t>架空のアパレル</a:t>
            </a:r>
            <a:r>
              <a:rPr kumimoji="1" lang="en-US" altLang="ja-JP" sz="2800"/>
              <a:t>EC</a:t>
            </a:r>
            <a:r>
              <a:rPr kumimoji="1" lang="ja-JP" altLang="en-US" sz="2800"/>
              <a:t>サイト「</a:t>
            </a:r>
            <a:r>
              <a:rPr kumimoji="1" lang="en-US" altLang="ja-JP" sz="2800"/>
              <a:t>The Look</a:t>
            </a:r>
            <a:r>
              <a:rPr kumimoji="1" lang="ja-JP" altLang="en-US" sz="2800"/>
              <a:t>」の購買データ（約</a:t>
            </a:r>
            <a:r>
              <a:rPr kumimoji="1" lang="en-US" altLang="ja-JP" sz="2800"/>
              <a:t>10</a:t>
            </a:r>
            <a:r>
              <a:rPr kumimoji="1" lang="ja-JP" altLang="en-US" sz="2800"/>
              <a:t>万件）を活用し、売上の最大化と顧客リピート率の向上を目的とした</a:t>
            </a:r>
            <a:r>
              <a:rPr lang="ja-JP" altLang="ja-JP" sz="2800"/>
              <a:t>データ分析を実施</a:t>
            </a:r>
            <a:r>
              <a:rPr kumimoji="1" lang="ja-JP" altLang="en-US" sz="2800"/>
              <a:t>。</a:t>
            </a:r>
          </a:p>
          <a:p>
            <a:endParaRPr kumimoji="1" lang="ja-JP" altLang="en-US" sz="2800"/>
          </a:p>
          <a:p>
            <a:r>
              <a:rPr kumimoji="1" lang="en-US" altLang="ja-JP" sz="2800"/>
              <a:t>SQL</a:t>
            </a:r>
            <a:r>
              <a:rPr kumimoji="1" lang="ja-JP" altLang="en-US" sz="2800"/>
              <a:t>の構築・検証において生成</a:t>
            </a:r>
            <a:r>
              <a:rPr kumimoji="1" lang="en-US" altLang="ja-JP" sz="2800"/>
              <a:t>AI</a:t>
            </a:r>
            <a:r>
              <a:rPr kumimoji="1" lang="ja-JP" altLang="en-US" sz="2800"/>
              <a:t>も補助的に活用しながら、自身でデータ構造や処理内容を確認し、クエリの結果を検証・修正をおこないました。</a:t>
            </a:r>
          </a:p>
          <a:p>
            <a:endParaRPr kumimoji="1" lang="ja-JP" altLang="en-US" sz="2800"/>
          </a:p>
          <a:p>
            <a:endParaRPr kumimoji="1" lang="ja-JP" altLang="en-US" sz="2800"/>
          </a:p>
          <a:p>
            <a:r>
              <a:rPr kumimoji="1" lang="ja-JP" altLang="en-US" sz="2800"/>
              <a:t>本プロジェクトでは、</a:t>
            </a:r>
            <a:r>
              <a:rPr lang="ja-JP" altLang="ja-JP" sz="2800"/>
              <a:t>戦略提案</a:t>
            </a:r>
            <a:r>
              <a:rPr lang="ja-JP" altLang="en-US" sz="2800"/>
              <a:t>をおこなうため、</a:t>
            </a:r>
            <a:r>
              <a:rPr kumimoji="1" lang="ja-JP" altLang="en-US" sz="2800"/>
              <a:t>以下</a:t>
            </a:r>
            <a:r>
              <a:rPr kumimoji="1" lang="en-US" altLang="ja-JP" sz="2800"/>
              <a:t>3</a:t>
            </a:r>
            <a:r>
              <a:rPr kumimoji="1" lang="ja-JP" altLang="en-US" sz="2800"/>
              <a:t>つをデータから導き出しました。</a:t>
            </a:r>
          </a:p>
          <a:p>
            <a:endParaRPr kumimoji="1" lang="ja-JP" altLang="en-US" sz="2800"/>
          </a:p>
          <a:p>
            <a:r>
              <a:rPr kumimoji="1" lang="ja-JP" altLang="en-US" sz="2800"/>
              <a:t>　</a:t>
            </a:r>
            <a:r>
              <a:rPr kumimoji="1" lang="en-US" altLang="ja-JP" sz="2800"/>
              <a:t>1).</a:t>
            </a:r>
            <a:r>
              <a:rPr kumimoji="1" lang="ja-JP" altLang="en-US" sz="2800"/>
              <a:t>売上の全体像：月別の売上・注文数・客単価はどのように推移しているか？</a:t>
            </a:r>
          </a:p>
          <a:p>
            <a:r>
              <a:rPr kumimoji="1" lang="ja-JP" altLang="en-US" sz="2800"/>
              <a:t>　</a:t>
            </a:r>
            <a:r>
              <a:rPr kumimoji="1" lang="en-US" altLang="ja-JP" sz="2800"/>
              <a:t>2).</a:t>
            </a:r>
            <a:r>
              <a:rPr kumimoji="1" lang="ja-JP" altLang="en-US" sz="2800"/>
              <a:t>商品戦略：どの商品が売上を支えているか？（主力商品の特定）</a:t>
            </a:r>
          </a:p>
          <a:p>
            <a:r>
              <a:rPr kumimoji="1" lang="ja-JP" altLang="en-US" sz="2800"/>
              <a:t>　</a:t>
            </a:r>
            <a:r>
              <a:rPr kumimoji="1" lang="en-US" altLang="ja-JP" sz="2800"/>
              <a:t>3).</a:t>
            </a:r>
            <a:r>
              <a:rPr kumimoji="1" lang="ja-JP" altLang="en-US" sz="2800"/>
              <a:t>リピート戦略：購入ユーザーはその後どのくらい定着しているか？（継続率の可視化）</a:t>
            </a:r>
          </a:p>
          <a:p>
            <a:endParaRPr kumimoji="1" lang="ja-JP" altLang="en-US" sz="2800"/>
          </a:p>
        </p:txBody>
      </p:sp>
    </p:spTree>
    <p:extLst>
      <p:ext uri="{BB962C8B-B14F-4D97-AF65-F5344CB8AC3E}">
        <p14:creationId xmlns:p14="http://schemas.microsoft.com/office/powerpoint/2010/main" val="2668899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442D8C-1791-BA69-2DFE-062AA8C165EC}"/>
              </a:ext>
            </a:extLst>
          </p:cNvPr>
          <p:cNvSpPr>
            <a:spLocks noGrp="1"/>
          </p:cNvSpPr>
          <p:nvPr>
            <p:ph type="title"/>
          </p:nvPr>
        </p:nvSpPr>
        <p:spPr>
          <a:xfrm>
            <a:off x="6485875" y="876300"/>
            <a:ext cx="5773449" cy="553998"/>
          </a:xfrm>
        </p:spPr>
        <p:txBody>
          <a:bodyPr/>
          <a:lstStyle/>
          <a:p>
            <a:r>
              <a:rPr lang="ja-JP" altLang="ja-JP" sz="3600"/>
              <a:t>2. 使用データと分析環境</a:t>
            </a:r>
            <a:endParaRPr kumimoji="1" lang="ja-JP" altLang="en-US" sz="3600"/>
          </a:p>
        </p:txBody>
      </p:sp>
      <p:sp>
        <p:nvSpPr>
          <p:cNvPr id="3" name="テキスト ボックス 2">
            <a:extLst>
              <a:ext uri="{FF2B5EF4-FFF2-40B4-BE49-F238E27FC236}">
                <a16:creationId xmlns:a16="http://schemas.microsoft.com/office/drawing/2014/main" id="{286880EB-8189-D44A-76AC-1B697BBBFA78}"/>
              </a:ext>
            </a:extLst>
          </p:cNvPr>
          <p:cNvSpPr txBox="1"/>
          <p:nvPr/>
        </p:nvSpPr>
        <p:spPr>
          <a:xfrm>
            <a:off x="647699" y="3390900"/>
            <a:ext cx="17449800" cy="6494085"/>
          </a:xfrm>
          <a:prstGeom prst="rect">
            <a:avLst/>
          </a:prstGeom>
          <a:noFill/>
        </p:spPr>
        <p:txBody>
          <a:bodyPr wrap="square" rtlCol="0">
            <a:spAutoFit/>
          </a:bodyPr>
          <a:lstStyle/>
          <a:p>
            <a:pPr lvl="0"/>
            <a:r>
              <a:rPr lang="ja-JP" altLang="en-US" sz="3200" b="1"/>
              <a:t>・</a:t>
            </a:r>
            <a:r>
              <a:rPr lang="ja-JP" altLang="ja-JP" sz="3200" b="1"/>
              <a:t>データソース</a:t>
            </a:r>
            <a:r>
              <a:rPr lang="ja-JP" altLang="ja-JP" sz="3200"/>
              <a:t>：Google BigQuery 公開データ (bigquery-public-data.thelook_ecommerce)</a:t>
            </a:r>
            <a:endParaRPr lang="en-US" altLang="ja-JP" sz="3200"/>
          </a:p>
          <a:p>
            <a:pPr lvl="0"/>
            <a:endParaRPr lang="ja-JP" altLang="ja-JP" sz="3200"/>
          </a:p>
          <a:p>
            <a:pPr lvl="0"/>
            <a:endParaRPr lang="en-US" altLang="ja-JP" sz="3200" b="1"/>
          </a:p>
          <a:p>
            <a:pPr lvl="0"/>
            <a:r>
              <a:rPr lang="ja-JP" altLang="en-US" sz="3200" b="1"/>
              <a:t>・</a:t>
            </a:r>
            <a:r>
              <a:rPr lang="ja-JP" altLang="ja-JP" sz="3200" b="1"/>
              <a:t>分析環境</a:t>
            </a:r>
            <a:r>
              <a:rPr lang="ja-JP" altLang="ja-JP" sz="3200"/>
              <a:t>：Google BigQuery (SQL)</a:t>
            </a:r>
            <a:r>
              <a:rPr lang="ja-JP" altLang="en-US" sz="3200"/>
              <a:t>、</a:t>
            </a:r>
            <a:r>
              <a:rPr lang="en-US" altLang="ja-JP" sz="3200"/>
              <a:t>Excel</a:t>
            </a:r>
            <a:r>
              <a:rPr lang="ja-JP" altLang="en-US" sz="3200"/>
              <a:t>、</a:t>
            </a:r>
            <a:r>
              <a:rPr lang="en-US" altLang="ja-JP" sz="3200" err="1"/>
              <a:t>powerBI</a:t>
            </a:r>
            <a:r>
              <a:rPr lang="ja-JP" altLang="en-US" sz="3200"/>
              <a:t>、</a:t>
            </a:r>
            <a:r>
              <a:rPr lang="en-US" altLang="ja-JP" sz="3200"/>
              <a:t>Looker Studio</a:t>
            </a:r>
            <a:endParaRPr lang="ja-JP" altLang="ja-JP" sz="3200"/>
          </a:p>
          <a:p>
            <a:pPr lvl="0"/>
            <a:endParaRPr lang="en-US" altLang="ja-JP" sz="3200" b="1"/>
          </a:p>
          <a:p>
            <a:pPr lvl="0"/>
            <a:endParaRPr lang="en-US" altLang="ja-JP" sz="3200" b="1"/>
          </a:p>
          <a:p>
            <a:pPr lvl="0"/>
            <a:r>
              <a:rPr lang="ja-JP" altLang="en-US" sz="3200" b="1"/>
              <a:t>・</a:t>
            </a:r>
            <a:r>
              <a:rPr lang="ja-JP" altLang="ja-JP" sz="3200" b="1"/>
              <a:t>主な使用技術</a:t>
            </a:r>
            <a:r>
              <a:rPr lang="ja-JP" altLang="ja-JP" sz="3200"/>
              <a:t>：WITH句（CTE）、ウィンドウ関数（SUM() OVER）、</a:t>
            </a:r>
            <a:endParaRPr lang="en-US" altLang="ja-JP" sz="3200"/>
          </a:p>
          <a:p>
            <a:pPr lvl="0"/>
            <a:r>
              <a:rPr lang="ja-JP" altLang="en-US" sz="3200"/>
              <a:t>　　　　　　　</a:t>
            </a:r>
            <a:r>
              <a:rPr lang="ja-JP" altLang="ja-JP" sz="3200"/>
              <a:t>日時操作関数（FORMAT_TIMESTAMP, DATE_DIFF）、条件分岐（CASE文）</a:t>
            </a:r>
          </a:p>
          <a:p>
            <a:br>
              <a:rPr lang="ja-JP" altLang="ja-JP" sz="3200"/>
            </a:br>
            <a:r>
              <a:rPr lang="en-US" altLang="ja-JP" sz="3200"/>
              <a:t> </a:t>
            </a:r>
            <a:r>
              <a:rPr lang="en-US" altLang="ja-JP" sz="3200" b="1"/>
              <a:t>※ SQL</a:t>
            </a:r>
            <a:r>
              <a:rPr lang="ja-JP" altLang="en-US" sz="3200" b="1"/>
              <a:t>コード</a:t>
            </a:r>
            <a:r>
              <a:rPr lang="ja-JP" altLang="en-US" sz="3200"/>
              <a:t>：</a:t>
            </a:r>
            <a:r>
              <a:rPr lang="en-US" altLang="ja-JP" sz="3200"/>
              <a:t>GitHub</a:t>
            </a:r>
            <a:r>
              <a:rPr lang="ja-JP" altLang="en-US" sz="3200"/>
              <a:t>にも記載 </a:t>
            </a:r>
            <a:r>
              <a:rPr lang="en-US" altLang="ja-JP" sz="3200"/>
              <a:t>/ URL</a:t>
            </a:r>
            <a:r>
              <a:rPr lang="ja-JP" altLang="en-US" sz="3200"/>
              <a:t>：</a:t>
            </a:r>
            <a:r>
              <a:rPr lang="en-US" altLang="ja-JP" sz="3200">
                <a:hlinkClick r:id="rId2"/>
              </a:rPr>
              <a:t>https://github.com/SAITO1912/ECanalysis.git</a:t>
            </a:r>
            <a:endParaRPr lang="en-US" altLang="ja-JP" sz="3200"/>
          </a:p>
          <a:p>
            <a:endParaRPr lang="en-US" altLang="ja-JP" sz="3200"/>
          </a:p>
          <a:p>
            <a:r>
              <a:rPr lang="ja-JP" altLang="en-US" sz="3200"/>
              <a:t> </a:t>
            </a:r>
            <a:r>
              <a:rPr lang="en-US" altLang="ja-JP" sz="3200" b="1"/>
              <a:t>※ SQL</a:t>
            </a:r>
            <a:r>
              <a:rPr lang="ja-JP" altLang="en-US" sz="3200" b="1"/>
              <a:t>で抽出したデータ</a:t>
            </a:r>
            <a:r>
              <a:rPr lang="ja-JP" altLang="en-US" sz="3200"/>
              <a:t>：</a:t>
            </a:r>
            <a:r>
              <a:rPr lang="en-US" altLang="ja-JP" sz="3200"/>
              <a:t>Excel</a:t>
            </a:r>
            <a:r>
              <a:rPr lang="ja-JP" altLang="en-US" sz="3200"/>
              <a:t>版ポートフォリオで確認できます。</a:t>
            </a:r>
            <a:endParaRPr lang="ja-JP" altLang="ja-JP" sz="3200"/>
          </a:p>
          <a:p>
            <a:endParaRPr kumimoji="1" lang="ja-JP" altLang="en-US" sz="3200"/>
          </a:p>
        </p:txBody>
      </p:sp>
    </p:spTree>
    <p:extLst>
      <p:ext uri="{BB962C8B-B14F-4D97-AF65-F5344CB8AC3E}">
        <p14:creationId xmlns:p14="http://schemas.microsoft.com/office/powerpoint/2010/main" val="2300890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1E576F-AD16-2A24-D696-E444905E438F}"/>
              </a:ext>
            </a:extLst>
          </p:cNvPr>
          <p:cNvSpPr>
            <a:spLocks noGrp="1"/>
          </p:cNvSpPr>
          <p:nvPr>
            <p:ph type="title"/>
          </p:nvPr>
        </p:nvSpPr>
        <p:spPr>
          <a:xfrm>
            <a:off x="3928738" y="800100"/>
            <a:ext cx="10887724" cy="1862048"/>
          </a:xfrm>
        </p:spPr>
        <p:txBody>
          <a:bodyPr/>
          <a:lstStyle/>
          <a:p>
            <a:pPr algn="ctr"/>
            <a:r>
              <a:rPr kumimoji="1" lang="ja-JP" altLang="en-US" sz="3600" u="sng"/>
              <a:t>① 月別売上・注文数・客単価の推移（売上集計分析</a:t>
            </a:r>
            <a:r>
              <a:rPr kumimoji="1" lang="ja-JP" altLang="en-US" sz="2800" u="sng"/>
              <a:t>）</a:t>
            </a:r>
            <a:br>
              <a:rPr kumimoji="1" lang="ja-JP" altLang="en-US" sz="2800" u="sng"/>
            </a:br>
            <a:br>
              <a:rPr kumimoji="1" lang="ja-JP" altLang="en-US"/>
            </a:br>
            <a:endParaRPr kumimoji="1" lang="ja-JP" altLang="en-US"/>
          </a:p>
        </p:txBody>
      </p:sp>
      <p:sp>
        <p:nvSpPr>
          <p:cNvPr id="3" name="テキスト ボックス 2">
            <a:extLst>
              <a:ext uri="{FF2B5EF4-FFF2-40B4-BE49-F238E27FC236}">
                <a16:creationId xmlns:a16="http://schemas.microsoft.com/office/drawing/2014/main" id="{0E979FD9-9A86-7CF0-4312-C656A1142FAA}"/>
              </a:ext>
            </a:extLst>
          </p:cNvPr>
          <p:cNvSpPr txBox="1"/>
          <p:nvPr/>
        </p:nvSpPr>
        <p:spPr>
          <a:xfrm>
            <a:off x="1828800" y="2302933"/>
            <a:ext cx="16002000" cy="6986528"/>
          </a:xfrm>
          <a:prstGeom prst="rect">
            <a:avLst/>
          </a:prstGeom>
          <a:noFill/>
        </p:spPr>
        <p:txBody>
          <a:bodyPr wrap="square" rtlCol="0">
            <a:spAutoFit/>
          </a:bodyPr>
          <a:lstStyle/>
          <a:p>
            <a:endParaRPr kumimoji="1" lang="ja-JP" altLang="en-US" sz="3200" b="1"/>
          </a:p>
          <a:p>
            <a:endParaRPr kumimoji="1" lang="en-US" altLang="ja-JP" sz="3200"/>
          </a:p>
          <a:p>
            <a:r>
              <a:rPr kumimoji="1" lang="ja-JP" altLang="en-US" sz="3200"/>
              <a:t>・分析の狙い：</a:t>
            </a:r>
            <a:endParaRPr kumimoji="1" lang="en-US" altLang="ja-JP" sz="3200"/>
          </a:p>
          <a:p>
            <a:r>
              <a:rPr kumimoji="1" lang="en-US" altLang="ja-JP" sz="3200"/>
              <a:t>       </a:t>
            </a:r>
            <a:r>
              <a:rPr kumimoji="1" lang="ja-JP" altLang="en-US" sz="3200"/>
              <a:t>サイト全体の成長トレンドと、ユーザー</a:t>
            </a:r>
            <a:r>
              <a:rPr kumimoji="1" lang="en-US" altLang="ja-JP" sz="3200"/>
              <a:t>1</a:t>
            </a:r>
            <a:r>
              <a:rPr kumimoji="1" lang="ja-JP" altLang="en-US" sz="3200"/>
              <a:t>人当たりの購入額（客単価）の</a:t>
            </a:r>
            <a:endParaRPr kumimoji="1" lang="en-US" altLang="ja-JP" sz="3200"/>
          </a:p>
          <a:p>
            <a:r>
              <a:rPr kumimoji="1" lang="ja-JP" altLang="en-US" sz="3200"/>
              <a:t>　　推移を把握。</a:t>
            </a:r>
          </a:p>
          <a:p>
            <a:endParaRPr kumimoji="1" lang="ja-JP" altLang="en-US" sz="3200"/>
          </a:p>
          <a:p>
            <a:endParaRPr kumimoji="1" lang="ja-JP" altLang="en-US" sz="3200"/>
          </a:p>
          <a:p>
            <a:r>
              <a:rPr kumimoji="1" lang="ja-JP" altLang="en-US" sz="3200"/>
              <a:t>・クエリの工夫：</a:t>
            </a:r>
            <a:endParaRPr kumimoji="1" lang="en-US" altLang="ja-JP" sz="3200"/>
          </a:p>
          <a:p>
            <a:r>
              <a:rPr kumimoji="1" lang="ja-JP" altLang="en-US" sz="3200"/>
              <a:t>　　実務に即した正しい数値を出すため、</a:t>
            </a:r>
            <a:r>
              <a:rPr kumimoji="1" lang="en-US" altLang="ja-JP" sz="3200"/>
              <a:t>WHERE </a:t>
            </a:r>
            <a:r>
              <a:rPr kumimoji="1" lang="ja-JP" altLang="en-US" sz="3200"/>
              <a:t>句で</a:t>
            </a:r>
            <a:endParaRPr kumimoji="1" lang="en-US" altLang="ja-JP" sz="3200"/>
          </a:p>
          <a:p>
            <a:r>
              <a:rPr kumimoji="1" lang="ja-JP" altLang="en-US" sz="3200"/>
              <a:t>　　「キャンセル」や「返品」のデータを正確に除外。</a:t>
            </a:r>
          </a:p>
          <a:p>
            <a:r>
              <a:rPr kumimoji="1" lang="ja-JP" altLang="en-US" sz="3200"/>
              <a:t>　　　　</a:t>
            </a:r>
            <a:endParaRPr kumimoji="1" lang="en-US" altLang="ja-JP" sz="3200"/>
          </a:p>
          <a:p>
            <a:r>
              <a:rPr kumimoji="1" lang="ja-JP" altLang="en-US" sz="3200"/>
              <a:t>　　また、</a:t>
            </a:r>
            <a:r>
              <a:rPr kumimoji="1" lang="en-US" altLang="ja-JP" sz="3200"/>
              <a:t>1</a:t>
            </a:r>
            <a:r>
              <a:rPr kumimoji="1" lang="ja-JP" altLang="en-US" sz="3200"/>
              <a:t>回の注文で複数購入がある場合を考慮し、</a:t>
            </a:r>
            <a:endParaRPr kumimoji="1" lang="en-US" altLang="ja-JP" sz="3200"/>
          </a:p>
          <a:p>
            <a:r>
              <a:rPr kumimoji="1" lang="ja-JP" altLang="en-US" sz="3200"/>
              <a:t>　　</a:t>
            </a:r>
            <a:r>
              <a:rPr kumimoji="1" lang="en-US" altLang="ja-JP" sz="3200"/>
              <a:t>COUNT(DISTINCT </a:t>
            </a:r>
            <a:r>
              <a:rPr kumimoji="1" lang="en-US" altLang="ja-JP" sz="3200" err="1"/>
              <a:t>order_id</a:t>
            </a:r>
            <a:r>
              <a:rPr kumimoji="1" lang="en-US" altLang="ja-JP" sz="3200"/>
              <a:t>) </a:t>
            </a:r>
            <a:r>
              <a:rPr kumimoji="1" lang="ja-JP" altLang="en-US" sz="3200"/>
              <a:t>で正確な注文数を算出。</a:t>
            </a:r>
          </a:p>
          <a:p>
            <a:endParaRPr kumimoji="1" lang="ja-JP" altLang="en-US" sz="3200"/>
          </a:p>
        </p:txBody>
      </p:sp>
    </p:spTree>
    <p:extLst>
      <p:ext uri="{BB962C8B-B14F-4D97-AF65-F5344CB8AC3E}">
        <p14:creationId xmlns:p14="http://schemas.microsoft.com/office/powerpoint/2010/main" val="3855807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5DEDFD-B748-7D6B-515C-34C1C3CED593}"/>
              </a:ext>
            </a:extLst>
          </p:cNvPr>
          <p:cNvSpPr>
            <a:spLocks noGrp="1"/>
          </p:cNvSpPr>
          <p:nvPr>
            <p:ph type="title"/>
          </p:nvPr>
        </p:nvSpPr>
        <p:spPr>
          <a:xfrm>
            <a:off x="5372100" y="800100"/>
            <a:ext cx="8001000" cy="553998"/>
          </a:xfrm>
        </p:spPr>
        <p:txBody>
          <a:bodyPr/>
          <a:lstStyle/>
          <a:p>
            <a:pPr algn="ctr"/>
            <a:r>
              <a:rPr kumimoji="1" lang="en-US" altLang="ja-JP" sz="3600">
                <a:latin typeface="+mj-ea"/>
              </a:rPr>
              <a:t>SQL/</a:t>
            </a:r>
            <a:r>
              <a:rPr kumimoji="1" lang="ja-JP" altLang="en-US" sz="3600" u="sng">
                <a:latin typeface="+mj-ea"/>
              </a:rPr>
              <a:t>月別売上・注文数・客単価の推移</a:t>
            </a:r>
            <a:endParaRPr kumimoji="1" lang="ja-JP" altLang="en-US" sz="3600">
              <a:latin typeface="+mj-ea"/>
            </a:endParaRPr>
          </a:p>
        </p:txBody>
      </p:sp>
      <p:sp>
        <p:nvSpPr>
          <p:cNvPr id="3" name="テキスト ボックス 2">
            <a:extLst>
              <a:ext uri="{FF2B5EF4-FFF2-40B4-BE49-F238E27FC236}">
                <a16:creationId xmlns:a16="http://schemas.microsoft.com/office/drawing/2014/main" id="{A48A2A44-F282-9EFC-359F-1FF33296779C}"/>
              </a:ext>
            </a:extLst>
          </p:cNvPr>
          <p:cNvSpPr txBox="1"/>
          <p:nvPr/>
        </p:nvSpPr>
        <p:spPr>
          <a:xfrm>
            <a:off x="3886200" y="2019300"/>
            <a:ext cx="10245853" cy="8586966"/>
          </a:xfrm>
          <a:prstGeom prst="rect">
            <a:avLst/>
          </a:prstGeom>
          <a:noFill/>
        </p:spPr>
        <p:txBody>
          <a:bodyPr wrap="square" rtlCol="0">
            <a:spAutoFit/>
          </a:bodyPr>
          <a:lstStyle/>
          <a:p>
            <a:endParaRPr kumimoji="1" lang="en-US" altLang="ja-JP" sz="2400"/>
          </a:p>
          <a:p>
            <a:r>
              <a:rPr kumimoji="1" lang="en-US" altLang="ja-JP" sz="2400"/>
              <a:t>SELECT</a:t>
            </a:r>
          </a:p>
          <a:p>
            <a:r>
              <a:rPr kumimoji="1" lang="en-US" altLang="ja-JP" sz="2400" b="1">
                <a:solidFill>
                  <a:srgbClr val="C00000"/>
                </a:solidFill>
              </a:rPr>
              <a:t>--</a:t>
            </a:r>
            <a:r>
              <a:rPr kumimoji="1" lang="ja-JP" altLang="en-US" sz="2400" b="1">
                <a:solidFill>
                  <a:srgbClr val="C00000"/>
                </a:solidFill>
              </a:rPr>
              <a:t>注文年月</a:t>
            </a:r>
          </a:p>
          <a:p>
            <a:r>
              <a:rPr kumimoji="1" lang="ja-JP" altLang="en-US" sz="2400"/>
              <a:t>  </a:t>
            </a:r>
            <a:r>
              <a:rPr kumimoji="1" lang="en-US" altLang="ja-JP" sz="2400"/>
              <a:t>FORMAT_TIMESTAMP('%Y-%m',</a:t>
            </a:r>
            <a:r>
              <a:rPr kumimoji="1" lang="en-US" altLang="ja-JP" sz="2400" err="1"/>
              <a:t>created_at</a:t>
            </a:r>
            <a:r>
              <a:rPr kumimoji="1" lang="en-US" altLang="ja-JP" sz="2400"/>
              <a:t>) AS </a:t>
            </a:r>
            <a:r>
              <a:rPr kumimoji="1" lang="en-US" altLang="ja-JP" sz="2400" err="1"/>
              <a:t>order_month</a:t>
            </a:r>
            <a:r>
              <a:rPr kumimoji="1" lang="en-US" altLang="ja-JP" sz="2400"/>
              <a:t>,</a:t>
            </a:r>
          </a:p>
          <a:p>
            <a:r>
              <a:rPr kumimoji="1" lang="en-US" altLang="ja-JP" sz="2400" b="1">
                <a:solidFill>
                  <a:srgbClr val="C00000"/>
                </a:solidFill>
              </a:rPr>
              <a:t>--1</a:t>
            </a:r>
            <a:r>
              <a:rPr kumimoji="1" lang="ja-JP" altLang="en-US" sz="2400" b="1">
                <a:solidFill>
                  <a:srgbClr val="C00000"/>
                </a:solidFill>
              </a:rPr>
              <a:t>ヶ月の総売上金額</a:t>
            </a:r>
            <a:r>
              <a:rPr kumimoji="1" lang="en-US" altLang="ja-JP" sz="2400" b="1">
                <a:solidFill>
                  <a:srgbClr val="C00000"/>
                </a:solidFill>
              </a:rPr>
              <a:t>(</a:t>
            </a:r>
            <a:r>
              <a:rPr kumimoji="1" lang="ja-JP" altLang="en-US" sz="2400" b="1">
                <a:solidFill>
                  <a:srgbClr val="C00000"/>
                </a:solidFill>
              </a:rPr>
              <a:t>小数点以下は四捨五入</a:t>
            </a:r>
            <a:r>
              <a:rPr kumimoji="1" lang="en-US" altLang="ja-JP" sz="2400" b="1">
                <a:solidFill>
                  <a:srgbClr val="C00000"/>
                </a:solidFill>
              </a:rPr>
              <a:t>)</a:t>
            </a:r>
          </a:p>
          <a:p>
            <a:r>
              <a:rPr kumimoji="1" lang="en-US" altLang="ja-JP" sz="2400"/>
              <a:t>  ROUND(SUM(</a:t>
            </a:r>
            <a:r>
              <a:rPr kumimoji="1" lang="en-US" altLang="ja-JP" sz="2400" err="1"/>
              <a:t>sale_price</a:t>
            </a:r>
            <a:r>
              <a:rPr kumimoji="1" lang="en-US" altLang="ja-JP" sz="2400"/>
              <a:t>)) AS </a:t>
            </a:r>
            <a:r>
              <a:rPr kumimoji="1" lang="en-US" altLang="ja-JP" sz="2400" err="1"/>
              <a:t>total_revenue</a:t>
            </a:r>
            <a:r>
              <a:rPr kumimoji="1" lang="en-US" altLang="ja-JP" sz="2400"/>
              <a:t>,</a:t>
            </a:r>
          </a:p>
          <a:p>
            <a:r>
              <a:rPr kumimoji="1" lang="en-US" altLang="ja-JP" sz="2400" b="1">
                <a:solidFill>
                  <a:srgbClr val="C00000"/>
                </a:solidFill>
              </a:rPr>
              <a:t>--1</a:t>
            </a:r>
            <a:r>
              <a:rPr kumimoji="1" lang="ja-JP" altLang="en-US" sz="2400" b="1">
                <a:solidFill>
                  <a:srgbClr val="C00000"/>
                </a:solidFill>
              </a:rPr>
              <a:t>ヶ月のユニークな注文数</a:t>
            </a:r>
          </a:p>
          <a:p>
            <a:r>
              <a:rPr kumimoji="1" lang="ja-JP" altLang="en-US" sz="2400"/>
              <a:t>  </a:t>
            </a:r>
            <a:r>
              <a:rPr kumimoji="1" lang="en-US" altLang="ja-JP" sz="2400"/>
              <a:t>COUNT(DISTINCT </a:t>
            </a:r>
            <a:r>
              <a:rPr kumimoji="1" lang="en-US" altLang="ja-JP" sz="2400" err="1"/>
              <a:t>order_id</a:t>
            </a:r>
            <a:r>
              <a:rPr kumimoji="1" lang="en-US" altLang="ja-JP" sz="2400"/>
              <a:t>) AS </a:t>
            </a:r>
            <a:r>
              <a:rPr kumimoji="1" lang="en-US" altLang="ja-JP" sz="2400" err="1"/>
              <a:t>totale_orders</a:t>
            </a:r>
            <a:r>
              <a:rPr kumimoji="1" lang="en-US" altLang="ja-JP" sz="2400"/>
              <a:t>,</a:t>
            </a:r>
          </a:p>
          <a:p>
            <a:r>
              <a:rPr kumimoji="1" lang="en-US" altLang="ja-JP" sz="2400" b="1">
                <a:solidFill>
                  <a:srgbClr val="C00000"/>
                </a:solidFill>
              </a:rPr>
              <a:t>--1</a:t>
            </a:r>
            <a:r>
              <a:rPr kumimoji="1" lang="ja-JP" altLang="en-US" sz="2400" b="1">
                <a:solidFill>
                  <a:srgbClr val="C00000"/>
                </a:solidFill>
              </a:rPr>
              <a:t>ヶ月の客単価</a:t>
            </a:r>
            <a:r>
              <a:rPr kumimoji="1" lang="en-US" altLang="ja-JP" sz="2400" b="1">
                <a:solidFill>
                  <a:srgbClr val="C00000"/>
                </a:solidFill>
              </a:rPr>
              <a:t>(</a:t>
            </a:r>
            <a:r>
              <a:rPr kumimoji="1" lang="ja-JP" altLang="en-US" sz="2400" b="1">
                <a:solidFill>
                  <a:srgbClr val="C00000"/>
                </a:solidFill>
              </a:rPr>
              <a:t>総売上</a:t>
            </a:r>
            <a:r>
              <a:rPr kumimoji="1" lang="en-US" altLang="ja-JP" sz="2400" b="1">
                <a:solidFill>
                  <a:srgbClr val="C00000"/>
                </a:solidFill>
              </a:rPr>
              <a:t>÷</a:t>
            </a:r>
            <a:r>
              <a:rPr kumimoji="1" lang="ja-JP" altLang="en-US" sz="2400" b="1">
                <a:solidFill>
                  <a:srgbClr val="C00000"/>
                </a:solidFill>
              </a:rPr>
              <a:t>注文数</a:t>
            </a:r>
            <a:r>
              <a:rPr kumimoji="1" lang="en-US" altLang="ja-JP" sz="2400" b="1">
                <a:solidFill>
                  <a:srgbClr val="C00000"/>
                </a:solidFill>
              </a:rPr>
              <a:t>)</a:t>
            </a:r>
          </a:p>
          <a:p>
            <a:r>
              <a:rPr kumimoji="1" lang="en-US" altLang="ja-JP" sz="2400"/>
              <a:t>  ROUND(SUM(</a:t>
            </a:r>
            <a:r>
              <a:rPr kumimoji="1" lang="en-US" altLang="ja-JP" sz="2400" err="1"/>
              <a:t>sale_price</a:t>
            </a:r>
            <a:r>
              <a:rPr kumimoji="1" lang="en-US" altLang="ja-JP" sz="2400"/>
              <a:t>) / COUNT(DISTINCT </a:t>
            </a:r>
            <a:r>
              <a:rPr kumimoji="1" lang="en-US" altLang="ja-JP" sz="2400" err="1"/>
              <a:t>order_id</a:t>
            </a:r>
            <a:r>
              <a:rPr kumimoji="1" lang="en-US" altLang="ja-JP" sz="2400"/>
              <a:t>)) AS </a:t>
            </a:r>
            <a:r>
              <a:rPr kumimoji="1" lang="en-US" altLang="ja-JP" sz="2400" err="1"/>
              <a:t>average_order_value</a:t>
            </a:r>
            <a:endParaRPr kumimoji="1" lang="en-US" altLang="ja-JP" sz="2400"/>
          </a:p>
          <a:p>
            <a:r>
              <a:rPr kumimoji="1" lang="en-US" altLang="ja-JP" sz="2400"/>
              <a:t>FROM</a:t>
            </a:r>
          </a:p>
          <a:p>
            <a:r>
              <a:rPr kumimoji="1" lang="en-US" altLang="ja-JP" sz="2400"/>
              <a:t>  `</a:t>
            </a:r>
            <a:r>
              <a:rPr kumimoji="1" lang="en-US" altLang="ja-JP" sz="2400" err="1"/>
              <a:t>bigquery</a:t>
            </a:r>
            <a:r>
              <a:rPr kumimoji="1" lang="en-US" altLang="ja-JP" sz="2400"/>
              <a:t>-public-</a:t>
            </a:r>
            <a:r>
              <a:rPr kumimoji="1" lang="en-US" altLang="ja-JP" sz="2400" err="1"/>
              <a:t>data.thelook_ecommerce.order_items</a:t>
            </a:r>
            <a:r>
              <a:rPr kumimoji="1" lang="en-US" altLang="ja-JP" sz="2400"/>
              <a:t>`</a:t>
            </a:r>
          </a:p>
          <a:p>
            <a:r>
              <a:rPr kumimoji="1" lang="en-US" altLang="ja-JP" sz="2400"/>
              <a:t>WHERE</a:t>
            </a:r>
          </a:p>
          <a:p>
            <a:r>
              <a:rPr kumimoji="1" lang="en-US" altLang="ja-JP" sz="2400" b="1">
                <a:solidFill>
                  <a:srgbClr val="C00000"/>
                </a:solidFill>
              </a:rPr>
              <a:t>--</a:t>
            </a:r>
            <a:r>
              <a:rPr kumimoji="1" lang="ja-JP" altLang="en-US" sz="2400" b="1">
                <a:solidFill>
                  <a:srgbClr val="C00000"/>
                </a:solidFill>
              </a:rPr>
              <a:t>「キャンセル」「返品」以外を集計</a:t>
            </a:r>
          </a:p>
          <a:p>
            <a:r>
              <a:rPr kumimoji="1" lang="ja-JP" altLang="en-US" sz="2400"/>
              <a:t>  </a:t>
            </a:r>
            <a:r>
              <a:rPr kumimoji="1" lang="en-US" altLang="ja-JP" sz="2400"/>
              <a:t>status NOT IN ('Cancelled', 'Returned’)</a:t>
            </a:r>
          </a:p>
          <a:p>
            <a:r>
              <a:rPr kumimoji="1" lang="en-US" altLang="ja-JP" sz="2400" b="1">
                <a:solidFill>
                  <a:srgbClr val="C00000"/>
                </a:solidFill>
              </a:rPr>
              <a:t>--</a:t>
            </a:r>
            <a:r>
              <a:rPr kumimoji="1" lang="ja-JP" altLang="en-US" sz="2400" b="1">
                <a:solidFill>
                  <a:srgbClr val="C00000"/>
                </a:solidFill>
              </a:rPr>
              <a:t>年月ごとに纏める</a:t>
            </a:r>
            <a:r>
              <a:rPr kumimoji="1" lang="en-US" altLang="ja-JP" sz="2400" b="1">
                <a:solidFill>
                  <a:srgbClr val="C00000"/>
                </a:solidFill>
              </a:rPr>
              <a:t>(</a:t>
            </a:r>
            <a:r>
              <a:rPr kumimoji="1" lang="ja-JP" altLang="en-US" sz="2400" b="1">
                <a:solidFill>
                  <a:srgbClr val="C00000"/>
                </a:solidFill>
              </a:rPr>
              <a:t>グループ化</a:t>
            </a:r>
            <a:r>
              <a:rPr kumimoji="1" lang="en-US" altLang="ja-JP" sz="2400" b="1">
                <a:solidFill>
                  <a:srgbClr val="C00000"/>
                </a:solidFill>
              </a:rPr>
              <a:t>)</a:t>
            </a:r>
            <a:endParaRPr kumimoji="1" lang="en-US" altLang="ja-JP" sz="2400" b="1"/>
          </a:p>
          <a:p>
            <a:r>
              <a:rPr kumimoji="1" lang="en-US" altLang="ja-JP" sz="2400"/>
              <a:t>GROUP BY</a:t>
            </a:r>
          </a:p>
          <a:p>
            <a:r>
              <a:rPr kumimoji="1" lang="en-US" altLang="ja-JP" sz="2400"/>
              <a:t>  order</a:t>
            </a:r>
            <a:r>
              <a:rPr kumimoji="1" lang="en-US" altLang="ja-JP" sz="2400" err="1"/>
              <a:t>_</a:t>
            </a:r>
            <a:r>
              <a:rPr kumimoji="1" lang="en-US" altLang="ja-JP" sz="2400"/>
              <a:t>month</a:t>
            </a:r>
          </a:p>
          <a:p>
            <a:r>
              <a:rPr kumimoji="1" lang="en-US" altLang="ja-JP" sz="2400" b="1">
                <a:solidFill>
                  <a:srgbClr val="C00000"/>
                </a:solidFill>
              </a:rPr>
              <a:t>--</a:t>
            </a:r>
            <a:r>
              <a:rPr kumimoji="1" lang="ja-JP" altLang="en-US" sz="2400" b="1">
                <a:solidFill>
                  <a:srgbClr val="C00000"/>
                </a:solidFill>
              </a:rPr>
              <a:t>古い月から順に並べる</a:t>
            </a:r>
            <a:endParaRPr kumimoji="1" lang="en-US" altLang="ja-JP" sz="2400" b="1"/>
          </a:p>
          <a:p>
            <a:r>
              <a:rPr kumimoji="1" lang="en-US" altLang="ja-JP" sz="2400"/>
              <a:t>ORDER BY</a:t>
            </a:r>
          </a:p>
          <a:p>
            <a:r>
              <a:rPr kumimoji="1" lang="en-US" altLang="ja-JP" sz="2400"/>
              <a:t>  order</a:t>
            </a:r>
            <a:r>
              <a:rPr kumimoji="1" lang="en-US" altLang="ja-JP" sz="2400" err="1"/>
              <a:t>_month</a:t>
            </a:r>
            <a:r>
              <a:rPr kumimoji="1" lang="en-US" altLang="ja-JP" sz="2400"/>
              <a:t> ASC;</a:t>
            </a:r>
          </a:p>
          <a:p>
            <a:endParaRPr kumimoji="1" lang="ja-JP" altLang="en-US" sz="2400"/>
          </a:p>
        </p:txBody>
      </p:sp>
    </p:spTree>
    <p:extLst>
      <p:ext uri="{BB962C8B-B14F-4D97-AF65-F5344CB8AC3E}">
        <p14:creationId xmlns:p14="http://schemas.microsoft.com/office/powerpoint/2010/main" val="2762578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C61DF8-B48F-A2C3-C298-C3813AEEAEF1}"/>
              </a:ext>
            </a:extLst>
          </p:cNvPr>
          <p:cNvSpPr>
            <a:spLocks noGrp="1"/>
          </p:cNvSpPr>
          <p:nvPr>
            <p:ph type="title"/>
          </p:nvPr>
        </p:nvSpPr>
        <p:spPr>
          <a:xfrm>
            <a:off x="3657600" y="876300"/>
            <a:ext cx="11430000" cy="1131079"/>
          </a:xfrm>
        </p:spPr>
        <p:txBody>
          <a:bodyPr/>
          <a:lstStyle/>
          <a:p>
            <a:r>
              <a:rPr kumimoji="1" lang="ja-JP" altLang="en-US" sz="3600"/>
              <a:t>月別の売上金額・注文数・客単価の推移（売上集計）</a:t>
            </a:r>
          </a:p>
        </p:txBody>
      </p:sp>
      <p:pic>
        <p:nvPicPr>
          <p:cNvPr id="9" name="図 8">
            <a:extLst>
              <a:ext uri="{FF2B5EF4-FFF2-40B4-BE49-F238E27FC236}">
                <a16:creationId xmlns:a16="http://schemas.microsoft.com/office/drawing/2014/main" id="{BE716136-AD62-98A6-29B9-F00F84DFD034}"/>
              </a:ext>
            </a:extLst>
          </p:cNvPr>
          <p:cNvPicPr>
            <a:picLocks noChangeAspect="1"/>
          </p:cNvPicPr>
          <p:nvPr/>
        </p:nvPicPr>
        <p:blipFill>
          <a:blip r:embed="rId2"/>
          <a:stretch>
            <a:fillRect/>
          </a:stretch>
        </p:blipFill>
        <p:spPr>
          <a:xfrm>
            <a:off x="2907064" y="2400300"/>
            <a:ext cx="12931071" cy="7772400"/>
          </a:xfrm>
          <a:prstGeom prst="rect">
            <a:avLst/>
          </a:prstGeom>
        </p:spPr>
      </p:pic>
    </p:spTree>
    <p:extLst>
      <p:ext uri="{BB962C8B-B14F-4D97-AF65-F5344CB8AC3E}">
        <p14:creationId xmlns:p14="http://schemas.microsoft.com/office/powerpoint/2010/main" val="260094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29687" y="314808"/>
            <a:ext cx="885825" cy="152400"/>
          </a:xfrm>
          <a:prstGeom prst="rect">
            <a:avLst/>
          </a:prstGeom>
        </p:spPr>
        <p:txBody>
          <a:bodyPr vert="horz" wrap="square" lIns="0" tIns="8890" rIns="0" bIns="0" rtlCol="0">
            <a:spAutoFit/>
          </a:bodyPr>
          <a:lstStyle/>
          <a:p>
            <a:pPr>
              <a:lnSpc>
                <a:spcPct val="100000"/>
              </a:lnSpc>
              <a:spcBef>
                <a:spcPts val="70"/>
              </a:spcBef>
            </a:pPr>
            <a:r>
              <a:rPr sz="900">
                <a:solidFill>
                  <a:srgbClr val="FFFFFF"/>
                </a:solidFill>
                <a:latin typeface="Segoe UI"/>
                <a:cs typeface="Segoe UI"/>
              </a:rPr>
              <a:t>Power</a:t>
            </a:r>
            <a:r>
              <a:rPr sz="900" spc="-30">
                <a:solidFill>
                  <a:srgbClr val="FFFFFF"/>
                </a:solidFill>
                <a:latin typeface="Segoe UI"/>
                <a:cs typeface="Segoe UI"/>
              </a:rPr>
              <a:t> </a:t>
            </a:r>
            <a:r>
              <a:rPr sz="900">
                <a:solidFill>
                  <a:srgbClr val="FFFFFF"/>
                </a:solidFill>
                <a:latin typeface="Segoe UI"/>
                <a:cs typeface="Segoe UI"/>
              </a:rPr>
              <a:t>BI</a:t>
            </a:r>
            <a:r>
              <a:rPr sz="900" spc="-25">
                <a:solidFill>
                  <a:srgbClr val="FFFFFF"/>
                </a:solidFill>
                <a:latin typeface="Segoe UI"/>
                <a:cs typeface="Segoe UI"/>
              </a:rPr>
              <a:t> </a:t>
            </a:r>
            <a:r>
              <a:rPr sz="900" spc="-10">
                <a:solidFill>
                  <a:srgbClr val="FFFFFF"/>
                </a:solidFill>
                <a:latin typeface="Segoe UI"/>
                <a:cs typeface="Segoe UI"/>
              </a:rPr>
              <a:t>Desktop</a:t>
            </a:r>
            <a:endParaRPr sz="900">
              <a:latin typeface="Segoe UI"/>
              <a:cs typeface="Segoe UI"/>
            </a:endParaRPr>
          </a:p>
        </p:txBody>
      </p:sp>
      <p:grpSp>
        <p:nvGrpSpPr>
          <p:cNvPr id="3" name="object 3"/>
          <p:cNvGrpSpPr/>
          <p:nvPr/>
        </p:nvGrpSpPr>
        <p:grpSpPr>
          <a:xfrm>
            <a:off x="228600" y="228600"/>
            <a:ext cx="18288000" cy="10287000"/>
            <a:chOff x="228600" y="228600"/>
            <a:chExt cx="18288000" cy="10287000"/>
          </a:xfrm>
        </p:grpSpPr>
        <p:sp>
          <p:nvSpPr>
            <p:cNvPr id="4" name="object 4"/>
            <p:cNvSpPr/>
            <p:nvPr/>
          </p:nvSpPr>
          <p:spPr>
            <a:xfrm>
              <a:off x="228600" y="22860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FAFAFA">
                <a:alpha val="85998"/>
              </a:srgbClr>
            </a:solidFill>
          </p:spPr>
          <p:txBody>
            <a:bodyPr wrap="square" lIns="0" tIns="0" rIns="0" bIns="0" rtlCol="0"/>
            <a:lstStyle/>
            <a:p>
              <a:endParaRPr/>
            </a:p>
          </p:txBody>
        </p:sp>
        <p:sp>
          <p:nvSpPr>
            <p:cNvPr id="5" name="object 5"/>
            <p:cNvSpPr/>
            <p:nvPr/>
          </p:nvSpPr>
          <p:spPr>
            <a:xfrm>
              <a:off x="338137" y="233362"/>
              <a:ext cx="17621250" cy="10277475"/>
            </a:xfrm>
            <a:custGeom>
              <a:avLst/>
              <a:gdLst/>
              <a:ahLst/>
              <a:cxnLst/>
              <a:rect l="l" t="t" r="r" b="b"/>
              <a:pathLst>
                <a:path w="17621250" h="10277475">
                  <a:moveTo>
                    <a:pt x="17554500" y="10277473"/>
                  </a:moveTo>
                  <a:lnTo>
                    <a:pt x="66746" y="10277473"/>
                  </a:lnTo>
                  <a:lnTo>
                    <a:pt x="62101" y="10277016"/>
                  </a:lnTo>
                  <a:lnTo>
                    <a:pt x="24240" y="10259865"/>
                  </a:lnTo>
                  <a:lnTo>
                    <a:pt x="2287" y="10224572"/>
                  </a:lnTo>
                  <a:lnTo>
                    <a:pt x="0" y="10210727"/>
                  </a:lnTo>
                  <a:lnTo>
                    <a:pt x="0" y="10206036"/>
                  </a:lnTo>
                  <a:lnTo>
                    <a:pt x="0" y="66746"/>
                  </a:lnTo>
                  <a:lnTo>
                    <a:pt x="14645" y="27848"/>
                  </a:lnTo>
                  <a:lnTo>
                    <a:pt x="48433" y="3642"/>
                  </a:lnTo>
                  <a:lnTo>
                    <a:pt x="66746" y="0"/>
                  </a:lnTo>
                  <a:lnTo>
                    <a:pt x="17554500" y="0"/>
                  </a:lnTo>
                  <a:lnTo>
                    <a:pt x="17593399" y="14645"/>
                  </a:lnTo>
                  <a:lnTo>
                    <a:pt x="17617603" y="48433"/>
                  </a:lnTo>
                  <a:lnTo>
                    <a:pt x="17621247" y="66746"/>
                  </a:lnTo>
                  <a:lnTo>
                    <a:pt x="17621247" y="10210727"/>
                  </a:lnTo>
                  <a:lnTo>
                    <a:pt x="17606601" y="10249623"/>
                  </a:lnTo>
                  <a:lnTo>
                    <a:pt x="17572813" y="10273830"/>
                  </a:lnTo>
                  <a:lnTo>
                    <a:pt x="17559145" y="10277016"/>
                  </a:lnTo>
                  <a:lnTo>
                    <a:pt x="17554500" y="10277473"/>
                  </a:lnTo>
                  <a:close/>
                </a:path>
              </a:pathLst>
            </a:custGeom>
            <a:solidFill>
              <a:srgbClr val="FFFFFF"/>
            </a:solidFill>
          </p:spPr>
          <p:txBody>
            <a:bodyPr wrap="square" lIns="0" tIns="0" rIns="0" bIns="0" rtlCol="0"/>
            <a:lstStyle/>
            <a:p>
              <a:endParaRPr/>
            </a:p>
          </p:txBody>
        </p:sp>
        <p:sp>
          <p:nvSpPr>
            <p:cNvPr id="6" name="object 6"/>
            <p:cNvSpPr/>
            <p:nvPr/>
          </p:nvSpPr>
          <p:spPr>
            <a:xfrm>
              <a:off x="338137" y="233362"/>
              <a:ext cx="17621250" cy="10277475"/>
            </a:xfrm>
            <a:custGeom>
              <a:avLst/>
              <a:gdLst/>
              <a:ahLst/>
              <a:cxnLst/>
              <a:rect l="l" t="t" r="r" b="b"/>
              <a:pathLst>
                <a:path w="17621250" h="10277475">
                  <a:moveTo>
                    <a:pt x="0" y="10206036"/>
                  </a:moveTo>
                  <a:lnTo>
                    <a:pt x="0" y="71437"/>
                  </a:lnTo>
                  <a:lnTo>
                    <a:pt x="0" y="66746"/>
                  </a:lnTo>
                  <a:lnTo>
                    <a:pt x="457" y="62101"/>
                  </a:lnTo>
                  <a:lnTo>
                    <a:pt x="1372" y="57500"/>
                  </a:lnTo>
                  <a:lnTo>
                    <a:pt x="2287" y="52900"/>
                  </a:lnTo>
                  <a:lnTo>
                    <a:pt x="3642" y="48433"/>
                  </a:lnTo>
                  <a:lnTo>
                    <a:pt x="5437" y="44099"/>
                  </a:lnTo>
                  <a:lnTo>
                    <a:pt x="7232" y="39765"/>
                  </a:lnTo>
                  <a:lnTo>
                    <a:pt x="9433" y="35649"/>
                  </a:lnTo>
                  <a:lnTo>
                    <a:pt x="12039" y="31748"/>
                  </a:lnTo>
                  <a:lnTo>
                    <a:pt x="14645" y="27848"/>
                  </a:lnTo>
                  <a:lnTo>
                    <a:pt x="44099" y="5437"/>
                  </a:lnTo>
                  <a:lnTo>
                    <a:pt x="48433" y="3642"/>
                  </a:lnTo>
                  <a:lnTo>
                    <a:pt x="52900" y="2287"/>
                  </a:lnTo>
                  <a:lnTo>
                    <a:pt x="57500" y="1372"/>
                  </a:lnTo>
                  <a:lnTo>
                    <a:pt x="62101" y="457"/>
                  </a:lnTo>
                  <a:lnTo>
                    <a:pt x="66746" y="0"/>
                  </a:lnTo>
                  <a:lnTo>
                    <a:pt x="71437" y="0"/>
                  </a:lnTo>
                  <a:lnTo>
                    <a:pt x="17549811" y="0"/>
                  </a:lnTo>
                  <a:lnTo>
                    <a:pt x="17554500" y="0"/>
                  </a:lnTo>
                  <a:lnTo>
                    <a:pt x="17559145" y="457"/>
                  </a:lnTo>
                  <a:lnTo>
                    <a:pt x="17589497" y="12039"/>
                  </a:lnTo>
                  <a:lnTo>
                    <a:pt x="17593399" y="14645"/>
                  </a:lnTo>
                  <a:lnTo>
                    <a:pt x="17609206" y="31748"/>
                  </a:lnTo>
                  <a:lnTo>
                    <a:pt x="17611812" y="35649"/>
                  </a:lnTo>
                  <a:lnTo>
                    <a:pt x="17614013" y="39765"/>
                  </a:lnTo>
                  <a:lnTo>
                    <a:pt x="17615807" y="44099"/>
                  </a:lnTo>
                  <a:lnTo>
                    <a:pt x="17617603" y="48433"/>
                  </a:lnTo>
                  <a:lnTo>
                    <a:pt x="17621248" y="71437"/>
                  </a:lnTo>
                  <a:lnTo>
                    <a:pt x="17621248" y="10206036"/>
                  </a:lnTo>
                  <a:lnTo>
                    <a:pt x="17621247" y="10210727"/>
                  </a:lnTo>
                  <a:lnTo>
                    <a:pt x="17620789" y="10215372"/>
                  </a:lnTo>
                  <a:lnTo>
                    <a:pt x="17619873" y="10219973"/>
                  </a:lnTo>
                  <a:lnTo>
                    <a:pt x="17618957" y="10224572"/>
                  </a:lnTo>
                  <a:lnTo>
                    <a:pt x="17617603" y="10229039"/>
                  </a:lnTo>
                  <a:lnTo>
                    <a:pt x="17615807" y="10233373"/>
                  </a:lnTo>
                  <a:lnTo>
                    <a:pt x="17614013" y="10237706"/>
                  </a:lnTo>
                  <a:lnTo>
                    <a:pt x="17611812" y="10241824"/>
                  </a:lnTo>
                  <a:lnTo>
                    <a:pt x="17609206" y="10245723"/>
                  </a:lnTo>
                  <a:lnTo>
                    <a:pt x="17606601" y="10249623"/>
                  </a:lnTo>
                  <a:lnTo>
                    <a:pt x="17572813" y="10273830"/>
                  </a:lnTo>
                  <a:lnTo>
                    <a:pt x="17563746" y="10276100"/>
                  </a:lnTo>
                  <a:lnTo>
                    <a:pt x="17559145" y="10277016"/>
                  </a:lnTo>
                  <a:lnTo>
                    <a:pt x="17554500" y="10277473"/>
                  </a:lnTo>
                  <a:lnTo>
                    <a:pt x="17549811" y="10277474"/>
                  </a:lnTo>
                  <a:lnTo>
                    <a:pt x="71437" y="10277474"/>
                  </a:lnTo>
                  <a:lnTo>
                    <a:pt x="66746" y="10277473"/>
                  </a:lnTo>
                  <a:lnTo>
                    <a:pt x="62101" y="10277016"/>
                  </a:lnTo>
                  <a:lnTo>
                    <a:pt x="57500" y="10276100"/>
                  </a:lnTo>
                  <a:lnTo>
                    <a:pt x="52900" y="10275185"/>
                  </a:lnTo>
                  <a:lnTo>
                    <a:pt x="17606" y="10253232"/>
                  </a:lnTo>
                  <a:lnTo>
                    <a:pt x="457" y="10215372"/>
                  </a:lnTo>
                  <a:lnTo>
                    <a:pt x="0" y="10210727"/>
                  </a:lnTo>
                  <a:lnTo>
                    <a:pt x="0" y="10206036"/>
                  </a:lnTo>
                  <a:close/>
                </a:path>
              </a:pathLst>
            </a:custGeom>
            <a:ln w="9524">
              <a:solidFill>
                <a:srgbClr val="E6E6E6"/>
              </a:solidFill>
            </a:ln>
          </p:spPr>
          <p:txBody>
            <a:bodyPr wrap="square" lIns="0" tIns="0" rIns="0" bIns="0" rtlCol="0"/>
            <a:lstStyle/>
            <a:p>
              <a:endParaRPr/>
            </a:p>
          </p:txBody>
        </p:sp>
      </p:grpSp>
      <p:sp>
        <p:nvSpPr>
          <p:cNvPr id="7" name="object 7"/>
          <p:cNvSpPr txBox="1"/>
          <p:nvPr/>
        </p:nvSpPr>
        <p:spPr>
          <a:xfrm>
            <a:off x="8383736" y="367101"/>
            <a:ext cx="1549400" cy="370205"/>
          </a:xfrm>
          <a:prstGeom prst="rect">
            <a:avLst/>
          </a:prstGeom>
        </p:spPr>
        <p:txBody>
          <a:bodyPr vert="horz" wrap="square" lIns="0" tIns="13970" rIns="0" bIns="0" rtlCol="0">
            <a:spAutoFit/>
          </a:bodyPr>
          <a:lstStyle/>
          <a:p>
            <a:pPr marL="12700">
              <a:lnSpc>
                <a:spcPct val="100000"/>
              </a:lnSpc>
              <a:spcBef>
                <a:spcPts val="110"/>
              </a:spcBef>
            </a:pPr>
            <a:r>
              <a:rPr sz="2250" b="1" spc="-270">
                <a:solidFill>
                  <a:srgbClr val="242424"/>
                </a:solidFill>
                <a:latin typeface="Adobe Clean Han ExtraBold"/>
                <a:cs typeface="Adobe Clean Han ExtraBold"/>
              </a:rPr>
              <a:t>⽉</a:t>
            </a:r>
            <a:r>
              <a:rPr sz="2250" b="1" spc="-280">
                <a:solidFill>
                  <a:srgbClr val="242424"/>
                </a:solidFill>
                <a:latin typeface="BIZ UDPGothic"/>
                <a:cs typeface="BIZ UDPGothic"/>
              </a:rPr>
              <a:t>別売上集計</a:t>
            </a:r>
            <a:endParaRPr sz="2250">
              <a:latin typeface="BIZ UDPGothic"/>
              <a:cs typeface="BIZ UDPGothic"/>
            </a:endParaRPr>
          </a:p>
        </p:txBody>
      </p:sp>
      <p:grpSp>
        <p:nvGrpSpPr>
          <p:cNvPr id="8" name="object 8"/>
          <p:cNvGrpSpPr/>
          <p:nvPr/>
        </p:nvGrpSpPr>
        <p:grpSpPr>
          <a:xfrm>
            <a:off x="1042987" y="1697758"/>
            <a:ext cx="16535400" cy="8319770"/>
            <a:chOff x="1042987" y="1697758"/>
            <a:chExt cx="16535400" cy="8319770"/>
          </a:xfrm>
        </p:grpSpPr>
        <p:sp>
          <p:nvSpPr>
            <p:cNvPr id="9" name="object 9"/>
            <p:cNvSpPr/>
            <p:nvPr/>
          </p:nvSpPr>
          <p:spPr>
            <a:xfrm>
              <a:off x="1047750" y="10012362"/>
              <a:ext cx="16525875" cy="0"/>
            </a:xfrm>
            <a:custGeom>
              <a:avLst/>
              <a:gdLst/>
              <a:ahLst/>
              <a:cxnLst/>
              <a:rect l="l" t="t" r="r" b="b"/>
              <a:pathLst>
                <a:path w="16525875">
                  <a:moveTo>
                    <a:pt x="0" y="0"/>
                  </a:moveTo>
                  <a:lnTo>
                    <a:pt x="16525873" y="0"/>
                  </a:lnTo>
                </a:path>
              </a:pathLst>
            </a:custGeom>
            <a:ln w="9524">
              <a:solidFill>
                <a:srgbClr val="F0F0F0"/>
              </a:solidFill>
            </a:ln>
          </p:spPr>
          <p:txBody>
            <a:bodyPr wrap="square" lIns="0" tIns="0" rIns="0" bIns="0" rtlCol="0"/>
            <a:lstStyle/>
            <a:p>
              <a:endParaRPr/>
            </a:p>
          </p:txBody>
        </p:sp>
        <p:sp>
          <p:nvSpPr>
            <p:cNvPr id="10" name="object 10"/>
            <p:cNvSpPr/>
            <p:nvPr/>
          </p:nvSpPr>
          <p:spPr>
            <a:xfrm>
              <a:off x="1047750" y="8350393"/>
              <a:ext cx="16525875" cy="0"/>
            </a:xfrm>
            <a:custGeom>
              <a:avLst/>
              <a:gdLst/>
              <a:ahLst/>
              <a:cxnLst/>
              <a:rect l="l" t="t" r="r" b="b"/>
              <a:pathLst>
                <a:path w="16525875">
                  <a:moveTo>
                    <a:pt x="0" y="0"/>
                  </a:moveTo>
                  <a:lnTo>
                    <a:pt x="16525873" y="0"/>
                  </a:lnTo>
                </a:path>
              </a:pathLst>
            </a:custGeom>
            <a:ln w="9524">
              <a:solidFill>
                <a:srgbClr val="F0F0F0"/>
              </a:solidFill>
            </a:ln>
          </p:spPr>
          <p:txBody>
            <a:bodyPr wrap="square" lIns="0" tIns="0" rIns="0" bIns="0" rtlCol="0"/>
            <a:lstStyle/>
            <a:p>
              <a:endParaRPr/>
            </a:p>
          </p:txBody>
        </p:sp>
        <p:sp>
          <p:nvSpPr>
            <p:cNvPr id="11" name="object 11"/>
            <p:cNvSpPr/>
            <p:nvPr/>
          </p:nvSpPr>
          <p:spPr>
            <a:xfrm>
              <a:off x="1047750" y="6688425"/>
              <a:ext cx="16525875" cy="0"/>
            </a:xfrm>
            <a:custGeom>
              <a:avLst/>
              <a:gdLst/>
              <a:ahLst/>
              <a:cxnLst/>
              <a:rect l="l" t="t" r="r" b="b"/>
              <a:pathLst>
                <a:path w="16525875">
                  <a:moveTo>
                    <a:pt x="0" y="0"/>
                  </a:moveTo>
                  <a:lnTo>
                    <a:pt x="16525873" y="0"/>
                  </a:lnTo>
                </a:path>
              </a:pathLst>
            </a:custGeom>
            <a:ln w="9524">
              <a:solidFill>
                <a:srgbClr val="F0F0F0"/>
              </a:solidFill>
            </a:ln>
          </p:spPr>
          <p:txBody>
            <a:bodyPr wrap="square" lIns="0" tIns="0" rIns="0" bIns="0" rtlCol="0"/>
            <a:lstStyle/>
            <a:p>
              <a:endParaRPr/>
            </a:p>
          </p:txBody>
        </p:sp>
        <p:sp>
          <p:nvSpPr>
            <p:cNvPr id="12" name="object 12"/>
            <p:cNvSpPr/>
            <p:nvPr/>
          </p:nvSpPr>
          <p:spPr>
            <a:xfrm>
              <a:off x="1047750" y="5026458"/>
              <a:ext cx="16525875" cy="0"/>
            </a:xfrm>
            <a:custGeom>
              <a:avLst/>
              <a:gdLst/>
              <a:ahLst/>
              <a:cxnLst/>
              <a:rect l="l" t="t" r="r" b="b"/>
              <a:pathLst>
                <a:path w="16525875">
                  <a:moveTo>
                    <a:pt x="0" y="0"/>
                  </a:moveTo>
                  <a:lnTo>
                    <a:pt x="16525873" y="0"/>
                  </a:lnTo>
                </a:path>
              </a:pathLst>
            </a:custGeom>
            <a:ln w="9524">
              <a:solidFill>
                <a:srgbClr val="F0F0F0"/>
              </a:solidFill>
            </a:ln>
          </p:spPr>
          <p:txBody>
            <a:bodyPr wrap="square" lIns="0" tIns="0" rIns="0" bIns="0" rtlCol="0"/>
            <a:lstStyle/>
            <a:p>
              <a:endParaRPr/>
            </a:p>
          </p:txBody>
        </p:sp>
        <p:sp>
          <p:nvSpPr>
            <p:cNvPr id="13" name="object 13"/>
            <p:cNvSpPr/>
            <p:nvPr/>
          </p:nvSpPr>
          <p:spPr>
            <a:xfrm>
              <a:off x="1047750" y="3364489"/>
              <a:ext cx="16525875" cy="0"/>
            </a:xfrm>
            <a:custGeom>
              <a:avLst/>
              <a:gdLst/>
              <a:ahLst/>
              <a:cxnLst/>
              <a:rect l="l" t="t" r="r" b="b"/>
              <a:pathLst>
                <a:path w="16525875">
                  <a:moveTo>
                    <a:pt x="0" y="0"/>
                  </a:moveTo>
                  <a:lnTo>
                    <a:pt x="16525873" y="0"/>
                  </a:lnTo>
                </a:path>
              </a:pathLst>
            </a:custGeom>
            <a:ln w="9524">
              <a:solidFill>
                <a:srgbClr val="F0F0F0"/>
              </a:solidFill>
            </a:ln>
          </p:spPr>
          <p:txBody>
            <a:bodyPr wrap="square" lIns="0" tIns="0" rIns="0" bIns="0" rtlCol="0"/>
            <a:lstStyle/>
            <a:p>
              <a:endParaRPr/>
            </a:p>
          </p:txBody>
        </p:sp>
        <p:sp>
          <p:nvSpPr>
            <p:cNvPr id="14" name="object 14"/>
            <p:cNvSpPr/>
            <p:nvPr/>
          </p:nvSpPr>
          <p:spPr>
            <a:xfrm>
              <a:off x="1047750" y="1702521"/>
              <a:ext cx="16525875" cy="0"/>
            </a:xfrm>
            <a:custGeom>
              <a:avLst/>
              <a:gdLst/>
              <a:ahLst/>
              <a:cxnLst/>
              <a:rect l="l" t="t" r="r" b="b"/>
              <a:pathLst>
                <a:path w="16525875">
                  <a:moveTo>
                    <a:pt x="0" y="0"/>
                  </a:moveTo>
                  <a:lnTo>
                    <a:pt x="16525873" y="0"/>
                  </a:lnTo>
                </a:path>
              </a:pathLst>
            </a:custGeom>
            <a:ln w="9524">
              <a:solidFill>
                <a:srgbClr val="F0F0F0"/>
              </a:solidFill>
            </a:ln>
          </p:spPr>
          <p:txBody>
            <a:bodyPr wrap="square" lIns="0" tIns="0" rIns="0" bIns="0" rtlCol="0"/>
            <a:lstStyle/>
            <a:p>
              <a:endParaRPr/>
            </a:p>
          </p:txBody>
        </p:sp>
      </p:grpSp>
      <p:sp>
        <p:nvSpPr>
          <p:cNvPr id="15" name="object 15"/>
          <p:cNvSpPr txBox="1"/>
          <p:nvPr/>
        </p:nvSpPr>
        <p:spPr>
          <a:xfrm>
            <a:off x="486618" y="9870182"/>
            <a:ext cx="478790" cy="254000"/>
          </a:xfrm>
          <a:prstGeom prst="rect">
            <a:avLst/>
          </a:prstGeom>
        </p:spPr>
        <p:txBody>
          <a:bodyPr vert="horz" wrap="square" lIns="0" tIns="12700" rIns="0" bIns="0" rtlCol="0">
            <a:spAutoFit/>
          </a:bodyPr>
          <a:lstStyle/>
          <a:p>
            <a:pPr marL="12700">
              <a:lnSpc>
                <a:spcPct val="100000"/>
              </a:lnSpc>
              <a:spcBef>
                <a:spcPts val="100"/>
              </a:spcBef>
            </a:pPr>
            <a:r>
              <a:rPr sz="1500" b="1" spc="-20">
                <a:solidFill>
                  <a:srgbClr val="616161"/>
                </a:solidFill>
                <a:latin typeface="Segoe UI"/>
                <a:cs typeface="Segoe UI"/>
              </a:rPr>
              <a:t>0.0M</a:t>
            </a:r>
            <a:endParaRPr sz="1500">
              <a:latin typeface="Segoe UI"/>
              <a:cs typeface="Segoe UI"/>
            </a:endParaRPr>
          </a:p>
        </p:txBody>
      </p:sp>
      <p:sp>
        <p:nvSpPr>
          <p:cNvPr id="16" name="object 16"/>
          <p:cNvSpPr txBox="1"/>
          <p:nvPr/>
        </p:nvSpPr>
        <p:spPr>
          <a:xfrm>
            <a:off x="486618" y="8208213"/>
            <a:ext cx="478790" cy="254000"/>
          </a:xfrm>
          <a:prstGeom prst="rect">
            <a:avLst/>
          </a:prstGeom>
        </p:spPr>
        <p:txBody>
          <a:bodyPr vert="horz" wrap="square" lIns="0" tIns="12700" rIns="0" bIns="0" rtlCol="0">
            <a:spAutoFit/>
          </a:bodyPr>
          <a:lstStyle/>
          <a:p>
            <a:pPr marL="12700">
              <a:lnSpc>
                <a:spcPct val="100000"/>
              </a:lnSpc>
              <a:spcBef>
                <a:spcPts val="100"/>
              </a:spcBef>
            </a:pPr>
            <a:r>
              <a:rPr sz="1500" b="1" spc="-20">
                <a:solidFill>
                  <a:srgbClr val="616161"/>
                </a:solidFill>
                <a:latin typeface="Segoe UI"/>
                <a:cs typeface="Segoe UI"/>
              </a:rPr>
              <a:t>0.1M</a:t>
            </a:r>
            <a:endParaRPr sz="1500">
              <a:latin typeface="Segoe UI"/>
              <a:cs typeface="Segoe UI"/>
            </a:endParaRPr>
          </a:p>
        </p:txBody>
      </p:sp>
      <p:sp>
        <p:nvSpPr>
          <p:cNvPr id="17" name="object 17"/>
          <p:cNvSpPr txBox="1"/>
          <p:nvPr/>
        </p:nvSpPr>
        <p:spPr>
          <a:xfrm>
            <a:off x="486618" y="6546245"/>
            <a:ext cx="478790" cy="254000"/>
          </a:xfrm>
          <a:prstGeom prst="rect">
            <a:avLst/>
          </a:prstGeom>
        </p:spPr>
        <p:txBody>
          <a:bodyPr vert="horz" wrap="square" lIns="0" tIns="12700" rIns="0" bIns="0" rtlCol="0">
            <a:spAutoFit/>
          </a:bodyPr>
          <a:lstStyle/>
          <a:p>
            <a:pPr marL="12700">
              <a:lnSpc>
                <a:spcPct val="100000"/>
              </a:lnSpc>
              <a:spcBef>
                <a:spcPts val="100"/>
              </a:spcBef>
            </a:pPr>
            <a:r>
              <a:rPr sz="1500" b="1" spc="-20">
                <a:solidFill>
                  <a:srgbClr val="616161"/>
                </a:solidFill>
                <a:latin typeface="Segoe UI"/>
                <a:cs typeface="Segoe UI"/>
              </a:rPr>
              <a:t>0.2M</a:t>
            </a:r>
            <a:endParaRPr sz="1500">
              <a:latin typeface="Segoe UI"/>
              <a:cs typeface="Segoe UI"/>
            </a:endParaRPr>
          </a:p>
        </p:txBody>
      </p:sp>
      <p:sp>
        <p:nvSpPr>
          <p:cNvPr id="18" name="object 18"/>
          <p:cNvSpPr txBox="1"/>
          <p:nvPr/>
        </p:nvSpPr>
        <p:spPr>
          <a:xfrm>
            <a:off x="486618" y="4884277"/>
            <a:ext cx="478790" cy="254000"/>
          </a:xfrm>
          <a:prstGeom prst="rect">
            <a:avLst/>
          </a:prstGeom>
        </p:spPr>
        <p:txBody>
          <a:bodyPr vert="horz" wrap="square" lIns="0" tIns="12700" rIns="0" bIns="0" rtlCol="0">
            <a:spAutoFit/>
          </a:bodyPr>
          <a:lstStyle/>
          <a:p>
            <a:pPr marL="12700">
              <a:lnSpc>
                <a:spcPct val="100000"/>
              </a:lnSpc>
              <a:spcBef>
                <a:spcPts val="100"/>
              </a:spcBef>
            </a:pPr>
            <a:r>
              <a:rPr sz="1500" b="1" spc="-20">
                <a:solidFill>
                  <a:srgbClr val="616161"/>
                </a:solidFill>
                <a:latin typeface="Segoe UI"/>
                <a:cs typeface="Segoe UI"/>
              </a:rPr>
              <a:t>0.3M</a:t>
            </a:r>
            <a:endParaRPr sz="1500">
              <a:latin typeface="Segoe UI"/>
              <a:cs typeface="Segoe UI"/>
            </a:endParaRPr>
          </a:p>
        </p:txBody>
      </p:sp>
      <p:sp>
        <p:nvSpPr>
          <p:cNvPr id="19" name="object 19"/>
          <p:cNvSpPr txBox="1"/>
          <p:nvPr/>
        </p:nvSpPr>
        <p:spPr>
          <a:xfrm>
            <a:off x="486618" y="3222308"/>
            <a:ext cx="478790" cy="254000"/>
          </a:xfrm>
          <a:prstGeom prst="rect">
            <a:avLst/>
          </a:prstGeom>
        </p:spPr>
        <p:txBody>
          <a:bodyPr vert="horz" wrap="square" lIns="0" tIns="12700" rIns="0" bIns="0" rtlCol="0">
            <a:spAutoFit/>
          </a:bodyPr>
          <a:lstStyle/>
          <a:p>
            <a:pPr marL="12700">
              <a:lnSpc>
                <a:spcPct val="100000"/>
              </a:lnSpc>
              <a:spcBef>
                <a:spcPts val="100"/>
              </a:spcBef>
            </a:pPr>
            <a:r>
              <a:rPr sz="1500" b="1" spc="-20">
                <a:solidFill>
                  <a:srgbClr val="616161"/>
                </a:solidFill>
                <a:latin typeface="Segoe UI"/>
                <a:cs typeface="Segoe UI"/>
              </a:rPr>
              <a:t>0.4M</a:t>
            </a:r>
            <a:endParaRPr sz="1500">
              <a:latin typeface="Segoe UI"/>
              <a:cs typeface="Segoe UI"/>
            </a:endParaRPr>
          </a:p>
        </p:txBody>
      </p:sp>
      <p:sp>
        <p:nvSpPr>
          <p:cNvPr id="20" name="object 20"/>
          <p:cNvSpPr txBox="1"/>
          <p:nvPr/>
        </p:nvSpPr>
        <p:spPr>
          <a:xfrm>
            <a:off x="820737" y="10008234"/>
            <a:ext cx="654685" cy="283845"/>
          </a:xfrm>
          <a:prstGeom prst="rect">
            <a:avLst/>
          </a:prstGeom>
        </p:spPr>
        <p:txBody>
          <a:bodyPr vert="horz" wrap="square" lIns="0" tIns="12065" rIns="0" bIns="0" rtlCol="0">
            <a:spAutoFit/>
          </a:bodyPr>
          <a:lstStyle/>
          <a:p>
            <a:pPr marL="12700">
              <a:lnSpc>
                <a:spcPct val="100000"/>
              </a:lnSpc>
              <a:spcBef>
                <a:spcPts val="95"/>
              </a:spcBef>
            </a:pPr>
            <a:r>
              <a:rPr sz="1500" b="1">
                <a:solidFill>
                  <a:srgbClr val="616161"/>
                </a:solidFill>
                <a:latin typeface="Segoe UI"/>
                <a:cs typeface="Segoe UI"/>
              </a:rPr>
              <a:t>2019</a:t>
            </a:r>
            <a:r>
              <a:rPr sz="1700" b="1" spc="-145">
                <a:solidFill>
                  <a:srgbClr val="616161"/>
                </a:solidFill>
                <a:latin typeface="BIZ UDPGothic"/>
                <a:cs typeface="BIZ UDPGothic"/>
              </a:rPr>
              <a:t>年</a:t>
            </a:r>
            <a:endParaRPr sz="1700">
              <a:latin typeface="BIZ UDPGothic"/>
              <a:cs typeface="BIZ UDPGothic"/>
            </a:endParaRPr>
          </a:p>
        </p:txBody>
      </p:sp>
      <p:sp>
        <p:nvSpPr>
          <p:cNvPr id="21" name="object 21"/>
          <p:cNvSpPr txBox="1"/>
          <p:nvPr/>
        </p:nvSpPr>
        <p:spPr>
          <a:xfrm>
            <a:off x="2950170" y="10008234"/>
            <a:ext cx="654685" cy="283845"/>
          </a:xfrm>
          <a:prstGeom prst="rect">
            <a:avLst/>
          </a:prstGeom>
        </p:spPr>
        <p:txBody>
          <a:bodyPr vert="horz" wrap="square" lIns="0" tIns="12065" rIns="0" bIns="0" rtlCol="0">
            <a:spAutoFit/>
          </a:bodyPr>
          <a:lstStyle/>
          <a:p>
            <a:pPr marL="12700">
              <a:lnSpc>
                <a:spcPct val="100000"/>
              </a:lnSpc>
              <a:spcBef>
                <a:spcPts val="95"/>
              </a:spcBef>
            </a:pPr>
            <a:r>
              <a:rPr sz="1500" b="1">
                <a:solidFill>
                  <a:srgbClr val="616161"/>
                </a:solidFill>
                <a:latin typeface="Segoe UI"/>
                <a:cs typeface="Segoe UI"/>
              </a:rPr>
              <a:t>2020</a:t>
            </a:r>
            <a:r>
              <a:rPr sz="1700" b="1" spc="-145">
                <a:solidFill>
                  <a:srgbClr val="616161"/>
                </a:solidFill>
                <a:latin typeface="BIZ UDPGothic"/>
                <a:cs typeface="BIZ UDPGothic"/>
              </a:rPr>
              <a:t>年</a:t>
            </a:r>
            <a:endParaRPr sz="1700">
              <a:latin typeface="BIZ UDPGothic"/>
              <a:cs typeface="BIZ UDPGothic"/>
            </a:endParaRPr>
          </a:p>
        </p:txBody>
      </p:sp>
      <p:sp>
        <p:nvSpPr>
          <p:cNvPr id="22" name="object 22"/>
          <p:cNvSpPr txBox="1"/>
          <p:nvPr/>
        </p:nvSpPr>
        <p:spPr>
          <a:xfrm>
            <a:off x="5085436" y="10008234"/>
            <a:ext cx="654685" cy="283845"/>
          </a:xfrm>
          <a:prstGeom prst="rect">
            <a:avLst/>
          </a:prstGeom>
        </p:spPr>
        <p:txBody>
          <a:bodyPr vert="horz" wrap="square" lIns="0" tIns="12065" rIns="0" bIns="0" rtlCol="0">
            <a:spAutoFit/>
          </a:bodyPr>
          <a:lstStyle/>
          <a:p>
            <a:pPr marL="12700">
              <a:lnSpc>
                <a:spcPct val="100000"/>
              </a:lnSpc>
              <a:spcBef>
                <a:spcPts val="95"/>
              </a:spcBef>
            </a:pPr>
            <a:r>
              <a:rPr sz="1500" b="1">
                <a:solidFill>
                  <a:srgbClr val="616161"/>
                </a:solidFill>
                <a:latin typeface="Segoe UI"/>
                <a:cs typeface="Segoe UI"/>
              </a:rPr>
              <a:t>2021</a:t>
            </a:r>
            <a:r>
              <a:rPr sz="1700" b="1" spc="-145">
                <a:solidFill>
                  <a:srgbClr val="616161"/>
                </a:solidFill>
                <a:latin typeface="BIZ UDPGothic"/>
                <a:cs typeface="BIZ UDPGothic"/>
              </a:rPr>
              <a:t>年</a:t>
            </a:r>
            <a:endParaRPr sz="1700">
              <a:latin typeface="BIZ UDPGothic"/>
              <a:cs typeface="BIZ UDPGothic"/>
            </a:endParaRPr>
          </a:p>
        </p:txBody>
      </p:sp>
      <p:sp>
        <p:nvSpPr>
          <p:cNvPr id="23" name="object 23"/>
          <p:cNvSpPr txBox="1"/>
          <p:nvPr/>
        </p:nvSpPr>
        <p:spPr>
          <a:xfrm>
            <a:off x="7214869" y="10008234"/>
            <a:ext cx="654685" cy="283845"/>
          </a:xfrm>
          <a:prstGeom prst="rect">
            <a:avLst/>
          </a:prstGeom>
        </p:spPr>
        <p:txBody>
          <a:bodyPr vert="horz" wrap="square" lIns="0" tIns="12065" rIns="0" bIns="0" rtlCol="0">
            <a:spAutoFit/>
          </a:bodyPr>
          <a:lstStyle/>
          <a:p>
            <a:pPr marL="12700">
              <a:lnSpc>
                <a:spcPct val="100000"/>
              </a:lnSpc>
              <a:spcBef>
                <a:spcPts val="95"/>
              </a:spcBef>
            </a:pPr>
            <a:r>
              <a:rPr sz="1500" b="1">
                <a:solidFill>
                  <a:srgbClr val="616161"/>
                </a:solidFill>
                <a:latin typeface="Segoe UI"/>
                <a:cs typeface="Segoe UI"/>
              </a:rPr>
              <a:t>2022</a:t>
            </a:r>
            <a:r>
              <a:rPr sz="1700" b="1" spc="-145">
                <a:solidFill>
                  <a:srgbClr val="616161"/>
                </a:solidFill>
                <a:latin typeface="BIZ UDPGothic"/>
                <a:cs typeface="BIZ UDPGothic"/>
              </a:rPr>
              <a:t>年</a:t>
            </a:r>
            <a:endParaRPr sz="1700">
              <a:latin typeface="BIZ UDPGothic"/>
              <a:cs typeface="BIZ UDPGothic"/>
            </a:endParaRPr>
          </a:p>
        </p:txBody>
      </p:sp>
      <p:sp>
        <p:nvSpPr>
          <p:cNvPr id="24" name="object 24"/>
          <p:cNvSpPr txBox="1"/>
          <p:nvPr/>
        </p:nvSpPr>
        <p:spPr>
          <a:xfrm>
            <a:off x="9344302" y="10008234"/>
            <a:ext cx="654685" cy="283845"/>
          </a:xfrm>
          <a:prstGeom prst="rect">
            <a:avLst/>
          </a:prstGeom>
        </p:spPr>
        <p:txBody>
          <a:bodyPr vert="horz" wrap="square" lIns="0" tIns="12065" rIns="0" bIns="0" rtlCol="0">
            <a:spAutoFit/>
          </a:bodyPr>
          <a:lstStyle/>
          <a:p>
            <a:pPr marL="12700">
              <a:lnSpc>
                <a:spcPct val="100000"/>
              </a:lnSpc>
              <a:spcBef>
                <a:spcPts val="95"/>
              </a:spcBef>
            </a:pPr>
            <a:r>
              <a:rPr sz="1500" b="1">
                <a:solidFill>
                  <a:srgbClr val="616161"/>
                </a:solidFill>
                <a:latin typeface="Segoe UI"/>
                <a:cs typeface="Segoe UI"/>
              </a:rPr>
              <a:t>2023</a:t>
            </a:r>
            <a:r>
              <a:rPr sz="1700" b="1" spc="-145">
                <a:solidFill>
                  <a:srgbClr val="616161"/>
                </a:solidFill>
                <a:latin typeface="BIZ UDPGothic"/>
                <a:cs typeface="BIZ UDPGothic"/>
              </a:rPr>
              <a:t>年</a:t>
            </a:r>
            <a:endParaRPr sz="1700">
              <a:latin typeface="BIZ UDPGothic"/>
              <a:cs typeface="BIZ UDPGothic"/>
            </a:endParaRPr>
          </a:p>
        </p:txBody>
      </p:sp>
      <p:sp>
        <p:nvSpPr>
          <p:cNvPr id="25" name="object 25"/>
          <p:cNvSpPr txBox="1"/>
          <p:nvPr/>
        </p:nvSpPr>
        <p:spPr>
          <a:xfrm>
            <a:off x="11473736" y="10008234"/>
            <a:ext cx="654685" cy="283845"/>
          </a:xfrm>
          <a:prstGeom prst="rect">
            <a:avLst/>
          </a:prstGeom>
        </p:spPr>
        <p:txBody>
          <a:bodyPr vert="horz" wrap="square" lIns="0" tIns="12065" rIns="0" bIns="0" rtlCol="0">
            <a:spAutoFit/>
          </a:bodyPr>
          <a:lstStyle/>
          <a:p>
            <a:pPr marL="12700">
              <a:lnSpc>
                <a:spcPct val="100000"/>
              </a:lnSpc>
              <a:spcBef>
                <a:spcPts val="95"/>
              </a:spcBef>
            </a:pPr>
            <a:r>
              <a:rPr sz="1500" b="1">
                <a:solidFill>
                  <a:srgbClr val="616161"/>
                </a:solidFill>
                <a:latin typeface="Segoe UI"/>
                <a:cs typeface="Segoe UI"/>
              </a:rPr>
              <a:t>2024</a:t>
            </a:r>
            <a:r>
              <a:rPr sz="1700" b="1" spc="-145">
                <a:solidFill>
                  <a:srgbClr val="616161"/>
                </a:solidFill>
                <a:latin typeface="BIZ UDPGothic"/>
                <a:cs typeface="BIZ UDPGothic"/>
              </a:rPr>
              <a:t>年</a:t>
            </a:r>
            <a:endParaRPr sz="1700">
              <a:latin typeface="BIZ UDPGothic"/>
              <a:cs typeface="BIZ UDPGothic"/>
            </a:endParaRPr>
          </a:p>
        </p:txBody>
      </p:sp>
      <p:sp>
        <p:nvSpPr>
          <p:cNvPr id="26" name="object 26"/>
          <p:cNvSpPr txBox="1"/>
          <p:nvPr/>
        </p:nvSpPr>
        <p:spPr>
          <a:xfrm>
            <a:off x="13609001" y="10008234"/>
            <a:ext cx="654685" cy="283845"/>
          </a:xfrm>
          <a:prstGeom prst="rect">
            <a:avLst/>
          </a:prstGeom>
        </p:spPr>
        <p:txBody>
          <a:bodyPr vert="horz" wrap="square" lIns="0" tIns="12065" rIns="0" bIns="0" rtlCol="0">
            <a:spAutoFit/>
          </a:bodyPr>
          <a:lstStyle/>
          <a:p>
            <a:pPr marL="12700">
              <a:lnSpc>
                <a:spcPct val="100000"/>
              </a:lnSpc>
              <a:spcBef>
                <a:spcPts val="95"/>
              </a:spcBef>
            </a:pPr>
            <a:r>
              <a:rPr sz="1500" b="1">
                <a:solidFill>
                  <a:srgbClr val="616161"/>
                </a:solidFill>
                <a:latin typeface="Segoe UI"/>
                <a:cs typeface="Segoe UI"/>
              </a:rPr>
              <a:t>2025</a:t>
            </a:r>
            <a:r>
              <a:rPr sz="1700" b="1" spc="-145">
                <a:solidFill>
                  <a:srgbClr val="616161"/>
                </a:solidFill>
                <a:latin typeface="BIZ UDPGothic"/>
                <a:cs typeface="BIZ UDPGothic"/>
              </a:rPr>
              <a:t>年</a:t>
            </a:r>
            <a:endParaRPr sz="1700">
              <a:latin typeface="BIZ UDPGothic"/>
              <a:cs typeface="BIZ UDPGothic"/>
            </a:endParaRPr>
          </a:p>
        </p:txBody>
      </p:sp>
      <p:sp>
        <p:nvSpPr>
          <p:cNvPr id="27" name="object 27"/>
          <p:cNvSpPr txBox="1"/>
          <p:nvPr/>
        </p:nvSpPr>
        <p:spPr>
          <a:xfrm>
            <a:off x="15738434" y="10008234"/>
            <a:ext cx="654685" cy="283845"/>
          </a:xfrm>
          <a:prstGeom prst="rect">
            <a:avLst/>
          </a:prstGeom>
        </p:spPr>
        <p:txBody>
          <a:bodyPr vert="horz" wrap="square" lIns="0" tIns="12065" rIns="0" bIns="0" rtlCol="0">
            <a:spAutoFit/>
          </a:bodyPr>
          <a:lstStyle/>
          <a:p>
            <a:pPr marL="12700">
              <a:lnSpc>
                <a:spcPct val="100000"/>
              </a:lnSpc>
              <a:spcBef>
                <a:spcPts val="95"/>
              </a:spcBef>
            </a:pPr>
            <a:r>
              <a:rPr sz="1500" b="1">
                <a:solidFill>
                  <a:srgbClr val="616161"/>
                </a:solidFill>
                <a:latin typeface="Segoe UI"/>
                <a:cs typeface="Segoe UI"/>
              </a:rPr>
              <a:t>2026</a:t>
            </a:r>
            <a:r>
              <a:rPr sz="1700" b="1" spc="-145">
                <a:solidFill>
                  <a:srgbClr val="616161"/>
                </a:solidFill>
                <a:latin typeface="BIZ UDPGothic"/>
                <a:cs typeface="BIZ UDPGothic"/>
              </a:rPr>
              <a:t>年</a:t>
            </a:r>
            <a:endParaRPr sz="1700">
              <a:latin typeface="BIZ UDPGothic"/>
              <a:cs typeface="BIZ UDPGothic"/>
            </a:endParaRPr>
          </a:p>
        </p:txBody>
      </p:sp>
      <p:sp>
        <p:nvSpPr>
          <p:cNvPr id="28" name="object 28"/>
          <p:cNvSpPr/>
          <p:nvPr/>
        </p:nvSpPr>
        <p:spPr>
          <a:xfrm>
            <a:off x="1142999" y="1042212"/>
            <a:ext cx="16335375" cy="8958580"/>
          </a:xfrm>
          <a:custGeom>
            <a:avLst/>
            <a:gdLst/>
            <a:ahLst/>
            <a:cxnLst/>
            <a:rect l="l" t="t" r="r" b="b"/>
            <a:pathLst>
              <a:path w="16335375" h="8958580">
                <a:moveTo>
                  <a:pt x="0" y="8958273"/>
                </a:moveTo>
                <a:lnTo>
                  <a:pt x="45213" y="8955919"/>
                </a:lnTo>
                <a:lnTo>
                  <a:pt x="90427" y="8953279"/>
                </a:lnTo>
                <a:lnTo>
                  <a:pt x="135641" y="8950065"/>
                </a:lnTo>
                <a:lnTo>
                  <a:pt x="180855" y="8945991"/>
                </a:lnTo>
                <a:lnTo>
                  <a:pt x="221694" y="8941076"/>
                </a:lnTo>
                <a:lnTo>
                  <a:pt x="262532" y="8935237"/>
                </a:lnTo>
                <a:lnTo>
                  <a:pt x="303371" y="8929374"/>
                </a:lnTo>
                <a:lnTo>
                  <a:pt x="344209" y="8924386"/>
                </a:lnTo>
                <a:lnTo>
                  <a:pt x="389423" y="8919676"/>
                </a:lnTo>
                <a:lnTo>
                  <a:pt x="434637" y="8915434"/>
                </a:lnTo>
                <a:lnTo>
                  <a:pt x="479851" y="8912369"/>
                </a:lnTo>
                <a:lnTo>
                  <a:pt x="525065" y="8911190"/>
                </a:lnTo>
                <a:lnTo>
                  <a:pt x="568821" y="8912094"/>
                </a:lnTo>
                <a:lnTo>
                  <a:pt x="612576" y="8914082"/>
                </a:lnTo>
                <a:lnTo>
                  <a:pt x="656331" y="8916070"/>
                </a:lnTo>
                <a:lnTo>
                  <a:pt x="700087" y="8916973"/>
                </a:lnTo>
                <a:lnTo>
                  <a:pt x="745301" y="8909811"/>
                </a:lnTo>
                <a:lnTo>
                  <a:pt x="790515" y="8893059"/>
                </a:lnTo>
                <a:lnTo>
                  <a:pt x="835729" y="8873818"/>
                </a:lnTo>
                <a:lnTo>
                  <a:pt x="880943" y="8859187"/>
                </a:lnTo>
                <a:lnTo>
                  <a:pt x="924698" y="8851342"/>
                </a:lnTo>
                <a:lnTo>
                  <a:pt x="968454" y="8846094"/>
                </a:lnTo>
                <a:lnTo>
                  <a:pt x="1012209" y="8841958"/>
                </a:lnTo>
                <a:lnTo>
                  <a:pt x="1055965" y="8837448"/>
                </a:lnTo>
                <a:lnTo>
                  <a:pt x="1101179" y="8831238"/>
                </a:lnTo>
                <a:lnTo>
                  <a:pt x="1146393" y="8824553"/>
                </a:lnTo>
                <a:lnTo>
                  <a:pt x="1191607" y="8819208"/>
                </a:lnTo>
                <a:lnTo>
                  <a:pt x="1236821" y="8817022"/>
                </a:lnTo>
                <a:lnTo>
                  <a:pt x="1282035" y="8822946"/>
                </a:lnTo>
                <a:lnTo>
                  <a:pt x="1327249" y="8835977"/>
                </a:lnTo>
                <a:lnTo>
                  <a:pt x="1372463" y="8849008"/>
                </a:lnTo>
                <a:lnTo>
                  <a:pt x="1417677" y="8854932"/>
                </a:lnTo>
                <a:lnTo>
                  <a:pt x="1461432" y="8850869"/>
                </a:lnTo>
                <a:lnTo>
                  <a:pt x="1505187" y="8841029"/>
                </a:lnTo>
                <a:lnTo>
                  <a:pt x="1548943" y="8828933"/>
                </a:lnTo>
                <a:lnTo>
                  <a:pt x="1592698" y="8818103"/>
                </a:lnTo>
                <a:lnTo>
                  <a:pt x="1637912" y="8807152"/>
                </a:lnTo>
                <a:lnTo>
                  <a:pt x="1683126" y="8795184"/>
                </a:lnTo>
                <a:lnTo>
                  <a:pt x="1728340" y="8785546"/>
                </a:lnTo>
                <a:lnTo>
                  <a:pt x="1773554" y="8781589"/>
                </a:lnTo>
                <a:lnTo>
                  <a:pt x="1817310" y="8782566"/>
                </a:lnTo>
                <a:lnTo>
                  <a:pt x="1861065" y="8784714"/>
                </a:lnTo>
                <a:lnTo>
                  <a:pt x="1904821" y="8786862"/>
                </a:lnTo>
                <a:lnTo>
                  <a:pt x="1948576" y="8787838"/>
                </a:lnTo>
                <a:lnTo>
                  <a:pt x="1993790" y="8787064"/>
                </a:lnTo>
                <a:lnTo>
                  <a:pt x="2039004" y="8784834"/>
                </a:lnTo>
                <a:lnTo>
                  <a:pt x="2084218" y="8781290"/>
                </a:lnTo>
                <a:lnTo>
                  <a:pt x="2129432" y="8776570"/>
                </a:lnTo>
                <a:lnTo>
                  <a:pt x="2174646" y="8770551"/>
                </a:lnTo>
                <a:lnTo>
                  <a:pt x="2219860" y="8763212"/>
                </a:lnTo>
                <a:lnTo>
                  <a:pt x="2265074" y="8754849"/>
                </a:lnTo>
                <a:lnTo>
                  <a:pt x="2310288" y="8745758"/>
                </a:lnTo>
                <a:lnTo>
                  <a:pt x="2352585" y="8734537"/>
                </a:lnTo>
                <a:lnTo>
                  <a:pt x="2394882" y="8721190"/>
                </a:lnTo>
                <a:lnTo>
                  <a:pt x="2437179" y="8709926"/>
                </a:lnTo>
                <a:lnTo>
                  <a:pt x="2479476" y="8704956"/>
                </a:lnTo>
                <a:lnTo>
                  <a:pt x="2524690" y="8704647"/>
                </a:lnTo>
                <a:lnTo>
                  <a:pt x="2569904" y="8704505"/>
                </a:lnTo>
                <a:lnTo>
                  <a:pt x="2615118" y="8704364"/>
                </a:lnTo>
                <a:lnTo>
                  <a:pt x="2660332" y="8704058"/>
                </a:lnTo>
                <a:lnTo>
                  <a:pt x="2704087" y="8703658"/>
                </a:lnTo>
                <a:lnTo>
                  <a:pt x="2747843" y="8703208"/>
                </a:lnTo>
                <a:lnTo>
                  <a:pt x="2791598" y="8702547"/>
                </a:lnTo>
                <a:lnTo>
                  <a:pt x="2835354" y="8701515"/>
                </a:lnTo>
                <a:lnTo>
                  <a:pt x="2880568" y="8698831"/>
                </a:lnTo>
                <a:lnTo>
                  <a:pt x="2925782" y="8693772"/>
                </a:lnTo>
                <a:lnTo>
                  <a:pt x="2970996" y="8686888"/>
                </a:lnTo>
                <a:lnTo>
                  <a:pt x="3016210" y="8678730"/>
                </a:lnTo>
                <a:lnTo>
                  <a:pt x="3059965" y="8667127"/>
                </a:lnTo>
                <a:lnTo>
                  <a:pt x="3103721" y="8652434"/>
                </a:lnTo>
                <a:lnTo>
                  <a:pt x="3147476" y="8639825"/>
                </a:lnTo>
                <a:lnTo>
                  <a:pt x="3191232" y="8634472"/>
                </a:lnTo>
                <a:lnTo>
                  <a:pt x="3236445" y="8638032"/>
                </a:lnTo>
                <a:lnTo>
                  <a:pt x="3281659" y="8645952"/>
                </a:lnTo>
                <a:lnTo>
                  <a:pt x="3326873" y="8654095"/>
                </a:lnTo>
                <a:lnTo>
                  <a:pt x="3372087" y="8658321"/>
                </a:lnTo>
                <a:lnTo>
                  <a:pt x="3417301" y="8659099"/>
                </a:lnTo>
                <a:lnTo>
                  <a:pt x="3462515" y="8659655"/>
                </a:lnTo>
                <a:lnTo>
                  <a:pt x="3507729" y="8659988"/>
                </a:lnTo>
                <a:lnTo>
                  <a:pt x="3552943" y="8660099"/>
                </a:lnTo>
                <a:lnTo>
                  <a:pt x="3596699" y="8646281"/>
                </a:lnTo>
                <a:lnTo>
                  <a:pt x="3640454" y="8615310"/>
                </a:lnTo>
                <a:lnTo>
                  <a:pt x="3684210" y="8582914"/>
                </a:lnTo>
                <a:lnTo>
                  <a:pt x="3727965" y="8564819"/>
                </a:lnTo>
                <a:lnTo>
                  <a:pt x="3773179" y="8560768"/>
                </a:lnTo>
                <a:lnTo>
                  <a:pt x="3818393" y="8558927"/>
                </a:lnTo>
                <a:lnTo>
                  <a:pt x="3863607" y="8557086"/>
                </a:lnTo>
                <a:lnTo>
                  <a:pt x="3908821" y="8553036"/>
                </a:lnTo>
                <a:lnTo>
                  <a:pt x="3952577" y="8543770"/>
                </a:lnTo>
                <a:lnTo>
                  <a:pt x="3996332" y="8530798"/>
                </a:lnTo>
                <a:lnTo>
                  <a:pt x="4040087" y="8519251"/>
                </a:lnTo>
                <a:lnTo>
                  <a:pt x="4083843" y="8514262"/>
                </a:lnTo>
                <a:lnTo>
                  <a:pt x="4129057" y="8522905"/>
                </a:lnTo>
                <a:lnTo>
                  <a:pt x="4174271" y="8542025"/>
                </a:lnTo>
                <a:lnTo>
                  <a:pt x="4219485" y="8561407"/>
                </a:lnTo>
                <a:lnTo>
                  <a:pt x="4264699" y="8570835"/>
                </a:lnTo>
                <a:lnTo>
                  <a:pt x="4309913" y="8571751"/>
                </a:lnTo>
                <a:lnTo>
                  <a:pt x="4355127" y="8572406"/>
                </a:lnTo>
                <a:lnTo>
                  <a:pt x="4400341" y="8572798"/>
                </a:lnTo>
                <a:lnTo>
                  <a:pt x="4445555" y="8572929"/>
                </a:lnTo>
                <a:lnTo>
                  <a:pt x="4486393" y="8566227"/>
                </a:lnTo>
                <a:lnTo>
                  <a:pt x="4527232" y="8550342"/>
                </a:lnTo>
                <a:lnTo>
                  <a:pt x="4568070" y="8531613"/>
                </a:lnTo>
                <a:lnTo>
                  <a:pt x="4608909" y="8516373"/>
                </a:lnTo>
                <a:lnTo>
                  <a:pt x="4654122" y="8503519"/>
                </a:lnTo>
                <a:lnTo>
                  <a:pt x="4699336" y="8491623"/>
                </a:lnTo>
                <a:lnTo>
                  <a:pt x="4744550" y="8482879"/>
                </a:lnTo>
                <a:lnTo>
                  <a:pt x="4789764" y="8479477"/>
                </a:lnTo>
                <a:lnTo>
                  <a:pt x="4833520" y="8479942"/>
                </a:lnTo>
                <a:lnTo>
                  <a:pt x="4877275" y="8480964"/>
                </a:lnTo>
                <a:lnTo>
                  <a:pt x="4921031" y="8481987"/>
                </a:lnTo>
                <a:lnTo>
                  <a:pt x="4964786" y="8482452"/>
                </a:lnTo>
                <a:lnTo>
                  <a:pt x="5000957" y="8472264"/>
                </a:lnTo>
                <a:lnTo>
                  <a:pt x="5037128" y="8447971"/>
                </a:lnTo>
                <a:lnTo>
                  <a:pt x="5073300" y="8418976"/>
                </a:lnTo>
                <a:lnTo>
                  <a:pt x="5109471" y="8394683"/>
                </a:lnTo>
                <a:lnTo>
                  <a:pt x="5145642" y="8384495"/>
                </a:lnTo>
                <a:lnTo>
                  <a:pt x="5189397" y="8388058"/>
                </a:lnTo>
                <a:lnTo>
                  <a:pt x="5233153" y="8395896"/>
                </a:lnTo>
                <a:lnTo>
                  <a:pt x="5276908" y="8403735"/>
                </a:lnTo>
                <a:lnTo>
                  <a:pt x="5320664" y="8407298"/>
                </a:lnTo>
                <a:lnTo>
                  <a:pt x="5365878" y="8393932"/>
                </a:lnTo>
                <a:lnTo>
                  <a:pt x="5411092" y="8364527"/>
                </a:lnTo>
                <a:lnTo>
                  <a:pt x="5456306" y="8335122"/>
                </a:lnTo>
                <a:lnTo>
                  <a:pt x="5501520" y="8321756"/>
                </a:lnTo>
                <a:lnTo>
                  <a:pt x="5546734" y="8335436"/>
                </a:lnTo>
                <a:lnTo>
                  <a:pt x="5591948" y="8365532"/>
                </a:lnTo>
                <a:lnTo>
                  <a:pt x="5637162" y="8395628"/>
                </a:lnTo>
                <a:lnTo>
                  <a:pt x="5682376" y="8409308"/>
                </a:lnTo>
                <a:lnTo>
                  <a:pt x="5717380" y="8396672"/>
                </a:lnTo>
                <a:lnTo>
                  <a:pt x="5752385" y="8366538"/>
                </a:lnTo>
                <a:lnTo>
                  <a:pt x="5787389" y="8330572"/>
                </a:lnTo>
                <a:lnTo>
                  <a:pt x="5822394" y="8300439"/>
                </a:lnTo>
                <a:lnTo>
                  <a:pt x="5857398" y="8287802"/>
                </a:lnTo>
                <a:lnTo>
                  <a:pt x="5893569" y="8299301"/>
                </a:lnTo>
                <a:lnTo>
                  <a:pt x="5929740" y="8326723"/>
                </a:lnTo>
                <a:lnTo>
                  <a:pt x="5965911" y="8359452"/>
                </a:lnTo>
                <a:lnTo>
                  <a:pt x="6002083" y="8386874"/>
                </a:lnTo>
                <a:lnTo>
                  <a:pt x="6038254" y="8398373"/>
                </a:lnTo>
                <a:lnTo>
                  <a:pt x="6082009" y="8384462"/>
                </a:lnTo>
                <a:lnTo>
                  <a:pt x="6125765" y="8353857"/>
                </a:lnTo>
                <a:lnTo>
                  <a:pt x="6169520" y="8323252"/>
                </a:lnTo>
                <a:lnTo>
                  <a:pt x="6213276" y="8309341"/>
                </a:lnTo>
                <a:lnTo>
                  <a:pt x="6258490" y="8311153"/>
                </a:lnTo>
                <a:lnTo>
                  <a:pt x="6303703" y="8315842"/>
                </a:lnTo>
                <a:lnTo>
                  <a:pt x="6348917" y="8322287"/>
                </a:lnTo>
                <a:lnTo>
                  <a:pt x="6394131" y="8329368"/>
                </a:lnTo>
                <a:lnTo>
                  <a:pt x="6439345" y="8338973"/>
                </a:lnTo>
                <a:lnTo>
                  <a:pt x="6484559" y="8350971"/>
                </a:lnTo>
                <a:lnTo>
                  <a:pt x="6529773" y="8361213"/>
                </a:lnTo>
                <a:lnTo>
                  <a:pt x="6574987" y="8365549"/>
                </a:lnTo>
                <a:lnTo>
                  <a:pt x="6607658" y="8353111"/>
                </a:lnTo>
                <a:lnTo>
                  <a:pt x="6640329" y="8322200"/>
                </a:lnTo>
                <a:lnTo>
                  <a:pt x="6673000" y="8282417"/>
                </a:lnTo>
                <a:lnTo>
                  <a:pt x="6705670" y="8243364"/>
                </a:lnTo>
                <a:lnTo>
                  <a:pt x="6738341" y="8214642"/>
                </a:lnTo>
                <a:lnTo>
                  <a:pt x="6783555" y="8189993"/>
                </a:lnTo>
                <a:lnTo>
                  <a:pt x="6828769" y="8172387"/>
                </a:lnTo>
                <a:lnTo>
                  <a:pt x="6873983" y="8161823"/>
                </a:lnTo>
                <a:lnTo>
                  <a:pt x="6919197" y="8158302"/>
                </a:lnTo>
                <a:lnTo>
                  <a:pt x="6962952" y="8159351"/>
                </a:lnTo>
                <a:lnTo>
                  <a:pt x="7006708" y="8161659"/>
                </a:lnTo>
                <a:lnTo>
                  <a:pt x="7050463" y="8163967"/>
                </a:lnTo>
                <a:lnTo>
                  <a:pt x="7094219" y="8165016"/>
                </a:lnTo>
                <a:lnTo>
                  <a:pt x="7139433" y="8164745"/>
                </a:lnTo>
                <a:lnTo>
                  <a:pt x="7184647" y="8163931"/>
                </a:lnTo>
                <a:lnTo>
                  <a:pt x="7229861" y="8162576"/>
                </a:lnTo>
                <a:lnTo>
                  <a:pt x="7275075" y="8160678"/>
                </a:lnTo>
                <a:lnTo>
                  <a:pt x="7318830" y="8157989"/>
                </a:lnTo>
                <a:lnTo>
                  <a:pt x="7362586" y="8153596"/>
                </a:lnTo>
                <a:lnTo>
                  <a:pt x="7406341" y="8146710"/>
                </a:lnTo>
                <a:lnTo>
                  <a:pt x="7450097" y="8136547"/>
                </a:lnTo>
                <a:lnTo>
                  <a:pt x="7495311" y="8116972"/>
                </a:lnTo>
                <a:lnTo>
                  <a:pt x="7540525" y="8090117"/>
                </a:lnTo>
                <a:lnTo>
                  <a:pt x="7585739" y="8066380"/>
                </a:lnTo>
                <a:lnTo>
                  <a:pt x="7630953" y="8056157"/>
                </a:lnTo>
                <a:lnTo>
                  <a:pt x="7676167" y="8056728"/>
                </a:lnTo>
                <a:lnTo>
                  <a:pt x="7721381" y="8057985"/>
                </a:lnTo>
                <a:lnTo>
                  <a:pt x="7766595" y="8059242"/>
                </a:lnTo>
                <a:lnTo>
                  <a:pt x="7811809" y="8059813"/>
                </a:lnTo>
                <a:lnTo>
                  <a:pt x="7855564" y="8059419"/>
                </a:lnTo>
                <a:lnTo>
                  <a:pt x="7899320" y="8058235"/>
                </a:lnTo>
                <a:lnTo>
                  <a:pt x="7943075" y="8056261"/>
                </a:lnTo>
                <a:lnTo>
                  <a:pt x="7986831" y="8053498"/>
                </a:lnTo>
                <a:lnTo>
                  <a:pt x="8032044" y="8048330"/>
                </a:lnTo>
                <a:lnTo>
                  <a:pt x="8077258" y="8040879"/>
                </a:lnTo>
                <a:lnTo>
                  <a:pt x="8122472" y="8033434"/>
                </a:lnTo>
                <a:lnTo>
                  <a:pt x="8167686" y="8028286"/>
                </a:lnTo>
                <a:lnTo>
                  <a:pt x="8211442" y="8025545"/>
                </a:lnTo>
                <a:lnTo>
                  <a:pt x="8255197" y="8023586"/>
                </a:lnTo>
                <a:lnTo>
                  <a:pt x="8298953" y="8022412"/>
                </a:lnTo>
                <a:lnTo>
                  <a:pt x="8342708" y="8022020"/>
                </a:lnTo>
                <a:lnTo>
                  <a:pt x="8387922" y="8025515"/>
                </a:lnTo>
                <a:lnTo>
                  <a:pt x="8433136" y="8033205"/>
                </a:lnTo>
                <a:lnTo>
                  <a:pt x="8478350" y="8040895"/>
                </a:lnTo>
                <a:lnTo>
                  <a:pt x="8523564" y="8044390"/>
                </a:lnTo>
                <a:lnTo>
                  <a:pt x="8583849" y="8005158"/>
                </a:lnTo>
                <a:lnTo>
                  <a:pt x="8613992" y="7967944"/>
                </a:lnTo>
                <a:lnTo>
                  <a:pt x="8644135" y="7929508"/>
                </a:lnTo>
                <a:lnTo>
                  <a:pt x="8674277" y="7897733"/>
                </a:lnTo>
                <a:lnTo>
                  <a:pt x="8704420" y="7880504"/>
                </a:lnTo>
                <a:lnTo>
                  <a:pt x="8745258" y="7873306"/>
                </a:lnTo>
                <a:lnTo>
                  <a:pt x="8786097" y="7869585"/>
                </a:lnTo>
                <a:lnTo>
                  <a:pt x="8826935" y="7866358"/>
                </a:lnTo>
                <a:lnTo>
                  <a:pt x="8867774" y="7860643"/>
                </a:lnTo>
                <a:lnTo>
                  <a:pt x="8912988" y="7850237"/>
                </a:lnTo>
                <a:lnTo>
                  <a:pt x="8958202" y="7837543"/>
                </a:lnTo>
                <a:lnTo>
                  <a:pt x="9003416" y="7823930"/>
                </a:lnTo>
                <a:lnTo>
                  <a:pt x="9048630" y="7810767"/>
                </a:lnTo>
                <a:lnTo>
                  <a:pt x="9092385" y="7798252"/>
                </a:lnTo>
                <a:lnTo>
                  <a:pt x="9136141" y="7785443"/>
                </a:lnTo>
                <a:lnTo>
                  <a:pt x="9179896" y="7773205"/>
                </a:lnTo>
                <a:lnTo>
                  <a:pt x="9223651" y="7762404"/>
                </a:lnTo>
                <a:lnTo>
                  <a:pt x="9268865" y="7753482"/>
                </a:lnTo>
                <a:lnTo>
                  <a:pt x="9314079" y="7746177"/>
                </a:lnTo>
                <a:lnTo>
                  <a:pt x="9359293" y="7739319"/>
                </a:lnTo>
                <a:lnTo>
                  <a:pt x="9404507" y="7731740"/>
                </a:lnTo>
                <a:lnTo>
                  <a:pt x="9448263" y="7723930"/>
                </a:lnTo>
                <a:lnTo>
                  <a:pt x="9492018" y="7716078"/>
                </a:lnTo>
                <a:lnTo>
                  <a:pt x="9535774" y="7707378"/>
                </a:lnTo>
                <a:lnTo>
                  <a:pt x="9579529" y="7697022"/>
                </a:lnTo>
                <a:lnTo>
                  <a:pt x="9624743" y="7682500"/>
                </a:lnTo>
                <a:lnTo>
                  <a:pt x="9669957" y="7665199"/>
                </a:lnTo>
                <a:lnTo>
                  <a:pt x="9715171" y="7649014"/>
                </a:lnTo>
                <a:lnTo>
                  <a:pt x="9760385" y="7637840"/>
                </a:lnTo>
                <a:lnTo>
                  <a:pt x="9805599" y="7632772"/>
                </a:lnTo>
                <a:lnTo>
                  <a:pt x="9850813" y="7630469"/>
                </a:lnTo>
                <a:lnTo>
                  <a:pt x="9896027" y="7628165"/>
                </a:lnTo>
                <a:lnTo>
                  <a:pt x="9941241" y="7623098"/>
                </a:lnTo>
                <a:lnTo>
                  <a:pt x="9984996" y="7611378"/>
                </a:lnTo>
                <a:lnTo>
                  <a:pt x="10028752" y="7593775"/>
                </a:lnTo>
                <a:lnTo>
                  <a:pt x="10072507" y="7575228"/>
                </a:lnTo>
                <a:lnTo>
                  <a:pt x="10116263" y="7560674"/>
                </a:lnTo>
                <a:lnTo>
                  <a:pt x="10161477" y="7552459"/>
                </a:lnTo>
                <a:lnTo>
                  <a:pt x="10206691" y="7547954"/>
                </a:lnTo>
                <a:lnTo>
                  <a:pt x="10251905" y="7543548"/>
                </a:lnTo>
                <a:lnTo>
                  <a:pt x="10297119" y="7535629"/>
                </a:lnTo>
                <a:lnTo>
                  <a:pt x="10340874" y="7524648"/>
                </a:lnTo>
                <a:lnTo>
                  <a:pt x="10384630" y="7511926"/>
                </a:lnTo>
                <a:lnTo>
                  <a:pt x="10428385" y="7496200"/>
                </a:lnTo>
                <a:lnTo>
                  <a:pt x="10472141" y="7476213"/>
                </a:lnTo>
                <a:lnTo>
                  <a:pt x="10508312" y="7451187"/>
                </a:lnTo>
                <a:lnTo>
                  <a:pt x="10544483" y="7418455"/>
                </a:lnTo>
                <a:lnTo>
                  <a:pt x="10580655" y="7385637"/>
                </a:lnTo>
                <a:lnTo>
                  <a:pt x="10616826" y="7360357"/>
                </a:lnTo>
                <a:lnTo>
                  <a:pt x="10652997" y="7350236"/>
                </a:lnTo>
                <a:lnTo>
                  <a:pt x="10689168" y="7362969"/>
                </a:lnTo>
                <a:lnTo>
                  <a:pt x="10725339" y="7393334"/>
                </a:lnTo>
                <a:lnTo>
                  <a:pt x="10761510" y="7429575"/>
                </a:lnTo>
                <a:lnTo>
                  <a:pt x="10797682" y="7459940"/>
                </a:lnTo>
                <a:lnTo>
                  <a:pt x="10833853" y="7472673"/>
                </a:lnTo>
                <a:lnTo>
                  <a:pt x="10876150" y="7463184"/>
                </a:lnTo>
                <a:lnTo>
                  <a:pt x="10918447" y="7439210"/>
                </a:lnTo>
                <a:lnTo>
                  <a:pt x="10960744" y="7407491"/>
                </a:lnTo>
                <a:lnTo>
                  <a:pt x="11003041" y="7374766"/>
                </a:lnTo>
                <a:lnTo>
                  <a:pt x="11039212" y="7340943"/>
                </a:lnTo>
                <a:lnTo>
                  <a:pt x="11075383" y="7298600"/>
                </a:lnTo>
                <a:lnTo>
                  <a:pt x="11111554" y="7256950"/>
                </a:lnTo>
                <a:lnTo>
                  <a:pt x="11147725" y="7225204"/>
                </a:lnTo>
                <a:lnTo>
                  <a:pt x="11183896" y="7212575"/>
                </a:lnTo>
                <a:lnTo>
                  <a:pt x="11227652" y="7220199"/>
                </a:lnTo>
                <a:lnTo>
                  <a:pt x="11271407" y="7238641"/>
                </a:lnTo>
                <a:lnTo>
                  <a:pt x="11315163" y="7261260"/>
                </a:lnTo>
                <a:lnTo>
                  <a:pt x="11358918" y="7281414"/>
                </a:lnTo>
                <a:lnTo>
                  <a:pt x="11404132" y="7301580"/>
                </a:lnTo>
                <a:lnTo>
                  <a:pt x="11449346" y="7323502"/>
                </a:lnTo>
                <a:lnTo>
                  <a:pt x="11494560" y="7341107"/>
                </a:lnTo>
                <a:lnTo>
                  <a:pt x="11539774" y="7348325"/>
                </a:lnTo>
                <a:lnTo>
                  <a:pt x="11578668" y="7303459"/>
                </a:lnTo>
                <a:lnTo>
                  <a:pt x="11598115" y="7256155"/>
                </a:lnTo>
                <a:lnTo>
                  <a:pt x="11617562" y="7200073"/>
                </a:lnTo>
                <a:lnTo>
                  <a:pt x="11637009" y="7141065"/>
                </a:lnTo>
                <a:lnTo>
                  <a:pt x="11656456" y="7084983"/>
                </a:lnTo>
                <a:lnTo>
                  <a:pt x="11675903" y="7037679"/>
                </a:lnTo>
                <a:lnTo>
                  <a:pt x="11695349" y="7005005"/>
                </a:lnTo>
                <a:lnTo>
                  <a:pt x="11714796" y="6992813"/>
                </a:lnTo>
                <a:lnTo>
                  <a:pt x="11744939" y="7007616"/>
                </a:lnTo>
                <a:lnTo>
                  <a:pt x="11775081" y="7044622"/>
                </a:lnTo>
                <a:lnTo>
                  <a:pt x="11805224" y="7092731"/>
                </a:lnTo>
                <a:lnTo>
                  <a:pt x="11835367" y="7140839"/>
                </a:lnTo>
                <a:lnTo>
                  <a:pt x="11865509" y="7177846"/>
                </a:lnTo>
                <a:lnTo>
                  <a:pt x="11895652" y="7192648"/>
                </a:lnTo>
                <a:lnTo>
                  <a:pt x="11940866" y="7183572"/>
                </a:lnTo>
                <a:lnTo>
                  <a:pt x="11986080" y="7161595"/>
                </a:lnTo>
                <a:lnTo>
                  <a:pt x="12031294" y="7134599"/>
                </a:lnTo>
                <a:lnTo>
                  <a:pt x="12076508" y="7110464"/>
                </a:lnTo>
                <a:lnTo>
                  <a:pt x="12120263" y="7088195"/>
                </a:lnTo>
                <a:lnTo>
                  <a:pt x="12164019" y="7064180"/>
                </a:lnTo>
                <a:lnTo>
                  <a:pt x="12207774" y="7044314"/>
                </a:lnTo>
                <a:lnTo>
                  <a:pt x="12251530" y="7034495"/>
                </a:lnTo>
                <a:lnTo>
                  <a:pt x="12296744" y="7032484"/>
                </a:lnTo>
                <a:lnTo>
                  <a:pt x="12341958" y="7031570"/>
                </a:lnTo>
                <a:lnTo>
                  <a:pt x="12387172" y="7030656"/>
                </a:lnTo>
                <a:lnTo>
                  <a:pt x="12432386" y="7028645"/>
                </a:lnTo>
                <a:lnTo>
                  <a:pt x="12457389" y="7015197"/>
                </a:lnTo>
                <a:lnTo>
                  <a:pt x="12482392" y="6983117"/>
                </a:lnTo>
                <a:lnTo>
                  <a:pt x="12507396" y="6939950"/>
                </a:lnTo>
                <a:lnTo>
                  <a:pt x="12532399" y="6893243"/>
                </a:lnTo>
                <a:lnTo>
                  <a:pt x="12557402" y="6850538"/>
                </a:lnTo>
                <a:lnTo>
                  <a:pt x="12582405" y="6819383"/>
                </a:lnTo>
                <a:lnTo>
                  <a:pt x="12607408" y="6807321"/>
                </a:lnTo>
                <a:lnTo>
                  <a:pt x="12652622" y="6809399"/>
                </a:lnTo>
                <a:lnTo>
                  <a:pt x="12697836" y="6815345"/>
                </a:lnTo>
                <a:lnTo>
                  <a:pt x="12743050" y="6824729"/>
                </a:lnTo>
                <a:lnTo>
                  <a:pt x="12788263" y="6837120"/>
                </a:lnTo>
                <a:lnTo>
                  <a:pt x="12833477" y="6857387"/>
                </a:lnTo>
                <a:lnTo>
                  <a:pt x="12878691" y="6884099"/>
                </a:lnTo>
                <a:lnTo>
                  <a:pt x="12923905" y="6907372"/>
                </a:lnTo>
                <a:lnTo>
                  <a:pt x="12969120" y="6917326"/>
                </a:lnTo>
                <a:lnTo>
                  <a:pt x="13034461" y="6872151"/>
                </a:lnTo>
                <a:lnTo>
                  <a:pt x="13067132" y="6827824"/>
                </a:lnTo>
                <a:lnTo>
                  <a:pt x="13099803" y="6779800"/>
                </a:lnTo>
                <a:lnTo>
                  <a:pt x="13132474" y="6736172"/>
                </a:lnTo>
                <a:lnTo>
                  <a:pt x="13162616" y="6694341"/>
                </a:lnTo>
                <a:lnTo>
                  <a:pt x="13192759" y="6644853"/>
                </a:lnTo>
                <a:lnTo>
                  <a:pt x="13222901" y="6594514"/>
                </a:lnTo>
                <a:lnTo>
                  <a:pt x="13253044" y="6550130"/>
                </a:lnTo>
                <a:lnTo>
                  <a:pt x="13283186" y="6518508"/>
                </a:lnTo>
                <a:lnTo>
                  <a:pt x="13313329" y="6506455"/>
                </a:lnTo>
                <a:lnTo>
                  <a:pt x="13357084" y="6512467"/>
                </a:lnTo>
                <a:lnTo>
                  <a:pt x="13400840" y="6525692"/>
                </a:lnTo>
                <a:lnTo>
                  <a:pt x="13444595" y="6538918"/>
                </a:lnTo>
                <a:lnTo>
                  <a:pt x="13488351" y="6544929"/>
                </a:lnTo>
                <a:lnTo>
                  <a:pt x="13540024" y="6495889"/>
                </a:lnTo>
                <a:lnTo>
                  <a:pt x="13565861" y="6446933"/>
                </a:lnTo>
                <a:lnTo>
                  <a:pt x="13591697" y="6392659"/>
                </a:lnTo>
                <a:lnTo>
                  <a:pt x="13617534" y="6341297"/>
                </a:lnTo>
                <a:lnTo>
                  <a:pt x="13643370" y="6301076"/>
                </a:lnTo>
                <a:lnTo>
                  <a:pt x="13712963" y="6267750"/>
                </a:lnTo>
                <a:lnTo>
                  <a:pt x="13756718" y="6258838"/>
                </a:lnTo>
                <a:lnTo>
                  <a:pt x="13800473" y="6253491"/>
                </a:lnTo>
                <a:lnTo>
                  <a:pt x="13844229" y="6251708"/>
                </a:lnTo>
                <a:lnTo>
                  <a:pt x="13889443" y="6265077"/>
                </a:lnTo>
                <a:lnTo>
                  <a:pt x="13934657" y="6294487"/>
                </a:lnTo>
                <a:lnTo>
                  <a:pt x="13979870" y="6323898"/>
                </a:lnTo>
                <a:lnTo>
                  <a:pt x="14025084" y="6337266"/>
                </a:lnTo>
                <a:lnTo>
                  <a:pt x="14085370" y="6298317"/>
                </a:lnTo>
                <a:lnTo>
                  <a:pt x="14115512" y="6257966"/>
                </a:lnTo>
                <a:lnTo>
                  <a:pt x="14145655" y="6211107"/>
                </a:lnTo>
                <a:lnTo>
                  <a:pt x="14175798" y="6163299"/>
                </a:lnTo>
                <a:lnTo>
                  <a:pt x="14205941" y="6120097"/>
                </a:lnTo>
                <a:lnTo>
                  <a:pt x="14235111" y="6076103"/>
                </a:lnTo>
                <a:lnTo>
                  <a:pt x="14264281" y="6024302"/>
                </a:lnTo>
                <a:lnTo>
                  <a:pt x="14293451" y="5971611"/>
                </a:lnTo>
                <a:lnTo>
                  <a:pt x="14322622" y="5924947"/>
                </a:lnTo>
                <a:lnTo>
                  <a:pt x="14351792" y="5891227"/>
                </a:lnTo>
                <a:lnTo>
                  <a:pt x="14380962" y="5877367"/>
                </a:lnTo>
                <a:lnTo>
                  <a:pt x="14426177" y="5875636"/>
                </a:lnTo>
                <a:lnTo>
                  <a:pt x="14471391" y="5874849"/>
                </a:lnTo>
                <a:lnTo>
                  <a:pt x="14516605" y="5874062"/>
                </a:lnTo>
                <a:lnTo>
                  <a:pt x="14561819" y="5872331"/>
                </a:lnTo>
                <a:lnTo>
                  <a:pt x="14605574" y="5826622"/>
                </a:lnTo>
                <a:lnTo>
                  <a:pt x="14627452" y="5779649"/>
                </a:lnTo>
                <a:lnTo>
                  <a:pt x="14649330" y="5724005"/>
                </a:lnTo>
                <a:lnTo>
                  <a:pt x="14671207" y="5665248"/>
                </a:lnTo>
                <a:lnTo>
                  <a:pt x="14693085" y="5608933"/>
                </a:lnTo>
                <a:lnTo>
                  <a:pt x="14714963" y="5560618"/>
                </a:lnTo>
                <a:lnTo>
                  <a:pt x="14736841" y="5525860"/>
                </a:lnTo>
                <a:lnTo>
                  <a:pt x="14782054" y="5478613"/>
                </a:lnTo>
                <a:lnTo>
                  <a:pt x="14827268" y="5444864"/>
                </a:lnTo>
                <a:lnTo>
                  <a:pt x="14872482" y="5424615"/>
                </a:lnTo>
                <a:lnTo>
                  <a:pt x="14917696" y="5417866"/>
                </a:lnTo>
                <a:lnTo>
                  <a:pt x="14953867" y="5429367"/>
                </a:lnTo>
                <a:lnTo>
                  <a:pt x="14990039" y="5456792"/>
                </a:lnTo>
                <a:lnTo>
                  <a:pt x="15026210" y="5489526"/>
                </a:lnTo>
                <a:lnTo>
                  <a:pt x="15062381" y="5516952"/>
                </a:lnTo>
                <a:lnTo>
                  <a:pt x="15098552" y="5528453"/>
                </a:lnTo>
                <a:lnTo>
                  <a:pt x="15109443" y="5520219"/>
                </a:lnTo>
                <a:lnTo>
                  <a:pt x="15120333" y="5497048"/>
                </a:lnTo>
                <a:lnTo>
                  <a:pt x="15142113" y="5415089"/>
                </a:lnTo>
                <a:lnTo>
                  <a:pt x="15153004" y="5360897"/>
                </a:lnTo>
                <a:lnTo>
                  <a:pt x="15163894" y="5300959"/>
                </a:lnTo>
                <a:lnTo>
                  <a:pt x="15174784" y="5237575"/>
                </a:lnTo>
                <a:lnTo>
                  <a:pt x="15185674" y="5173042"/>
                </a:lnTo>
                <a:lnTo>
                  <a:pt x="15196565" y="5109657"/>
                </a:lnTo>
                <a:lnTo>
                  <a:pt x="15207455" y="5049720"/>
                </a:lnTo>
                <a:lnTo>
                  <a:pt x="15218345" y="4995527"/>
                </a:lnTo>
                <a:lnTo>
                  <a:pt x="15229235" y="4949378"/>
                </a:lnTo>
                <a:lnTo>
                  <a:pt x="15251016" y="4890398"/>
                </a:lnTo>
                <a:lnTo>
                  <a:pt x="15261906" y="4882163"/>
                </a:lnTo>
                <a:lnTo>
                  <a:pt x="15287743" y="4894935"/>
                </a:lnTo>
                <a:lnTo>
                  <a:pt x="15313579" y="4927873"/>
                </a:lnTo>
                <a:lnTo>
                  <a:pt x="15339416" y="4972911"/>
                </a:lnTo>
                <a:lnTo>
                  <a:pt x="15365252" y="5021981"/>
                </a:lnTo>
                <a:lnTo>
                  <a:pt x="15391089" y="5067019"/>
                </a:lnTo>
                <a:lnTo>
                  <a:pt x="15416925" y="5099957"/>
                </a:lnTo>
                <a:lnTo>
                  <a:pt x="15442762" y="5112728"/>
                </a:lnTo>
                <a:lnTo>
                  <a:pt x="15453700" y="5105215"/>
                </a:lnTo>
                <a:lnTo>
                  <a:pt x="15475578" y="5050927"/>
                </a:lnTo>
                <a:lnTo>
                  <a:pt x="15486517" y="5008031"/>
                </a:lnTo>
                <a:lnTo>
                  <a:pt x="15497456" y="4957218"/>
                </a:lnTo>
                <a:lnTo>
                  <a:pt x="15508395" y="4900428"/>
                </a:lnTo>
                <a:lnTo>
                  <a:pt x="15519334" y="4839601"/>
                </a:lnTo>
                <a:lnTo>
                  <a:pt x="15530272" y="4776674"/>
                </a:lnTo>
                <a:lnTo>
                  <a:pt x="15541211" y="4713589"/>
                </a:lnTo>
                <a:lnTo>
                  <a:pt x="15552150" y="4652282"/>
                </a:lnTo>
                <a:lnTo>
                  <a:pt x="15563089" y="4594695"/>
                </a:lnTo>
                <a:lnTo>
                  <a:pt x="15574028" y="4542765"/>
                </a:lnTo>
                <a:lnTo>
                  <a:pt x="15584967" y="4498432"/>
                </a:lnTo>
                <a:lnTo>
                  <a:pt x="15606845" y="4440314"/>
                </a:lnTo>
                <a:lnTo>
                  <a:pt x="15662998" y="4423152"/>
                </a:lnTo>
                <a:lnTo>
                  <a:pt x="15708212" y="4419854"/>
                </a:lnTo>
                <a:lnTo>
                  <a:pt x="15753426" y="4416556"/>
                </a:lnTo>
                <a:lnTo>
                  <a:pt x="15798640" y="4409301"/>
                </a:lnTo>
                <a:lnTo>
                  <a:pt x="15827810" y="4358299"/>
                </a:lnTo>
                <a:lnTo>
                  <a:pt x="15847257" y="4282998"/>
                </a:lnTo>
                <a:lnTo>
                  <a:pt x="15856980" y="4235767"/>
                </a:lnTo>
                <a:lnTo>
                  <a:pt x="15866704" y="4183396"/>
                </a:lnTo>
                <a:lnTo>
                  <a:pt x="15876427" y="4126823"/>
                </a:lnTo>
                <a:lnTo>
                  <a:pt x="15886151" y="4066984"/>
                </a:lnTo>
                <a:lnTo>
                  <a:pt x="15895874" y="4004816"/>
                </a:lnTo>
                <a:lnTo>
                  <a:pt x="15905597" y="3941253"/>
                </a:lnTo>
                <a:lnTo>
                  <a:pt x="15915321" y="3877234"/>
                </a:lnTo>
                <a:lnTo>
                  <a:pt x="15925044" y="3813694"/>
                </a:lnTo>
                <a:lnTo>
                  <a:pt x="15934768" y="3751569"/>
                </a:lnTo>
                <a:lnTo>
                  <a:pt x="15944491" y="3691796"/>
                </a:lnTo>
                <a:lnTo>
                  <a:pt x="15954214" y="3635312"/>
                </a:lnTo>
                <a:lnTo>
                  <a:pt x="15963938" y="3583052"/>
                </a:lnTo>
                <a:lnTo>
                  <a:pt x="15973661" y="3535953"/>
                </a:lnTo>
                <a:lnTo>
                  <a:pt x="15984300" y="3490550"/>
                </a:lnTo>
                <a:lnTo>
                  <a:pt x="15994938" y="3450408"/>
                </a:lnTo>
                <a:lnTo>
                  <a:pt x="16016215" y="3381885"/>
                </a:lnTo>
                <a:lnTo>
                  <a:pt x="16037492" y="3322352"/>
                </a:lnTo>
                <a:lnTo>
                  <a:pt x="16048131" y="3293445"/>
                </a:lnTo>
                <a:lnTo>
                  <a:pt x="16058770" y="3263774"/>
                </a:lnTo>
                <a:lnTo>
                  <a:pt x="16080047" y="3198119"/>
                </a:lnTo>
                <a:lnTo>
                  <a:pt x="16090685" y="3160126"/>
                </a:lnTo>
                <a:lnTo>
                  <a:pt x="16101324" y="3117353"/>
                </a:lnTo>
                <a:lnTo>
                  <a:pt x="16111963" y="3068793"/>
                </a:lnTo>
                <a:lnTo>
                  <a:pt x="16122601" y="3013443"/>
                </a:lnTo>
                <a:lnTo>
                  <a:pt x="16133240" y="2950298"/>
                </a:lnTo>
                <a:lnTo>
                  <a:pt x="16143879" y="2878355"/>
                </a:lnTo>
                <a:lnTo>
                  <a:pt x="16154517" y="2796610"/>
                </a:lnTo>
                <a:lnTo>
                  <a:pt x="16161094" y="2740257"/>
                </a:lnTo>
                <a:lnTo>
                  <a:pt x="16167670" y="2678866"/>
                </a:lnTo>
                <a:lnTo>
                  <a:pt x="16174247" y="2612628"/>
                </a:lnTo>
                <a:lnTo>
                  <a:pt x="16180824" y="2541731"/>
                </a:lnTo>
                <a:lnTo>
                  <a:pt x="16187400" y="2466367"/>
                </a:lnTo>
                <a:lnTo>
                  <a:pt x="16190689" y="2427069"/>
                </a:lnTo>
                <a:lnTo>
                  <a:pt x="16193977" y="2386725"/>
                </a:lnTo>
                <a:lnTo>
                  <a:pt x="16197265" y="2345360"/>
                </a:lnTo>
                <a:lnTo>
                  <a:pt x="16200553" y="2302996"/>
                </a:lnTo>
                <a:lnTo>
                  <a:pt x="16203842" y="2259658"/>
                </a:lnTo>
                <a:lnTo>
                  <a:pt x="16207130" y="2215369"/>
                </a:lnTo>
                <a:lnTo>
                  <a:pt x="16210418" y="2170154"/>
                </a:lnTo>
                <a:lnTo>
                  <a:pt x="16213707" y="2124036"/>
                </a:lnTo>
                <a:lnTo>
                  <a:pt x="16216995" y="2077038"/>
                </a:lnTo>
                <a:lnTo>
                  <a:pt x="16220283" y="2029185"/>
                </a:lnTo>
                <a:lnTo>
                  <a:pt x="16223571" y="1980500"/>
                </a:lnTo>
                <a:lnTo>
                  <a:pt x="16226860" y="1931007"/>
                </a:lnTo>
                <a:lnTo>
                  <a:pt x="16230148" y="1880730"/>
                </a:lnTo>
                <a:lnTo>
                  <a:pt x="16233436" y="1829692"/>
                </a:lnTo>
                <a:lnTo>
                  <a:pt x="16236725" y="1777918"/>
                </a:lnTo>
                <a:lnTo>
                  <a:pt x="16240013" y="1725431"/>
                </a:lnTo>
                <a:lnTo>
                  <a:pt x="16243301" y="1672255"/>
                </a:lnTo>
                <a:lnTo>
                  <a:pt x="16246589" y="1618413"/>
                </a:lnTo>
                <a:lnTo>
                  <a:pt x="16249878" y="1563929"/>
                </a:lnTo>
                <a:lnTo>
                  <a:pt x="16253166" y="1508828"/>
                </a:lnTo>
                <a:lnTo>
                  <a:pt x="16256454" y="1453133"/>
                </a:lnTo>
                <a:lnTo>
                  <a:pt x="16259743" y="1396867"/>
                </a:lnTo>
                <a:lnTo>
                  <a:pt x="16263031" y="1340055"/>
                </a:lnTo>
                <a:lnTo>
                  <a:pt x="16266319" y="1282720"/>
                </a:lnTo>
                <a:lnTo>
                  <a:pt x="16269607" y="1224886"/>
                </a:lnTo>
                <a:lnTo>
                  <a:pt x="16272896" y="1166576"/>
                </a:lnTo>
                <a:lnTo>
                  <a:pt x="16276184" y="1107815"/>
                </a:lnTo>
                <a:lnTo>
                  <a:pt x="16279472" y="1048627"/>
                </a:lnTo>
                <a:lnTo>
                  <a:pt x="16282760" y="989034"/>
                </a:lnTo>
                <a:lnTo>
                  <a:pt x="16286049" y="929061"/>
                </a:lnTo>
                <a:lnTo>
                  <a:pt x="16289337" y="868732"/>
                </a:lnTo>
                <a:lnTo>
                  <a:pt x="16292625" y="808069"/>
                </a:lnTo>
                <a:lnTo>
                  <a:pt x="16295914" y="747098"/>
                </a:lnTo>
                <a:lnTo>
                  <a:pt x="16299202" y="685842"/>
                </a:lnTo>
                <a:lnTo>
                  <a:pt x="16302490" y="624325"/>
                </a:lnTo>
                <a:lnTo>
                  <a:pt x="16305779" y="562569"/>
                </a:lnTo>
                <a:lnTo>
                  <a:pt x="16309067" y="500600"/>
                </a:lnTo>
                <a:lnTo>
                  <a:pt x="16312355" y="438441"/>
                </a:lnTo>
                <a:lnTo>
                  <a:pt x="16315643" y="376116"/>
                </a:lnTo>
                <a:lnTo>
                  <a:pt x="16318932" y="313647"/>
                </a:lnTo>
                <a:lnTo>
                  <a:pt x="16322220" y="251060"/>
                </a:lnTo>
                <a:lnTo>
                  <a:pt x="16325508" y="188378"/>
                </a:lnTo>
                <a:lnTo>
                  <a:pt x="16328797" y="125625"/>
                </a:lnTo>
                <a:lnTo>
                  <a:pt x="16332085" y="62824"/>
                </a:lnTo>
                <a:lnTo>
                  <a:pt x="16335373" y="0"/>
                </a:lnTo>
              </a:path>
            </a:pathLst>
          </a:custGeom>
          <a:ln w="28574">
            <a:solidFill>
              <a:srgbClr val="118CFF"/>
            </a:solidFill>
          </a:ln>
        </p:spPr>
        <p:txBody>
          <a:bodyPr wrap="square" lIns="0" tIns="0" rIns="0" bIns="0" rtlCol="0"/>
          <a:lstStyle/>
          <a:p>
            <a:endParaRPr/>
          </a:p>
        </p:txBody>
      </p:sp>
      <p:sp>
        <p:nvSpPr>
          <p:cNvPr id="29" name="object 29"/>
          <p:cNvSpPr txBox="1"/>
          <p:nvPr/>
        </p:nvSpPr>
        <p:spPr>
          <a:xfrm>
            <a:off x="673099" y="393217"/>
            <a:ext cx="3798570" cy="482600"/>
          </a:xfrm>
          <a:prstGeom prst="rect">
            <a:avLst/>
          </a:prstGeom>
        </p:spPr>
        <p:txBody>
          <a:bodyPr vert="horz" wrap="square" lIns="0" tIns="12065" rIns="0" bIns="0" rtlCol="0">
            <a:spAutoFit/>
          </a:bodyPr>
          <a:lstStyle/>
          <a:p>
            <a:pPr marL="12700" marR="5080">
              <a:lnSpc>
                <a:spcPct val="111100"/>
              </a:lnSpc>
              <a:spcBef>
                <a:spcPts val="95"/>
              </a:spcBef>
            </a:pPr>
            <a:r>
              <a:rPr sz="1350" spc="-170">
                <a:solidFill>
                  <a:srgbClr val="242424"/>
                </a:solidFill>
                <a:latin typeface="SimSun"/>
                <a:cs typeface="SimSun"/>
              </a:rPr>
              <a:t>本</a:t>
            </a:r>
            <a:r>
              <a:rPr sz="1350" spc="-170">
                <a:solidFill>
                  <a:srgbClr val="242424"/>
                </a:solidFill>
                <a:latin typeface="Ryo Gothic Std R"/>
                <a:cs typeface="Ryo Gothic Std R"/>
              </a:rPr>
              <a:t>レポートの</a:t>
            </a:r>
            <a:r>
              <a:rPr sz="1350" spc="-170">
                <a:solidFill>
                  <a:srgbClr val="242424"/>
                </a:solidFill>
                <a:latin typeface="SimSun"/>
                <a:cs typeface="SimSun"/>
              </a:rPr>
              <a:t>分析</a:t>
            </a:r>
            <a:r>
              <a:rPr sz="1350" spc="-170">
                <a:solidFill>
                  <a:srgbClr val="242424"/>
                </a:solidFill>
                <a:latin typeface="Ryo Gothic Std R"/>
                <a:cs typeface="Ryo Gothic Std R"/>
              </a:rPr>
              <a:t>に</a:t>
            </a:r>
            <a:r>
              <a:rPr sz="1350" spc="-170">
                <a:solidFill>
                  <a:srgbClr val="242424"/>
                </a:solidFill>
                <a:latin typeface="SimSun"/>
                <a:cs typeface="SimSun"/>
              </a:rPr>
              <a:t>使</a:t>
            </a:r>
            <a:r>
              <a:rPr sz="1350" b="0" spc="-170">
                <a:solidFill>
                  <a:srgbClr val="242424"/>
                </a:solidFill>
                <a:latin typeface="Adobe Gothic Std L"/>
                <a:cs typeface="Adobe Gothic Std L"/>
              </a:rPr>
              <a:t>⽤</a:t>
            </a:r>
            <a:r>
              <a:rPr sz="1350" spc="-170">
                <a:solidFill>
                  <a:srgbClr val="242424"/>
                </a:solidFill>
                <a:latin typeface="Ryo Gothic Std R"/>
                <a:cs typeface="Ryo Gothic Std R"/>
              </a:rPr>
              <a:t>した</a:t>
            </a:r>
            <a:r>
              <a:rPr sz="1200">
                <a:solidFill>
                  <a:srgbClr val="242424"/>
                </a:solidFill>
                <a:latin typeface="Segoe UI"/>
                <a:cs typeface="Segoe UI"/>
              </a:rPr>
              <a:t>SQL</a:t>
            </a:r>
            <a:r>
              <a:rPr sz="1350" spc="-170">
                <a:solidFill>
                  <a:srgbClr val="242424"/>
                </a:solidFill>
                <a:latin typeface="Ryo Gothic Std R"/>
                <a:cs typeface="Ryo Gothic Std R"/>
              </a:rPr>
              <a:t>クエリの</a:t>
            </a:r>
            <a:r>
              <a:rPr sz="1350" spc="-170">
                <a:solidFill>
                  <a:srgbClr val="242424"/>
                </a:solidFill>
                <a:latin typeface="SimSun"/>
                <a:cs typeface="SimSun"/>
              </a:rPr>
              <a:t>全</a:t>
            </a:r>
            <a:r>
              <a:rPr sz="1350" spc="-150">
                <a:solidFill>
                  <a:srgbClr val="242424"/>
                </a:solidFill>
                <a:latin typeface="Ryo Gothic Std R"/>
                <a:cs typeface="Ryo Gothic Std R"/>
              </a:rPr>
              <a:t>コードは、</a:t>
            </a:r>
            <a:r>
              <a:rPr sz="1350" spc="-170">
                <a:solidFill>
                  <a:srgbClr val="242424"/>
                </a:solidFill>
                <a:latin typeface="SimSun"/>
                <a:cs typeface="SimSun"/>
              </a:rPr>
              <a:t>以下</a:t>
            </a:r>
            <a:r>
              <a:rPr sz="1350" spc="-170">
                <a:solidFill>
                  <a:srgbClr val="242424"/>
                </a:solidFill>
                <a:latin typeface="Ryo Gothic Std R"/>
                <a:cs typeface="Ryo Gothic Std R"/>
              </a:rPr>
              <a:t>の</a:t>
            </a:r>
            <a:r>
              <a:rPr sz="1200">
                <a:solidFill>
                  <a:srgbClr val="242424"/>
                </a:solidFill>
                <a:latin typeface="Segoe UI"/>
                <a:cs typeface="Segoe UI"/>
              </a:rPr>
              <a:t>GitHub</a:t>
            </a:r>
            <a:r>
              <a:rPr sz="1350" spc="-170">
                <a:solidFill>
                  <a:srgbClr val="242424"/>
                </a:solidFill>
                <a:latin typeface="Ryo Gothic Std R"/>
                <a:cs typeface="Ryo Gothic Std R"/>
              </a:rPr>
              <a:t>リポジトリで</a:t>
            </a:r>
            <a:r>
              <a:rPr sz="1350" spc="-170">
                <a:solidFill>
                  <a:srgbClr val="242424"/>
                </a:solidFill>
                <a:latin typeface="SimSun"/>
                <a:cs typeface="SimSun"/>
              </a:rPr>
              <a:t>公開</a:t>
            </a:r>
            <a:r>
              <a:rPr sz="1350" spc="-180">
                <a:solidFill>
                  <a:srgbClr val="242424"/>
                </a:solidFill>
                <a:latin typeface="Ryo Gothic Std R"/>
                <a:cs typeface="Ryo Gothic Std R"/>
              </a:rPr>
              <a:t>しています。</a:t>
            </a:r>
            <a:endParaRPr sz="1350">
              <a:latin typeface="Ryo Gothic Std R"/>
              <a:cs typeface="Ryo Gothic Std R"/>
            </a:endParaRPr>
          </a:p>
        </p:txBody>
      </p:sp>
      <p:sp>
        <p:nvSpPr>
          <p:cNvPr id="30" name="object 30"/>
          <p:cNvSpPr txBox="1"/>
          <p:nvPr/>
        </p:nvSpPr>
        <p:spPr>
          <a:xfrm>
            <a:off x="486618" y="1054100"/>
            <a:ext cx="3811270" cy="760730"/>
          </a:xfrm>
          <a:prstGeom prst="rect">
            <a:avLst/>
          </a:prstGeom>
        </p:spPr>
        <p:txBody>
          <a:bodyPr vert="horz" wrap="square" lIns="0" tIns="12700" rIns="0" bIns="0" rtlCol="0">
            <a:spAutoFit/>
          </a:bodyPr>
          <a:lstStyle/>
          <a:p>
            <a:pPr marL="198755">
              <a:lnSpc>
                <a:spcPct val="100000"/>
              </a:lnSpc>
              <a:spcBef>
                <a:spcPts val="100"/>
              </a:spcBef>
            </a:pPr>
            <a:r>
              <a:rPr sz="1200" b="1" spc="-10">
                <a:solidFill>
                  <a:srgbClr val="242424"/>
                </a:solidFill>
                <a:latin typeface="Segoe UI"/>
                <a:cs typeface="Segoe UI"/>
                <a:hlinkClick r:id="rId2"/>
              </a:rPr>
              <a:t>URL:https://github.com/SAITO1912/ECanalysis.git</a:t>
            </a:r>
            <a:endParaRPr sz="1200">
              <a:latin typeface="Segoe UI"/>
              <a:cs typeface="Segoe UI"/>
            </a:endParaRPr>
          </a:p>
          <a:p>
            <a:pPr>
              <a:lnSpc>
                <a:spcPct val="100000"/>
              </a:lnSpc>
              <a:spcBef>
                <a:spcPts val="950"/>
              </a:spcBef>
            </a:pPr>
            <a:endParaRPr sz="1200">
              <a:latin typeface="Segoe UI"/>
              <a:cs typeface="Segoe UI"/>
            </a:endParaRPr>
          </a:p>
          <a:p>
            <a:pPr marL="12700">
              <a:lnSpc>
                <a:spcPct val="100000"/>
              </a:lnSpc>
            </a:pPr>
            <a:r>
              <a:rPr sz="1500" b="1" spc="-20">
                <a:solidFill>
                  <a:srgbClr val="616161"/>
                </a:solidFill>
                <a:latin typeface="Segoe UI"/>
                <a:cs typeface="Segoe UI"/>
              </a:rPr>
              <a:t>0.5M</a:t>
            </a:r>
            <a:endParaRPr sz="1500">
              <a:latin typeface="Segoe UI"/>
              <a:cs typeface="Segoe UI"/>
            </a:endParaRPr>
          </a:p>
        </p:txBody>
      </p:sp>
      <p:sp>
        <p:nvSpPr>
          <p:cNvPr id="33" name="テキスト ボックス 32">
            <a:extLst>
              <a:ext uri="{FF2B5EF4-FFF2-40B4-BE49-F238E27FC236}">
                <a16:creationId xmlns:a16="http://schemas.microsoft.com/office/drawing/2014/main" id="{C302A073-8D9D-8A8C-FDB7-360574943B66}"/>
              </a:ext>
            </a:extLst>
          </p:cNvPr>
          <p:cNvSpPr txBox="1"/>
          <p:nvPr/>
        </p:nvSpPr>
        <p:spPr>
          <a:xfrm>
            <a:off x="10306049" y="386834"/>
            <a:ext cx="3581400" cy="369332"/>
          </a:xfrm>
          <a:prstGeom prst="rect">
            <a:avLst/>
          </a:prstGeom>
          <a:noFill/>
        </p:spPr>
        <p:txBody>
          <a:bodyPr wrap="square" rtlCol="0">
            <a:spAutoFit/>
          </a:bodyPr>
          <a:lstStyle/>
          <a:p>
            <a:r>
              <a:rPr kumimoji="1" lang="en-US" altLang="ja-JP" b="1"/>
              <a:t>powerBI</a:t>
            </a:r>
            <a:r>
              <a:rPr kumimoji="1" lang="ja-JP" altLang="en-US" b="1"/>
              <a:t> 作成</a:t>
            </a:r>
            <a:endParaRPr kumimoji="1" lang="en-US" altLang="ja-JP"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0B0AC1-ECFF-22C0-15C8-6B4CC603C7C9}"/>
              </a:ext>
            </a:extLst>
          </p:cNvPr>
          <p:cNvSpPr>
            <a:spLocks noGrp="1"/>
          </p:cNvSpPr>
          <p:nvPr>
            <p:ph type="title"/>
          </p:nvPr>
        </p:nvSpPr>
        <p:spPr>
          <a:xfrm>
            <a:off x="5143500" y="723900"/>
            <a:ext cx="8458200" cy="1661993"/>
          </a:xfrm>
        </p:spPr>
        <p:txBody>
          <a:bodyPr/>
          <a:lstStyle/>
          <a:p>
            <a:r>
              <a:rPr kumimoji="1" lang="ja-JP" altLang="en-US" sz="3600">
                <a:latin typeface="+mj-ea"/>
              </a:rPr>
              <a:t>② 商品別の売上ランキング（</a:t>
            </a:r>
            <a:r>
              <a:rPr kumimoji="1" lang="en-US" altLang="ja-JP" sz="3600">
                <a:latin typeface="+mj-ea"/>
              </a:rPr>
              <a:t>ABC</a:t>
            </a:r>
            <a:r>
              <a:rPr kumimoji="1" lang="ja-JP" altLang="en-US" sz="3600">
                <a:latin typeface="+mj-ea"/>
              </a:rPr>
              <a:t>分析）</a:t>
            </a:r>
            <a:br>
              <a:rPr kumimoji="1" lang="ja-JP" altLang="en-US" sz="3600">
                <a:latin typeface="+mj-ea"/>
              </a:rPr>
            </a:br>
            <a:endParaRPr kumimoji="1" lang="ja-JP" altLang="en-US" sz="3600">
              <a:latin typeface="+mj-ea"/>
            </a:endParaRPr>
          </a:p>
        </p:txBody>
      </p:sp>
      <p:sp>
        <p:nvSpPr>
          <p:cNvPr id="3" name="テキスト ボックス 2">
            <a:extLst>
              <a:ext uri="{FF2B5EF4-FFF2-40B4-BE49-F238E27FC236}">
                <a16:creationId xmlns:a16="http://schemas.microsoft.com/office/drawing/2014/main" id="{BEF718DE-18B8-9580-2D2F-B2A899149EB2}"/>
              </a:ext>
            </a:extLst>
          </p:cNvPr>
          <p:cNvSpPr txBox="1"/>
          <p:nvPr/>
        </p:nvSpPr>
        <p:spPr>
          <a:xfrm>
            <a:off x="533400" y="3467100"/>
            <a:ext cx="17906999" cy="5509200"/>
          </a:xfrm>
          <a:prstGeom prst="rect">
            <a:avLst/>
          </a:prstGeom>
          <a:noFill/>
        </p:spPr>
        <p:txBody>
          <a:bodyPr wrap="square" rtlCol="0">
            <a:spAutoFit/>
          </a:bodyPr>
          <a:lstStyle/>
          <a:p>
            <a:r>
              <a:rPr kumimoji="1" lang="ja-JP" altLang="en-US" sz="3200"/>
              <a:t>　・分析の狙い：</a:t>
            </a:r>
            <a:endParaRPr kumimoji="1" lang="en-US" altLang="ja-JP" sz="3200"/>
          </a:p>
          <a:p>
            <a:r>
              <a:rPr kumimoji="1" lang="ja-JP" altLang="en-US" sz="3200"/>
              <a:t>　　　全商品のうち、売上の大半を占めている「主力商品（</a:t>
            </a:r>
            <a:r>
              <a:rPr kumimoji="1" lang="en-US" altLang="ja-JP" sz="3200"/>
              <a:t>A</a:t>
            </a:r>
            <a:r>
              <a:rPr kumimoji="1" lang="ja-JP" altLang="en-US" sz="3200"/>
              <a:t>ランク）」を特定し、</a:t>
            </a:r>
            <a:endParaRPr kumimoji="1" lang="en-US" altLang="ja-JP" sz="3200"/>
          </a:p>
          <a:p>
            <a:r>
              <a:rPr kumimoji="1" lang="ja-JP" altLang="en-US" sz="3200"/>
              <a:t>　　　在庫管理やマーケティングの優先順位を決める。</a:t>
            </a:r>
          </a:p>
          <a:p>
            <a:endParaRPr kumimoji="1" lang="ja-JP" altLang="en-US" sz="3200"/>
          </a:p>
          <a:p>
            <a:r>
              <a:rPr kumimoji="1" lang="ja-JP" altLang="en-US" sz="3200"/>
              <a:t>　</a:t>
            </a:r>
            <a:endParaRPr kumimoji="1" lang="en-US" altLang="ja-JP" sz="3200"/>
          </a:p>
          <a:p>
            <a:r>
              <a:rPr kumimoji="1" lang="ja-JP" altLang="en-US" sz="3200"/>
              <a:t>　・クエリの工夫：</a:t>
            </a:r>
            <a:endParaRPr kumimoji="1" lang="en-US" altLang="ja-JP" sz="3200"/>
          </a:p>
          <a:p>
            <a:r>
              <a:rPr kumimoji="1" lang="ja-JP" altLang="en-US" sz="3200"/>
              <a:t>　　　ウィンドウ関数である </a:t>
            </a:r>
            <a:r>
              <a:rPr kumimoji="1" lang="en-US" altLang="ja-JP" sz="3200"/>
              <a:t>SUM() OVER(ORDER BY) </a:t>
            </a:r>
            <a:r>
              <a:rPr kumimoji="1" lang="ja-JP" altLang="en-US" sz="3200"/>
              <a:t>を使用し、</a:t>
            </a:r>
            <a:endParaRPr kumimoji="1" lang="en-US" altLang="ja-JP" sz="3200"/>
          </a:p>
          <a:p>
            <a:r>
              <a:rPr kumimoji="1" lang="ja-JP" altLang="en-US" sz="3200"/>
              <a:t>　　　売上が高い順に累積（積み上げ）金額を計算。売上全体の</a:t>
            </a:r>
            <a:r>
              <a:rPr kumimoji="1" lang="en-US" altLang="ja-JP" sz="3200"/>
              <a:t>70%</a:t>
            </a:r>
            <a:r>
              <a:rPr kumimoji="1" lang="ja-JP" altLang="en-US" sz="3200"/>
              <a:t>までを</a:t>
            </a:r>
            <a:endParaRPr kumimoji="1" lang="en-US" altLang="ja-JP" sz="3200"/>
          </a:p>
          <a:p>
            <a:r>
              <a:rPr kumimoji="1" lang="ja-JP" altLang="en-US" sz="3200"/>
              <a:t>　　　「</a:t>
            </a:r>
            <a:r>
              <a:rPr kumimoji="1" lang="en-US" altLang="ja-JP" sz="3200"/>
              <a:t>A (</a:t>
            </a:r>
            <a:r>
              <a:rPr kumimoji="1" lang="ja-JP" altLang="en-US" sz="3200"/>
              <a:t>主力商品</a:t>
            </a:r>
            <a:r>
              <a:rPr kumimoji="1" lang="en-US" altLang="ja-JP" sz="3200"/>
              <a:t>)</a:t>
            </a:r>
            <a:r>
              <a:rPr kumimoji="1" lang="ja-JP" altLang="en-US" sz="3200"/>
              <a:t>」として </a:t>
            </a:r>
            <a:r>
              <a:rPr kumimoji="1" lang="en-US" altLang="ja-JP" sz="3200"/>
              <a:t>CASE </a:t>
            </a:r>
            <a:r>
              <a:rPr kumimoji="1" lang="ja-JP" altLang="en-US" sz="3200"/>
              <a:t>文で自動ランク分け。</a:t>
            </a:r>
          </a:p>
          <a:p>
            <a:endParaRPr kumimoji="1" lang="ja-JP" altLang="en-US" sz="3200"/>
          </a:p>
          <a:p>
            <a:endParaRPr kumimoji="1" lang="ja-JP" altLang="en-US" sz="3200"/>
          </a:p>
        </p:txBody>
      </p:sp>
    </p:spTree>
    <p:extLst>
      <p:ext uri="{BB962C8B-B14F-4D97-AF65-F5344CB8AC3E}">
        <p14:creationId xmlns:p14="http://schemas.microsoft.com/office/powerpoint/2010/main" val="3995846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FF07F5-A1BC-74AE-4FAD-A0D637CBDD3D}"/>
              </a:ext>
            </a:extLst>
          </p:cNvPr>
          <p:cNvSpPr>
            <a:spLocks noGrp="1"/>
          </p:cNvSpPr>
          <p:nvPr>
            <p:ph type="title"/>
          </p:nvPr>
        </p:nvSpPr>
        <p:spPr>
          <a:xfrm>
            <a:off x="6784019" y="753487"/>
            <a:ext cx="5177162" cy="1107996"/>
          </a:xfrm>
        </p:spPr>
        <p:txBody>
          <a:bodyPr/>
          <a:lstStyle/>
          <a:p>
            <a:r>
              <a:rPr kumimoji="1" lang="en-US" altLang="ja-JP"/>
              <a:t> </a:t>
            </a:r>
            <a:r>
              <a:rPr kumimoji="1" lang="en-US" altLang="ja-JP" sz="3600">
                <a:latin typeface="+mj-ea"/>
              </a:rPr>
              <a:t>SQL / ABC</a:t>
            </a:r>
            <a:r>
              <a:rPr kumimoji="1" lang="ja-JP" altLang="en-US" sz="3600">
                <a:latin typeface="+mj-ea"/>
              </a:rPr>
              <a:t>分析①</a:t>
            </a:r>
          </a:p>
        </p:txBody>
      </p:sp>
      <p:sp>
        <p:nvSpPr>
          <p:cNvPr id="3" name="テキスト ボックス 2">
            <a:extLst>
              <a:ext uri="{FF2B5EF4-FFF2-40B4-BE49-F238E27FC236}">
                <a16:creationId xmlns:a16="http://schemas.microsoft.com/office/drawing/2014/main" id="{936911F3-B398-56AA-E669-AE9D80F1448F}"/>
              </a:ext>
            </a:extLst>
          </p:cNvPr>
          <p:cNvSpPr txBox="1"/>
          <p:nvPr/>
        </p:nvSpPr>
        <p:spPr>
          <a:xfrm>
            <a:off x="3657600" y="2573298"/>
            <a:ext cx="13792200" cy="7417415"/>
          </a:xfrm>
          <a:prstGeom prst="rect">
            <a:avLst/>
          </a:prstGeom>
          <a:noFill/>
        </p:spPr>
        <p:txBody>
          <a:bodyPr wrap="square" rtlCol="0">
            <a:spAutoFit/>
          </a:bodyPr>
          <a:lstStyle/>
          <a:p>
            <a:r>
              <a:rPr kumimoji="1" lang="en-US" altLang="ja-JP" sz="2800"/>
              <a:t>WITH product_sales AS (</a:t>
            </a:r>
          </a:p>
          <a:p>
            <a:r>
              <a:rPr kumimoji="1" lang="en-US" altLang="ja-JP" sz="2800">
                <a:solidFill>
                  <a:srgbClr val="C00000"/>
                </a:solidFill>
              </a:rPr>
              <a:t>--</a:t>
            </a:r>
            <a:r>
              <a:rPr kumimoji="1" lang="ja-JP" altLang="en-US" sz="2800">
                <a:solidFill>
                  <a:srgbClr val="C00000"/>
                </a:solidFill>
              </a:rPr>
              <a:t>商品ごとの売上合計の計算</a:t>
            </a:r>
          </a:p>
          <a:p>
            <a:r>
              <a:rPr kumimoji="1" lang="ja-JP" altLang="en-US" sz="2800"/>
              <a:t>  </a:t>
            </a:r>
            <a:r>
              <a:rPr kumimoji="1" lang="en-US" altLang="ja-JP" sz="2800"/>
              <a:t>SELECT</a:t>
            </a:r>
          </a:p>
          <a:p>
            <a:r>
              <a:rPr kumimoji="1" lang="en-US" altLang="ja-JP" sz="2800"/>
              <a:t>    product_id,</a:t>
            </a:r>
          </a:p>
          <a:p>
            <a:r>
              <a:rPr kumimoji="1" lang="en-US" altLang="ja-JP" sz="2800"/>
              <a:t>    ROUND(SUM(sale_price)) AS product_total_revenue,</a:t>
            </a:r>
          </a:p>
          <a:p>
            <a:r>
              <a:rPr kumimoji="1" lang="en-US" altLang="ja-JP" sz="2800"/>
              <a:t>    COUNT(id) AS sales_count</a:t>
            </a:r>
          </a:p>
          <a:p>
            <a:r>
              <a:rPr kumimoji="1" lang="en-US" altLang="ja-JP" sz="2800"/>
              <a:t>  FROM</a:t>
            </a:r>
          </a:p>
          <a:p>
            <a:r>
              <a:rPr kumimoji="1" lang="en-US" altLang="ja-JP" sz="2800"/>
              <a:t>    `bigquery-public-data.thelook_ecommerce.order_items`</a:t>
            </a:r>
          </a:p>
          <a:p>
            <a:r>
              <a:rPr kumimoji="1" lang="en-US" altLang="ja-JP" sz="2800">
                <a:solidFill>
                  <a:srgbClr val="C00000"/>
                </a:solidFill>
              </a:rPr>
              <a:t>--</a:t>
            </a:r>
            <a:r>
              <a:rPr kumimoji="1" lang="ja-JP" altLang="en-US" sz="2800">
                <a:solidFill>
                  <a:srgbClr val="C00000"/>
                </a:solidFill>
              </a:rPr>
              <a:t>「キャンセル」「返品」を外す</a:t>
            </a:r>
            <a:endParaRPr kumimoji="1" lang="en-US" altLang="ja-JP" sz="2800"/>
          </a:p>
          <a:p>
            <a:r>
              <a:rPr kumimoji="1" lang="en-US" altLang="ja-JP" sz="2800"/>
              <a:t> WHERE</a:t>
            </a:r>
          </a:p>
          <a:p>
            <a:r>
              <a:rPr kumimoji="1" lang="en-US" altLang="ja-JP" sz="2800"/>
              <a:t>  </a:t>
            </a:r>
            <a:r>
              <a:rPr kumimoji="1" lang="ja-JP" altLang="en-US" sz="2800"/>
              <a:t>   </a:t>
            </a:r>
            <a:r>
              <a:rPr kumimoji="1" lang="en-US" altLang="ja-JP" sz="2800"/>
              <a:t>status NOT IN ('Cancelled', 'Returned’)</a:t>
            </a:r>
          </a:p>
          <a:p>
            <a:r>
              <a:rPr kumimoji="1" lang="en-US" altLang="ja-JP" sz="2800"/>
              <a:t> </a:t>
            </a:r>
            <a:r>
              <a:rPr kumimoji="1" lang="en-US" altLang="ja-JP" sz="2800">
                <a:solidFill>
                  <a:srgbClr val="C00000"/>
                </a:solidFill>
              </a:rPr>
              <a:t>--</a:t>
            </a:r>
            <a:r>
              <a:rPr kumimoji="1" lang="ja-JP" altLang="en-US" sz="2800">
                <a:solidFill>
                  <a:srgbClr val="C00000"/>
                </a:solidFill>
              </a:rPr>
              <a:t>商品</a:t>
            </a:r>
            <a:r>
              <a:rPr kumimoji="1" lang="en-US" altLang="ja-JP" sz="2800">
                <a:solidFill>
                  <a:srgbClr val="C00000"/>
                </a:solidFill>
              </a:rPr>
              <a:t>id</a:t>
            </a:r>
            <a:r>
              <a:rPr kumimoji="1" lang="ja-JP" altLang="en-US" sz="2800">
                <a:solidFill>
                  <a:srgbClr val="C00000"/>
                </a:solidFill>
              </a:rPr>
              <a:t>ごとにグループ化</a:t>
            </a:r>
            <a:endParaRPr kumimoji="1" lang="en-US" altLang="ja-JP" sz="2800">
              <a:solidFill>
                <a:srgbClr val="C00000"/>
              </a:solidFill>
            </a:endParaRPr>
          </a:p>
          <a:p>
            <a:r>
              <a:rPr kumimoji="1" lang="en-US" altLang="ja-JP" sz="2800"/>
              <a:t> GROUP BY</a:t>
            </a:r>
          </a:p>
          <a:p>
            <a:r>
              <a:rPr kumimoji="1" lang="ja-JP" altLang="en-US" sz="2800"/>
              <a:t>     </a:t>
            </a:r>
            <a:r>
              <a:rPr kumimoji="1" lang="en-US" altLang="ja-JP" sz="2800"/>
              <a:t>product_id</a:t>
            </a:r>
          </a:p>
          <a:p>
            <a:r>
              <a:rPr kumimoji="1" lang="en-US" altLang="ja-JP" sz="2800"/>
              <a:t>),</a:t>
            </a:r>
          </a:p>
          <a:p>
            <a:endParaRPr kumimoji="1" lang="en-US" altLang="ja-JP" sz="2800"/>
          </a:p>
          <a:p>
            <a:endParaRPr kumimoji="1" lang="ja-JP" altLang="en-US" sz="2800"/>
          </a:p>
        </p:txBody>
      </p:sp>
    </p:spTree>
    <p:extLst>
      <p:ext uri="{BB962C8B-B14F-4D97-AF65-F5344CB8AC3E}">
        <p14:creationId xmlns:p14="http://schemas.microsoft.com/office/powerpoint/2010/main" val="1550322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132E6B-04B0-AB4B-68AB-1203A28E6060}"/>
              </a:ext>
            </a:extLst>
          </p:cNvPr>
          <p:cNvSpPr>
            <a:spLocks noGrp="1"/>
          </p:cNvSpPr>
          <p:nvPr>
            <p:ph type="title"/>
          </p:nvPr>
        </p:nvSpPr>
        <p:spPr>
          <a:xfrm>
            <a:off x="7467600" y="876300"/>
            <a:ext cx="3810000" cy="785588"/>
          </a:xfrm>
        </p:spPr>
        <p:txBody>
          <a:bodyPr/>
          <a:lstStyle/>
          <a:p>
            <a:r>
              <a:rPr kumimoji="1" lang="en-US" altLang="ja-JP" sz="3600">
                <a:latin typeface="+mj-ea"/>
              </a:rPr>
              <a:t>SQL / ABC</a:t>
            </a:r>
            <a:r>
              <a:rPr kumimoji="1" lang="ja-JP" altLang="en-US" sz="3600">
                <a:latin typeface="+mj-ea"/>
              </a:rPr>
              <a:t>分析②</a:t>
            </a:r>
            <a:br>
              <a:rPr kumimoji="1" lang="en-US" altLang="ja-JP" sz="3600">
                <a:latin typeface="+mj-ea"/>
              </a:rPr>
            </a:br>
            <a:endParaRPr kumimoji="1" lang="ja-JP" altLang="en-US" sz="3600"/>
          </a:p>
        </p:txBody>
      </p:sp>
      <p:sp>
        <p:nvSpPr>
          <p:cNvPr id="3" name="テキスト ボックス 2">
            <a:extLst>
              <a:ext uri="{FF2B5EF4-FFF2-40B4-BE49-F238E27FC236}">
                <a16:creationId xmlns:a16="http://schemas.microsoft.com/office/drawing/2014/main" id="{9400566E-6726-3776-F73A-A6273E280091}"/>
              </a:ext>
            </a:extLst>
          </p:cNvPr>
          <p:cNvSpPr txBox="1"/>
          <p:nvPr/>
        </p:nvSpPr>
        <p:spPr>
          <a:xfrm>
            <a:off x="762000" y="2705100"/>
            <a:ext cx="17221200" cy="5970865"/>
          </a:xfrm>
          <a:prstGeom prst="rect">
            <a:avLst/>
          </a:prstGeom>
          <a:noFill/>
        </p:spPr>
        <p:txBody>
          <a:bodyPr wrap="square" rtlCol="0">
            <a:spAutoFit/>
          </a:bodyPr>
          <a:lstStyle/>
          <a:p>
            <a:r>
              <a:rPr kumimoji="1" lang="en-US" altLang="ja-JP" sz="2800"/>
              <a:t>cumulative_sales AS (</a:t>
            </a:r>
          </a:p>
          <a:p>
            <a:r>
              <a:rPr kumimoji="1" lang="en-US" altLang="ja-JP" sz="2800">
                <a:solidFill>
                  <a:srgbClr val="C00000"/>
                </a:solidFill>
              </a:rPr>
              <a:t>--</a:t>
            </a:r>
            <a:r>
              <a:rPr kumimoji="1" lang="ja-JP" altLang="en-US" sz="2800">
                <a:solidFill>
                  <a:srgbClr val="C00000"/>
                </a:solidFill>
              </a:rPr>
              <a:t>売上が高い順に並べ、売上の累積金額と、全体に対する</a:t>
            </a:r>
            <a:r>
              <a:rPr kumimoji="1" lang="en-US" altLang="ja-JP" sz="2800">
                <a:solidFill>
                  <a:srgbClr val="C00000"/>
                </a:solidFill>
              </a:rPr>
              <a:t>%</a:t>
            </a:r>
            <a:r>
              <a:rPr kumimoji="1" lang="ja-JP" altLang="en-US" sz="2800">
                <a:solidFill>
                  <a:srgbClr val="C00000"/>
                </a:solidFill>
              </a:rPr>
              <a:t>を計算 </a:t>
            </a:r>
          </a:p>
          <a:p>
            <a:r>
              <a:rPr kumimoji="1" lang="ja-JP" altLang="en-US" sz="2800"/>
              <a:t>  </a:t>
            </a:r>
            <a:r>
              <a:rPr kumimoji="1" lang="en-US" altLang="ja-JP" sz="2800"/>
              <a:t>SELECT</a:t>
            </a:r>
          </a:p>
          <a:p>
            <a:r>
              <a:rPr kumimoji="1" lang="en-US" altLang="ja-JP" sz="2800"/>
              <a:t>    product_id,</a:t>
            </a:r>
          </a:p>
          <a:p>
            <a:r>
              <a:rPr kumimoji="1" lang="en-US" altLang="ja-JP" sz="2800"/>
              <a:t>    product_total_revenue,</a:t>
            </a:r>
          </a:p>
          <a:p>
            <a:r>
              <a:rPr kumimoji="1" lang="en-US" altLang="ja-JP" sz="2800"/>
              <a:t>    sales_count,</a:t>
            </a:r>
          </a:p>
          <a:p>
            <a:r>
              <a:rPr kumimoji="1" lang="en-US" altLang="ja-JP" sz="2800"/>
              <a:t>  </a:t>
            </a:r>
            <a:r>
              <a:rPr kumimoji="1" lang="en-US" altLang="ja-JP" sz="2800">
                <a:solidFill>
                  <a:srgbClr val="C00000"/>
                </a:solidFill>
              </a:rPr>
              <a:t>--</a:t>
            </a:r>
            <a:r>
              <a:rPr kumimoji="1" lang="ja-JP" altLang="en-US" sz="2800">
                <a:solidFill>
                  <a:srgbClr val="C00000"/>
                </a:solidFill>
              </a:rPr>
              <a:t>売上を上から順番に足していく（累積売上）</a:t>
            </a:r>
          </a:p>
          <a:p>
            <a:r>
              <a:rPr kumimoji="1" lang="ja-JP" altLang="en-US" sz="2800"/>
              <a:t>    </a:t>
            </a:r>
            <a:r>
              <a:rPr kumimoji="1" lang="en-US" altLang="ja-JP" sz="2800"/>
              <a:t>SUM(product_total_revenue) OVER(ORDER BY product_total_revenue DESC) AS cumulative_revenue,</a:t>
            </a:r>
          </a:p>
          <a:p>
            <a:r>
              <a:rPr kumimoji="1" lang="en-US" altLang="ja-JP" sz="2800">
                <a:solidFill>
                  <a:srgbClr val="C00000"/>
                </a:solidFill>
              </a:rPr>
              <a:t>  --</a:t>
            </a:r>
            <a:r>
              <a:rPr kumimoji="1" lang="ja-JP" altLang="en-US" sz="2800">
                <a:solidFill>
                  <a:srgbClr val="C00000"/>
                </a:solidFill>
              </a:rPr>
              <a:t>全体の総売上を計算</a:t>
            </a:r>
          </a:p>
          <a:p>
            <a:r>
              <a:rPr kumimoji="1" lang="ja-JP" altLang="en-US" sz="2800"/>
              <a:t>    </a:t>
            </a:r>
            <a:r>
              <a:rPr kumimoji="1" lang="en-US" altLang="ja-JP" sz="2800"/>
              <a:t>SUM(product_total_revenue) OVER() AS total_revenue</a:t>
            </a:r>
          </a:p>
          <a:p>
            <a:r>
              <a:rPr kumimoji="1" lang="en-US" altLang="ja-JP" sz="2800"/>
              <a:t>  FROM</a:t>
            </a:r>
          </a:p>
          <a:p>
            <a:r>
              <a:rPr kumimoji="1" lang="en-US" altLang="ja-JP" sz="2800"/>
              <a:t>    product_sales</a:t>
            </a:r>
          </a:p>
          <a:p>
            <a:r>
              <a:rPr kumimoji="1" lang="en-US" altLang="ja-JP" sz="2800"/>
              <a:t>)</a:t>
            </a:r>
          </a:p>
          <a:p>
            <a:endParaRPr kumimoji="1" lang="ja-JP" altLang="en-US"/>
          </a:p>
        </p:txBody>
      </p:sp>
    </p:spTree>
    <p:extLst>
      <p:ext uri="{BB962C8B-B14F-4D97-AF65-F5344CB8AC3E}">
        <p14:creationId xmlns:p14="http://schemas.microsoft.com/office/powerpoint/2010/main" val="4144395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46A657-C006-09CA-8C51-404A37075C1A}"/>
              </a:ext>
            </a:extLst>
          </p:cNvPr>
          <p:cNvSpPr>
            <a:spLocks noGrp="1"/>
          </p:cNvSpPr>
          <p:nvPr>
            <p:ph type="title"/>
          </p:nvPr>
        </p:nvSpPr>
        <p:spPr>
          <a:xfrm>
            <a:off x="7505700" y="876300"/>
            <a:ext cx="3733800" cy="480787"/>
          </a:xfrm>
        </p:spPr>
        <p:txBody>
          <a:bodyPr/>
          <a:lstStyle/>
          <a:p>
            <a:r>
              <a:rPr kumimoji="1" lang="en-US" altLang="ja-JP" sz="3600">
                <a:latin typeface="+mj-ea"/>
              </a:rPr>
              <a:t>SQL / ABC</a:t>
            </a:r>
            <a:r>
              <a:rPr kumimoji="1" lang="ja-JP" altLang="en-US" sz="3600">
                <a:latin typeface="+mj-ea"/>
              </a:rPr>
              <a:t>分析③</a:t>
            </a:r>
            <a:br>
              <a:rPr kumimoji="1" lang="en-US" altLang="ja-JP" sz="3600">
                <a:latin typeface="+mj-ea"/>
              </a:rPr>
            </a:br>
            <a:br>
              <a:rPr kumimoji="1" lang="en-US" altLang="ja-JP" sz="3600">
                <a:latin typeface="+mj-ea"/>
              </a:rPr>
            </a:br>
            <a:endParaRPr kumimoji="1" lang="ja-JP" altLang="en-US" sz="3600"/>
          </a:p>
        </p:txBody>
      </p:sp>
      <p:sp>
        <p:nvSpPr>
          <p:cNvPr id="3" name="テキスト ボックス 2">
            <a:extLst>
              <a:ext uri="{FF2B5EF4-FFF2-40B4-BE49-F238E27FC236}">
                <a16:creationId xmlns:a16="http://schemas.microsoft.com/office/drawing/2014/main" id="{98BE824A-6E47-7DA7-2ECC-1E10B8363B4A}"/>
              </a:ext>
            </a:extLst>
          </p:cNvPr>
          <p:cNvSpPr txBox="1"/>
          <p:nvPr/>
        </p:nvSpPr>
        <p:spPr>
          <a:xfrm>
            <a:off x="2133600" y="2878667"/>
            <a:ext cx="15468600" cy="6740307"/>
          </a:xfrm>
          <a:prstGeom prst="rect">
            <a:avLst/>
          </a:prstGeom>
          <a:noFill/>
        </p:spPr>
        <p:txBody>
          <a:bodyPr wrap="square" rtlCol="0">
            <a:spAutoFit/>
          </a:bodyPr>
          <a:lstStyle/>
          <a:p>
            <a:r>
              <a:rPr kumimoji="1" lang="en-US" altLang="ja-JP" sz="2400" b="1">
                <a:solidFill>
                  <a:srgbClr val="C00000"/>
                </a:solidFill>
              </a:rPr>
              <a:t>--</a:t>
            </a:r>
            <a:r>
              <a:rPr kumimoji="1" lang="ja-JP" altLang="en-US" sz="2400" b="1">
                <a:solidFill>
                  <a:srgbClr val="C00000"/>
                </a:solidFill>
              </a:rPr>
              <a:t>累積売上の比率を計算し、</a:t>
            </a:r>
            <a:r>
              <a:rPr kumimoji="1" lang="en-US" altLang="ja-JP" sz="2400" b="1">
                <a:solidFill>
                  <a:srgbClr val="C00000"/>
                </a:solidFill>
              </a:rPr>
              <a:t>A, B, C</a:t>
            </a:r>
            <a:r>
              <a:rPr kumimoji="1" lang="ja-JP" altLang="en-US" sz="2400" b="1">
                <a:solidFill>
                  <a:srgbClr val="C00000"/>
                </a:solidFill>
              </a:rPr>
              <a:t>の</a:t>
            </a:r>
            <a:r>
              <a:rPr kumimoji="1" lang="en-US" altLang="ja-JP" sz="2400" b="1">
                <a:solidFill>
                  <a:srgbClr val="C00000"/>
                </a:solidFill>
              </a:rPr>
              <a:t>3</a:t>
            </a:r>
            <a:r>
              <a:rPr kumimoji="1" lang="ja-JP" altLang="en-US" sz="2400" b="1">
                <a:solidFill>
                  <a:srgbClr val="C00000"/>
                </a:solidFill>
              </a:rPr>
              <a:t>グループに分類</a:t>
            </a:r>
          </a:p>
          <a:p>
            <a:r>
              <a:rPr kumimoji="1" lang="ja-JP" altLang="en-US" sz="2400"/>
              <a:t>  </a:t>
            </a:r>
            <a:r>
              <a:rPr kumimoji="1" lang="en-US" altLang="ja-JP" sz="2400"/>
              <a:t>SELECT</a:t>
            </a:r>
          </a:p>
          <a:p>
            <a:r>
              <a:rPr kumimoji="1" lang="en-US" altLang="ja-JP" sz="2400"/>
              <a:t>    product_id,</a:t>
            </a:r>
          </a:p>
          <a:p>
            <a:r>
              <a:rPr kumimoji="1" lang="en-US" altLang="ja-JP" sz="2400"/>
              <a:t>    product_total_revenue,</a:t>
            </a:r>
          </a:p>
          <a:p>
            <a:r>
              <a:rPr kumimoji="1" lang="en-US" altLang="ja-JP" sz="2400"/>
              <a:t>    sales_count,</a:t>
            </a:r>
          </a:p>
          <a:p>
            <a:r>
              <a:rPr kumimoji="1" lang="en-US" altLang="ja-JP" sz="2400">
                <a:solidFill>
                  <a:srgbClr val="C00000"/>
                </a:solidFill>
              </a:rPr>
              <a:t>  </a:t>
            </a:r>
            <a:r>
              <a:rPr kumimoji="1" lang="en-US" altLang="ja-JP" sz="2400" b="1">
                <a:solidFill>
                  <a:srgbClr val="C00000"/>
                </a:solidFill>
              </a:rPr>
              <a:t>--</a:t>
            </a:r>
            <a:r>
              <a:rPr kumimoji="1" lang="ja-JP" altLang="en-US" sz="2400" b="1">
                <a:solidFill>
                  <a:srgbClr val="C00000"/>
                </a:solidFill>
              </a:rPr>
              <a:t>全体売上に対するこの商品までの累積比率（</a:t>
            </a:r>
            <a:r>
              <a:rPr kumimoji="1" lang="en-US" altLang="ja-JP" sz="2400" b="1">
                <a:solidFill>
                  <a:srgbClr val="C00000"/>
                </a:solidFill>
              </a:rPr>
              <a:t>%</a:t>
            </a:r>
            <a:r>
              <a:rPr kumimoji="1" lang="ja-JP" altLang="en-US" sz="2400" b="1">
                <a:solidFill>
                  <a:srgbClr val="C00000"/>
                </a:solidFill>
              </a:rPr>
              <a:t>）</a:t>
            </a:r>
          </a:p>
          <a:p>
            <a:r>
              <a:rPr kumimoji="1" lang="ja-JP" altLang="en-US" sz="2400"/>
              <a:t>    </a:t>
            </a:r>
            <a:r>
              <a:rPr kumimoji="1" lang="en-US" altLang="ja-JP" sz="2400"/>
              <a:t>ROUND((cumulative_revenue / total_revenue) * 100, 1) AS cumulative_percentage,</a:t>
            </a:r>
          </a:p>
          <a:p>
            <a:r>
              <a:rPr kumimoji="1" lang="en-US" altLang="ja-JP" sz="2400">
                <a:solidFill>
                  <a:srgbClr val="C00000"/>
                </a:solidFill>
              </a:rPr>
              <a:t>  </a:t>
            </a:r>
            <a:r>
              <a:rPr kumimoji="1" lang="en-US" altLang="ja-JP" sz="2400" b="1">
                <a:solidFill>
                  <a:srgbClr val="C00000"/>
                </a:solidFill>
              </a:rPr>
              <a:t>--</a:t>
            </a:r>
            <a:r>
              <a:rPr kumimoji="1" lang="ja-JP" altLang="en-US" sz="2400" b="1">
                <a:solidFill>
                  <a:srgbClr val="C00000"/>
                </a:solidFill>
              </a:rPr>
              <a:t>比率によってランク分け（</a:t>
            </a:r>
            <a:r>
              <a:rPr kumimoji="1" lang="en-US" altLang="ja-JP" sz="2400" b="1">
                <a:solidFill>
                  <a:srgbClr val="C00000"/>
                </a:solidFill>
              </a:rPr>
              <a:t>70%</a:t>
            </a:r>
            <a:r>
              <a:rPr kumimoji="1" lang="ja-JP" altLang="en-US" sz="2400" b="1">
                <a:solidFill>
                  <a:srgbClr val="C00000"/>
                </a:solidFill>
              </a:rPr>
              <a:t>までが</a:t>
            </a:r>
            <a:r>
              <a:rPr kumimoji="1" lang="en-US" altLang="ja-JP" sz="2400" b="1">
                <a:solidFill>
                  <a:srgbClr val="C00000"/>
                </a:solidFill>
              </a:rPr>
              <a:t>A</a:t>
            </a:r>
            <a:r>
              <a:rPr kumimoji="1" lang="ja-JP" altLang="en-US" sz="2400" b="1">
                <a:solidFill>
                  <a:srgbClr val="C00000"/>
                </a:solidFill>
              </a:rPr>
              <a:t>、</a:t>
            </a:r>
            <a:r>
              <a:rPr kumimoji="1" lang="en-US" altLang="ja-JP" sz="2400" b="1">
                <a:solidFill>
                  <a:srgbClr val="C00000"/>
                </a:solidFill>
              </a:rPr>
              <a:t>90%</a:t>
            </a:r>
            <a:r>
              <a:rPr kumimoji="1" lang="ja-JP" altLang="en-US" sz="2400" b="1">
                <a:solidFill>
                  <a:srgbClr val="C00000"/>
                </a:solidFill>
              </a:rPr>
              <a:t>までが</a:t>
            </a:r>
            <a:r>
              <a:rPr kumimoji="1" lang="en-US" altLang="ja-JP" sz="2400" b="1">
                <a:solidFill>
                  <a:srgbClr val="C00000"/>
                </a:solidFill>
              </a:rPr>
              <a:t>B</a:t>
            </a:r>
            <a:r>
              <a:rPr kumimoji="1" lang="ja-JP" altLang="en-US" sz="2400" b="1">
                <a:solidFill>
                  <a:srgbClr val="C00000"/>
                </a:solidFill>
              </a:rPr>
              <a:t>、それ以外が</a:t>
            </a:r>
            <a:r>
              <a:rPr kumimoji="1" lang="en-US" altLang="ja-JP" sz="2400" b="1">
                <a:solidFill>
                  <a:srgbClr val="C00000"/>
                </a:solidFill>
              </a:rPr>
              <a:t>C</a:t>
            </a:r>
            <a:r>
              <a:rPr kumimoji="1" lang="ja-JP" altLang="en-US" sz="2400" b="1">
                <a:solidFill>
                  <a:srgbClr val="C00000"/>
                </a:solidFill>
              </a:rPr>
              <a:t>）</a:t>
            </a:r>
          </a:p>
          <a:p>
            <a:r>
              <a:rPr kumimoji="1" lang="ja-JP" altLang="en-US" sz="2400"/>
              <a:t>  </a:t>
            </a:r>
            <a:r>
              <a:rPr kumimoji="1" lang="en-US" altLang="ja-JP" sz="2400"/>
              <a:t>CASE</a:t>
            </a:r>
          </a:p>
          <a:p>
            <a:r>
              <a:rPr kumimoji="1" lang="en-US" altLang="ja-JP" sz="2400"/>
              <a:t>    WHEN (cumulative_revenue / total_revenue) &lt;=0.70 THEN 'A (</a:t>
            </a:r>
            <a:r>
              <a:rPr kumimoji="1" lang="ja-JP" altLang="en-US" sz="2400"/>
              <a:t>主力商品</a:t>
            </a:r>
            <a:r>
              <a:rPr kumimoji="1" lang="en-US" altLang="ja-JP" sz="2400"/>
              <a:t>)'</a:t>
            </a:r>
          </a:p>
          <a:p>
            <a:r>
              <a:rPr kumimoji="1" lang="en-US" altLang="ja-JP" sz="2400"/>
              <a:t>    WHEN (cumulative_revenue / total_revenue) &lt;=0.90 THEN 'B (</a:t>
            </a:r>
            <a:r>
              <a:rPr kumimoji="1" lang="ja-JP" altLang="en-US" sz="2400"/>
              <a:t>準主力商品</a:t>
            </a:r>
            <a:r>
              <a:rPr kumimoji="1" lang="en-US" altLang="ja-JP" sz="2400"/>
              <a:t>)'</a:t>
            </a:r>
          </a:p>
          <a:p>
            <a:r>
              <a:rPr kumimoji="1" lang="en-US" altLang="ja-JP" sz="2400"/>
              <a:t>    ELSE 'C (</a:t>
            </a:r>
            <a:r>
              <a:rPr kumimoji="1" lang="ja-JP" altLang="en-US" sz="2400"/>
              <a:t>売上小</a:t>
            </a:r>
            <a:r>
              <a:rPr kumimoji="1" lang="en-US" altLang="ja-JP" sz="2400"/>
              <a:t>)'</a:t>
            </a:r>
          </a:p>
          <a:p>
            <a:r>
              <a:rPr kumimoji="1" lang="en-US" altLang="ja-JP" sz="2400"/>
              <a:t>  END AS abc_rank</a:t>
            </a:r>
          </a:p>
          <a:p>
            <a:r>
              <a:rPr kumimoji="1" lang="en-US" altLang="ja-JP" sz="2400"/>
              <a:t>FROM</a:t>
            </a:r>
          </a:p>
          <a:p>
            <a:r>
              <a:rPr kumimoji="1" lang="en-US" altLang="ja-JP" sz="2400"/>
              <a:t>  cumulative_sales</a:t>
            </a:r>
          </a:p>
          <a:p>
            <a:r>
              <a:rPr kumimoji="1" lang="en-US" altLang="ja-JP" sz="2400"/>
              <a:t>ORDER BY</a:t>
            </a:r>
          </a:p>
          <a:p>
            <a:r>
              <a:rPr kumimoji="1" lang="en-US" altLang="ja-JP" sz="2400"/>
              <a:t>  product_total_revenue DESC;</a:t>
            </a:r>
          </a:p>
          <a:p>
            <a:endParaRPr kumimoji="1" lang="ja-JP" altLang="en-US" sz="2400"/>
          </a:p>
        </p:txBody>
      </p:sp>
    </p:spTree>
    <p:extLst>
      <p:ext uri="{BB962C8B-B14F-4D97-AF65-F5344CB8AC3E}">
        <p14:creationId xmlns:p14="http://schemas.microsoft.com/office/powerpoint/2010/main" val="3013805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929687" y="314808"/>
            <a:ext cx="885825" cy="152400"/>
          </a:xfrm>
          <a:prstGeom prst="rect">
            <a:avLst/>
          </a:prstGeom>
        </p:spPr>
        <p:txBody>
          <a:bodyPr vert="horz" wrap="square" lIns="0" tIns="8890" rIns="0" bIns="0" rtlCol="0">
            <a:spAutoFit/>
          </a:bodyPr>
          <a:lstStyle/>
          <a:p>
            <a:pPr>
              <a:lnSpc>
                <a:spcPct val="100000"/>
              </a:lnSpc>
              <a:spcBef>
                <a:spcPts val="70"/>
              </a:spcBef>
            </a:pPr>
            <a:r>
              <a:rPr sz="900">
                <a:solidFill>
                  <a:srgbClr val="FFFFFF"/>
                </a:solidFill>
                <a:latin typeface="Segoe UI"/>
                <a:cs typeface="Segoe UI"/>
              </a:rPr>
              <a:t>Power</a:t>
            </a:r>
            <a:r>
              <a:rPr sz="900" spc="-30">
                <a:solidFill>
                  <a:srgbClr val="FFFFFF"/>
                </a:solidFill>
                <a:latin typeface="Segoe UI"/>
                <a:cs typeface="Segoe UI"/>
              </a:rPr>
              <a:t> </a:t>
            </a:r>
            <a:r>
              <a:rPr sz="900">
                <a:solidFill>
                  <a:srgbClr val="FFFFFF"/>
                </a:solidFill>
                <a:latin typeface="Segoe UI"/>
                <a:cs typeface="Segoe UI"/>
              </a:rPr>
              <a:t>BI</a:t>
            </a:r>
            <a:r>
              <a:rPr sz="900" spc="-25">
                <a:solidFill>
                  <a:srgbClr val="FFFFFF"/>
                </a:solidFill>
                <a:latin typeface="Segoe UI"/>
                <a:cs typeface="Segoe UI"/>
              </a:rPr>
              <a:t> </a:t>
            </a:r>
            <a:r>
              <a:rPr sz="900" spc="-10">
                <a:solidFill>
                  <a:srgbClr val="FFFFFF"/>
                </a:solidFill>
                <a:latin typeface="Segoe UI"/>
                <a:cs typeface="Segoe UI"/>
              </a:rPr>
              <a:t>Desktop</a:t>
            </a:r>
            <a:endParaRPr sz="900">
              <a:latin typeface="Segoe UI"/>
              <a:cs typeface="Segoe UI"/>
            </a:endParaRPr>
          </a:p>
        </p:txBody>
      </p:sp>
      <p:sp>
        <p:nvSpPr>
          <p:cNvPr id="3" name="object 3"/>
          <p:cNvSpPr/>
          <p:nvPr/>
        </p:nvSpPr>
        <p:spPr>
          <a:xfrm>
            <a:off x="228600" y="22860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FAFAFA">
              <a:alpha val="85998"/>
            </a:srgbClr>
          </a:solidFill>
        </p:spPr>
        <p:txBody>
          <a:bodyPr wrap="square" lIns="0" tIns="0" rIns="0" bIns="0" rtlCol="0"/>
          <a:lstStyle/>
          <a:p>
            <a:endParaRPr/>
          </a:p>
        </p:txBody>
      </p:sp>
      <p:grpSp>
        <p:nvGrpSpPr>
          <p:cNvPr id="4" name="object 4"/>
          <p:cNvGrpSpPr/>
          <p:nvPr/>
        </p:nvGrpSpPr>
        <p:grpSpPr>
          <a:xfrm>
            <a:off x="909233" y="572706"/>
            <a:ext cx="16068675" cy="9877425"/>
            <a:chOff x="1143000" y="638174"/>
            <a:chExt cx="16068675" cy="9877425"/>
          </a:xfrm>
        </p:grpSpPr>
        <p:sp>
          <p:nvSpPr>
            <p:cNvPr id="5" name="object 5"/>
            <p:cNvSpPr/>
            <p:nvPr/>
          </p:nvSpPr>
          <p:spPr>
            <a:xfrm>
              <a:off x="1147762" y="642937"/>
              <a:ext cx="16059150" cy="9867900"/>
            </a:xfrm>
            <a:custGeom>
              <a:avLst/>
              <a:gdLst/>
              <a:ahLst/>
              <a:cxnLst/>
              <a:rect l="l" t="t" r="r" b="b"/>
              <a:pathLst>
                <a:path w="16059150" h="9867900">
                  <a:moveTo>
                    <a:pt x="15992401" y="9867899"/>
                  </a:moveTo>
                  <a:lnTo>
                    <a:pt x="66746" y="9867899"/>
                  </a:lnTo>
                  <a:lnTo>
                    <a:pt x="62101" y="9867441"/>
                  </a:lnTo>
                  <a:lnTo>
                    <a:pt x="24240" y="9850291"/>
                  </a:lnTo>
                  <a:lnTo>
                    <a:pt x="2287" y="9814998"/>
                  </a:lnTo>
                  <a:lnTo>
                    <a:pt x="0" y="9801152"/>
                  </a:lnTo>
                  <a:lnTo>
                    <a:pt x="0" y="9796461"/>
                  </a:lnTo>
                  <a:lnTo>
                    <a:pt x="0" y="66746"/>
                  </a:lnTo>
                  <a:lnTo>
                    <a:pt x="14645" y="27848"/>
                  </a:lnTo>
                  <a:lnTo>
                    <a:pt x="48433" y="3642"/>
                  </a:lnTo>
                  <a:lnTo>
                    <a:pt x="66746" y="0"/>
                  </a:lnTo>
                  <a:lnTo>
                    <a:pt x="15992401" y="0"/>
                  </a:lnTo>
                  <a:lnTo>
                    <a:pt x="16031299" y="14645"/>
                  </a:lnTo>
                  <a:lnTo>
                    <a:pt x="16055504" y="48433"/>
                  </a:lnTo>
                  <a:lnTo>
                    <a:pt x="16059147" y="66746"/>
                  </a:lnTo>
                  <a:lnTo>
                    <a:pt x="16059147" y="9801152"/>
                  </a:lnTo>
                  <a:lnTo>
                    <a:pt x="16044502" y="9840049"/>
                  </a:lnTo>
                  <a:lnTo>
                    <a:pt x="16010713" y="9864254"/>
                  </a:lnTo>
                  <a:lnTo>
                    <a:pt x="15997046" y="9867441"/>
                  </a:lnTo>
                  <a:lnTo>
                    <a:pt x="15992401" y="9867899"/>
                  </a:lnTo>
                  <a:close/>
                </a:path>
              </a:pathLst>
            </a:custGeom>
            <a:solidFill>
              <a:srgbClr val="FFFFFF"/>
            </a:solidFill>
          </p:spPr>
          <p:txBody>
            <a:bodyPr wrap="square" lIns="0" tIns="0" rIns="0" bIns="0" rtlCol="0"/>
            <a:lstStyle/>
            <a:p>
              <a:endParaRPr/>
            </a:p>
          </p:txBody>
        </p:sp>
        <p:sp>
          <p:nvSpPr>
            <p:cNvPr id="6" name="object 6"/>
            <p:cNvSpPr/>
            <p:nvPr/>
          </p:nvSpPr>
          <p:spPr>
            <a:xfrm>
              <a:off x="1147762" y="642937"/>
              <a:ext cx="16059150" cy="9867900"/>
            </a:xfrm>
            <a:custGeom>
              <a:avLst/>
              <a:gdLst/>
              <a:ahLst/>
              <a:cxnLst/>
              <a:rect l="l" t="t" r="r" b="b"/>
              <a:pathLst>
                <a:path w="16059150" h="9867900">
                  <a:moveTo>
                    <a:pt x="0" y="9796461"/>
                  </a:moveTo>
                  <a:lnTo>
                    <a:pt x="0" y="71437"/>
                  </a:lnTo>
                  <a:lnTo>
                    <a:pt x="0" y="66746"/>
                  </a:lnTo>
                  <a:lnTo>
                    <a:pt x="457" y="62101"/>
                  </a:lnTo>
                  <a:lnTo>
                    <a:pt x="1372" y="57500"/>
                  </a:lnTo>
                  <a:lnTo>
                    <a:pt x="2287" y="52900"/>
                  </a:lnTo>
                  <a:lnTo>
                    <a:pt x="3642" y="48433"/>
                  </a:lnTo>
                  <a:lnTo>
                    <a:pt x="5437" y="44099"/>
                  </a:lnTo>
                  <a:lnTo>
                    <a:pt x="7232" y="39765"/>
                  </a:lnTo>
                  <a:lnTo>
                    <a:pt x="9433" y="35649"/>
                  </a:lnTo>
                  <a:lnTo>
                    <a:pt x="12039" y="31748"/>
                  </a:lnTo>
                  <a:lnTo>
                    <a:pt x="14645" y="27848"/>
                  </a:lnTo>
                  <a:lnTo>
                    <a:pt x="44099" y="5437"/>
                  </a:lnTo>
                  <a:lnTo>
                    <a:pt x="48433" y="3642"/>
                  </a:lnTo>
                  <a:lnTo>
                    <a:pt x="52900" y="2287"/>
                  </a:lnTo>
                  <a:lnTo>
                    <a:pt x="57500" y="1372"/>
                  </a:lnTo>
                  <a:lnTo>
                    <a:pt x="62101" y="457"/>
                  </a:lnTo>
                  <a:lnTo>
                    <a:pt x="66746" y="0"/>
                  </a:lnTo>
                  <a:lnTo>
                    <a:pt x="71437" y="0"/>
                  </a:lnTo>
                  <a:lnTo>
                    <a:pt x="15987711" y="0"/>
                  </a:lnTo>
                  <a:lnTo>
                    <a:pt x="15992401" y="0"/>
                  </a:lnTo>
                  <a:lnTo>
                    <a:pt x="15997046" y="457"/>
                  </a:lnTo>
                  <a:lnTo>
                    <a:pt x="16001647" y="1372"/>
                  </a:lnTo>
                  <a:lnTo>
                    <a:pt x="16006246" y="2287"/>
                  </a:lnTo>
                  <a:lnTo>
                    <a:pt x="16010714" y="3642"/>
                  </a:lnTo>
                  <a:lnTo>
                    <a:pt x="16015047" y="5437"/>
                  </a:lnTo>
                  <a:lnTo>
                    <a:pt x="16019381" y="7232"/>
                  </a:lnTo>
                  <a:lnTo>
                    <a:pt x="16023497" y="9433"/>
                  </a:lnTo>
                  <a:lnTo>
                    <a:pt x="16027398" y="12039"/>
                  </a:lnTo>
                  <a:lnTo>
                    <a:pt x="16031299" y="14645"/>
                  </a:lnTo>
                  <a:lnTo>
                    <a:pt x="16047107" y="31748"/>
                  </a:lnTo>
                  <a:lnTo>
                    <a:pt x="16049713" y="35649"/>
                  </a:lnTo>
                  <a:lnTo>
                    <a:pt x="16057775" y="57500"/>
                  </a:lnTo>
                  <a:lnTo>
                    <a:pt x="16058690" y="62101"/>
                  </a:lnTo>
                  <a:lnTo>
                    <a:pt x="16059147" y="66746"/>
                  </a:lnTo>
                  <a:lnTo>
                    <a:pt x="16059148" y="71437"/>
                  </a:lnTo>
                  <a:lnTo>
                    <a:pt x="16059148" y="9796461"/>
                  </a:lnTo>
                  <a:lnTo>
                    <a:pt x="16059147" y="9801152"/>
                  </a:lnTo>
                  <a:lnTo>
                    <a:pt x="16058689" y="9805797"/>
                  </a:lnTo>
                  <a:lnTo>
                    <a:pt x="16057774" y="9810398"/>
                  </a:lnTo>
                  <a:lnTo>
                    <a:pt x="16056858" y="9814998"/>
                  </a:lnTo>
                  <a:lnTo>
                    <a:pt x="16034907" y="9850291"/>
                  </a:lnTo>
                  <a:lnTo>
                    <a:pt x="15997046" y="9867441"/>
                  </a:lnTo>
                  <a:lnTo>
                    <a:pt x="15992401" y="9867899"/>
                  </a:lnTo>
                  <a:lnTo>
                    <a:pt x="15987711" y="9867899"/>
                  </a:lnTo>
                  <a:lnTo>
                    <a:pt x="71437" y="9867899"/>
                  </a:lnTo>
                  <a:lnTo>
                    <a:pt x="66746" y="9867899"/>
                  </a:lnTo>
                  <a:lnTo>
                    <a:pt x="62101" y="9867441"/>
                  </a:lnTo>
                  <a:lnTo>
                    <a:pt x="24240" y="9850291"/>
                  </a:lnTo>
                  <a:lnTo>
                    <a:pt x="2287" y="9814998"/>
                  </a:lnTo>
                  <a:lnTo>
                    <a:pt x="1372" y="9810398"/>
                  </a:lnTo>
                  <a:lnTo>
                    <a:pt x="457" y="9805797"/>
                  </a:lnTo>
                  <a:lnTo>
                    <a:pt x="0" y="9801152"/>
                  </a:lnTo>
                  <a:lnTo>
                    <a:pt x="0" y="9796461"/>
                  </a:lnTo>
                  <a:close/>
                </a:path>
              </a:pathLst>
            </a:custGeom>
            <a:ln w="9524">
              <a:solidFill>
                <a:srgbClr val="E6E6E6"/>
              </a:solidFill>
            </a:ln>
          </p:spPr>
          <p:txBody>
            <a:bodyPr wrap="square" lIns="0" tIns="0" rIns="0" bIns="0" rtlCol="0"/>
            <a:lstStyle/>
            <a:p>
              <a:endParaRPr/>
            </a:p>
          </p:txBody>
        </p:sp>
      </p:grpSp>
      <p:sp>
        <p:nvSpPr>
          <p:cNvPr id="7" name="object 7" descr="$PPTXTitle"/>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270">
                <a:latin typeface="BIZ UDPGothic"/>
                <a:cs typeface="BIZ UDPGothic"/>
              </a:rPr>
              <a:t>商品</a:t>
            </a:r>
            <a:r>
              <a:rPr spc="-270">
                <a:latin typeface="Adobe Clean Han ExtraBold"/>
                <a:cs typeface="Adobe Clean Han ExtraBold"/>
              </a:rPr>
              <a:t>別</a:t>
            </a:r>
            <a:r>
              <a:rPr sz="2050" b="0" spc="55">
                <a:latin typeface="Gadugi"/>
                <a:cs typeface="Gadugi"/>
              </a:rPr>
              <a:t>_</a:t>
            </a:r>
            <a:r>
              <a:rPr spc="-270">
                <a:latin typeface="BIZ UDPGothic"/>
                <a:cs typeface="BIZ UDPGothic"/>
              </a:rPr>
              <a:t>売上</a:t>
            </a:r>
            <a:r>
              <a:rPr spc="-300"/>
              <a:t>ランキング</a:t>
            </a:r>
            <a:endParaRPr sz="2050">
              <a:latin typeface="BIZ UDPGothic"/>
              <a:cs typeface="BIZ UDPGothic"/>
            </a:endParaRPr>
          </a:p>
        </p:txBody>
      </p:sp>
      <p:grpSp>
        <p:nvGrpSpPr>
          <p:cNvPr id="8" name="object 8"/>
          <p:cNvGrpSpPr/>
          <p:nvPr/>
        </p:nvGrpSpPr>
        <p:grpSpPr>
          <a:xfrm>
            <a:off x="4430701" y="2159133"/>
            <a:ext cx="7143115" cy="7024370"/>
            <a:chOff x="4430701" y="2159133"/>
            <a:chExt cx="7143115" cy="7024370"/>
          </a:xfrm>
        </p:grpSpPr>
        <p:sp>
          <p:nvSpPr>
            <p:cNvPr id="9" name="object 9"/>
            <p:cNvSpPr/>
            <p:nvPr/>
          </p:nvSpPr>
          <p:spPr>
            <a:xfrm>
              <a:off x="4961112" y="2404416"/>
              <a:ext cx="6603365" cy="6756400"/>
            </a:xfrm>
            <a:custGeom>
              <a:avLst/>
              <a:gdLst/>
              <a:ahLst/>
              <a:cxnLst/>
              <a:rect l="l" t="t" r="r" b="b"/>
              <a:pathLst>
                <a:path w="6603365" h="6756400">
                  <a:moveTo>
                    <a:pt x="3928069" y="6692900"/>
                  </a:moveTo>
                  <a:lnTo>
                    <a:pt x="2504501" y="6692900"/>
                  </a:lnTo>
                  <a:lnTo>
                    <a:pt x="2428882" y="6667500"/>
                  </a:lnTo>
                  <a:lnTo>
                    <a:pt x="2353730" y="6654800"/>
                  </a:lnTo>
                  <a:lnTo>
                    <a:pt x="1842191" y="6477000"/>
                  </a:lnTo>
                  <a:lnTo>
                    <a:pt x="1806848" y="6451600"/>
                  </a:lnTo>
                  <a:lnTo>
                    <a:pt x="1736725" y="6426200"/>
                  </a:lnTo>
                  <a:lnTo>
                    <a:pt x="1701954" y="6400800"/>
                  </a:lnTo>
                  <a:lnTo>
                    <a:pt x="1633003" y="6375400"/>
                  </a:lnTo>
                  <a:lnTo>
                    <a:pt x="1598840" y="6350000"/>
                  </a:lnTo>
                  <a:lnTo>
                    <a:pt x="1564890" y="6337300"/>
                  </a:lnTo>
                  <a:lnTo>
                    <a:pt x="1531151" y="6311900"/>
                  </a:lnTo>
                  <a:lnTo>
                    <a:pt x="1497633" y="6299200"/>
                  </a:lnTo>
                  <a:lnTo>
                    <a:pt x="1431285" y="6248400"/>
                  </a:lnTo>
                  <a:lnTo>
                    <a:pt x="1398455" y="6235700"/>
                  </a:lnTo>
                  <a:lnTo>
                    <a:pt x="1365864" y="6210300"/>
                  </a:lnTo>
                  <a:lnTo>
                    <a:pt x="1333519" y="6197600"/>
                  </a:lnTo>
                  <a:lnTo>
                    <a:pt x="1301420" y="6172200"/>
                  </a:lnTo>
                  <a:lnTo>
                    <a:pt x="1206638" y="6096000"/>
                  </a:lnTo>
                  <a:lnTo>
                    <a:pt x="1175567" y="6083300"/>
                  </a:lnTo>
                  <a:lnTo>
                    <a:pt x="1144760" y="6057900"/>
                  </a:lnTo>
                  <a:lnTo>
                    <a:pt x="1083967" y="6007100"/>
                  </a:lnTo>
                  <a:lnTo>
                    <a:pt x="1024291" y="5956300"/>
                  </a:lnTo>
                  <a:lnTo>
                    <a:pt x="965764" y="5905500"/>
                  </a:lnTo>
                  <a:lnTo>
                    <a:pt x="908415" y="5854700"/>
                  </a:lnTo>
                  <a:lnTo>
                    <a:pt x="852275" y="5803900"/>
                  </a:lnTo>
                  <a:lnTo>
                    <a:pt x="797374" y="5753100"/>
                  </a:lnTo>
                  <a:lnTo>
                    <a:pt x="770395" y="5715000"/>
                  </a:lnTo>
                  <a:lnTo>
                    <a:pt x="743740" y="5689600"/>
                  </a:lnTo>
                  <a:lnTo>
                    <a:pt x="717409" y="5664200"/>
                  </a:lnTo>
                  <a:lnTo>
                    <a:pt x="691401" y="5638800"/>
                  </a:lnTo>
                  <a:lnTo>
                    <a:pt x="665724" y="5600700"/>
                  </a:lnTo>
                  <a:lnTo>
                    <a:pt x="640385" y="5575300"/>
                  </a:lnTo>
                  <a:lnTo>
                    <a:pt x="615383" y="5549900"/>
                  </a:lnTo>
                  <a:lnTo>
                    <a:pt x="590718" y="5511800"/>
                  </a:lnTo>
                  <a:lnTo>
                    <a:pt x="566397" y="5486400"/>
                  </a:lnTo>
                  <a:lnTo>
                    <a:pt x="542427" y="5461000"/>
                  </a:lnTo>
                  <a:lnTo>
                    <a:pt x="518806" y="5422900"/>
                  </a:lnTo>
                  <a:lnTo>
                    <a:pt x="495536" y="5397500"/>
                  </a:lnTo>
                  <a:lnTo>
                    <a:pt x="472623" y="5359400"/>
                  </a:lnTo>
                  <a:lnTo>
                    <a:pt x="450071" y="5334000"/>
                  </a:lnTo>
                  <a:lnTo>
                    <a:pt x="427882" y="5295900"/>
                  </a:lnTo>
                  <a:lnTo>
                    <a:pt x="406055" y="5270500"/>
                  </a:lnTo>
                  <a:lnTo>
                    <a:pt x="384596" y="5232400"/>
                  </a:lnTo>
                  <a:lnTo>
                    <a:pt x="363511" y="5207000"/>
                  </a:lnTo>
                  <a:lnTo>
                    <a:pt x="342799" y="5168900"/>
                  </a:lnTo>
                  <a:lnTo>
                    <a:pt x="322461" y="5130800"/>
                  </a:lnTo>
                  <a:lnTo>
                    <a:pt x="302502" y="5105400"/>
                  </a:lnTo>
                  <a:lnTo>
                    <a:pt x="282927" y="5067300"/>
                  </a:lnTo>
                  <a:lnTo>
                    <a:pt x="263736" y="5041900"/>
                  </a:lnTo>
                  <a:lnTo>
                    <a:pt x="244930" y="5003800"/>
                  </a:lnTo>
                  <a:lnTo>
                    <a:pt x="226513" y="4965700"/>
                  </a:lnTo>
                  <a:lnTo>
                    <a:pt x="208489" y="4927600"/>
                  </a:lnTo>
                  <a:lnTo>
                    <a:pt x="190860" y="4902200"/>
                  </a:lnTo>
                  <a:lnTo>
                    <a:pt x="173625" y="4864100"/>
                  </a:lnTo>
                  <a:lnTo>
                    <a:pt x="156788" y="4826000"/>
                  </a:lnTo>
                  <a:lnTo>
                    <a:pt x="140354" y="4787900"/>
                  </a:lnTo>
                  <a:lnTo>
                    <a:pt x="124322" y="4762500"/>
                  </a:lnTo>
                  <a:lnTo>
                    <a:pt x="108694" y="4724400"/>
                  </a:lnTo>
                  <a:lnTo>
                    <a:pt x="93473" y="4686300"/>
                  </a:lnTo>
                  <a:lnTo>
                    <a:pt x="78663" y="4648200"/>
                  </a:lnTo>
                  <a:lnTo>
                    <a:pt x="64263" y="4610100"/>
                  </a:lnTo>
                  <a:lnTo>
                    <a:pt x="50275" y="4584700"/>
                  </a:lnTo>
                  <a:lnTo>
                    <a:pt x="36701" y="4546600"/>
                  </a:lnTo>
                  <a:lnTo>
                    <a:pt x="23545" y="4508500"/>
                  </a:lnTo>
                  <a:lnTo>
                    <a:pt x="10808" y="4470400"/>
                  </a:lnTo>
                  <a:lnTo>
                    <a:pt x="0" y="4432300"/>
                  </a:lnTo>
                  <a:lnTo>
                    <a:pt x="3216099" y="3378200"/>
                  </a:lnTo>
                  <a:lnTo>
                    <a:pt x="3216099" y="0"/>
                  </a:lnTo>
                  <a:lnTo>
                    <a:pt x="3525775" y="0"/>
                  </a:lnTo>
                  <a:lnTo>
                    <a:pt x="3577226" y="12700"/>
                  </a:lnTo>
                  <a:lnTo>
                    <a:pt x="3628568" y="12700"/>
                  </a:lnTo>
                  <a:lnTo>
                    <a:pt x="3679803" y="25400"/>
                  </a:lnTo>
                  <a:lnTo>
                    <a:pt x="3730929" y="25400"/>
                  </a:lnTo>
                  <a:lnTo>
                    <a:pt x="3832858" y="50800"/>
                  </a:lnTo>
                  <a:lnTo>
                    <a:pt x="3883625" y="50800"/>
                  </a:lnTo>
                  <a:lnTo>
                    <a:pt x="4233842" y="139700"/>
                  </a:lnTo>
                  <a:lnTo>
                    <a:pt x="4283003" y="165100"/>
                  </a:lnTo>
                  <a:lnTo>
                    <a:pt x="4380580" y="190500"/>
                  </a:lnTo>
                  <a:lnTo>
                    <a:pt x="4428995" y="215900"/>
                  </a:lnTo>
                  <a:lnTo>
                    <a:pt x="4477128" y="228600"/>
                  </a:lnTo>
                  <a:lnTo>
                    <a:pt x="4524946" y="254000"/>
                  </a:lnTo>
                  <a:lnTo>
                    <a:pt x="4572447" y="266700"/>
                  </a:lnTo>
                  <a:lnTo>
                    <a:pt x="4713055" y="342900"/>
                  </a:lnTo>
                  <a:lnTo>
                    <a:pt x="4759260" y="355600"/>
                  </a:lnTo>
                  <a:lnTo>
                    <a:pt x="4850529" y="406400"/>
                  </a:lnTo>
                  <a:lnTo>
                    <a:pt x="5028478" y="508000"/>
                  </a:lnTo>
                  <a:lnTo>
                    <a:pt x="5071914" y="546100"/>
                  </a:lnTo>
                  <a:lnTo>
                    <a:pt x="5157483" y="596900"/>
                  </a:lnTo>
                  <a:lnTo>
                    <a:pt x="5199605" y="635000"/>
                  </a:lnTo>
                  <a:lnTo>
                    <a:pt x="5282556" y="685800"/>
                  </a:lnTo>
                  <a:lnTo>
                    <a:pt x="5323198" y="723900"/>
                  </a:lnTo>
                  <a:lnTo>
                    <a:pt x="5363405" y="762000"/>
                  </a:lnTo>
                  <a:lnTo>
                    <a:pt x="5403112" y="787400"/>
                  </a:lnTo>
                  <a:lnTo>
                    <a:pt x="5442319" y="825500"/>
                  </a:lnTo>
                  <a:lnTo>
                    <a:pt x="5481025" y="863600"/>
                  </a:lnTo>
                  <a:lnTo>
                    <a:pt x="5519205" y="889000"/>
                  </a:lnTo>
                  <a:lnTo>
                    <a:pt x="5556831" y="927100"/>
                  </a:lnTo>
                  <a:lnTo>
                    <a:pt x="5593902" y="965200"/>
                  </a:lnTo>
                  <a:lnTo>
                    <a:pt x="5630420" y="1003300"/>
                  </a:lnTo>
                  <a:lnTo>
                    <a:pt x="5666384" y="1041400"/>
                  </a:lnTo>
                  <a:lnTo>
                    <a:pt x="5701795" y="1079500"/>
                  </a:lnTo>
                  <a:lnTo>
                    <a:pt x="5736627" y="1117600"/>
                  </a:lnTo>
                  <a:lnTo>
                    <a:pt x="5770856" y="1155700"/>
                  </a:lnTo>
                  <a:lnTo>
                    <a:pt x="5804482" y="1193800"/>
                  </a:lnTo>
                  <a:lnTo>
                    <a:pt x="5837505" y="1231900"/>
                  </a:lnTo>
                  <a:lnTo>
                    <a:pt x="5869925" y="1270000"/>
                  </a:lnTo>
                  <a:lnTo>
                    <a:pt x="5901742" y="1308100"/>
                  </a:lnTo>
                  <a:lnTo>
                    <a:pt x="5932935" y="1358900"/>
                  </a:lnTo>
                  <a:lnTo>
                    <a:pt x="5963480" y="1397000"/>
                  </a:lnTo>
                  <a:lnTo>
                    <a:pt x="5993379" y="1435100"/>
                  </a:lnTo>
                  <a:lnTo>
                    <a:pt x="6022642" y="1473200"/>
                  </a:lnTo>
                  <a:lnTo>
                    <a:pt x="6051235" y="1524000"/>
                  </a:lnTo>
                  <a:lnTo>
                    <a:pt x="6079193" y="1562100"/>
                  </a:lnTo>
                  <a:lnTo>
                    <a:pt x="6106484" y="1612900"/>
                  </a:lnTo>
                  <a:lnTo>
                    <a:pt x="6133090" y="1651000"/>
                  </a:lnTo>
                  <a:lnTo>
                    <a:pt x="6159011" y="1701800"/>
                  </a:lnTo>
                  <a:lnTo>
                    <a:pt x="6184246" y="1739900"/>
                  </a:lnTo>
                  <a:lnTo>
                    <a:pt x="6208796" y="1790700"/>
                  </a:lnTo>
                  <a:lnTo>
                    <a:pt x="6232660" y="1841500"/>
                  </a:lnTo>
                  <a:lnTo>
                    <a:pt x="6255822" y="1879600"/>
                  </a:lnTo>
                  <a:lnTo>
                    <a:pt x="6278266" y="1930400"/>
                  </a:lnTo>
                  <a:lnTo>
                    <a:pt x="6299991" y="1981200"/>
                  </a:lnTo>
                  <a:lnTo>
                    <a:pt x="6320998" y="2019300"/>
                  </a:lnTo>
                  <a:lnTo>
                    <a:pt x="6341287" y="2070100"/>
                  </a:lnTo>
                  <a:lnTo>
                    <a:pt x="6360857" y="2120900"/>
                  </a:lnTo>
                  <a:lnTo>
                    <a:pt x="6379696" y="2171700"/>
                  </a:lnTo>
                  <a:lnTo>
                    <a:pt x="6397790" y="2209800"/>
                  </a:lnTo>
                  <a:lnTo>
                    <a:pt x="6415138" y="2260600"/>
                  </a:lnTo>
                  <a:lnTo>
                    <a:pt x="6431742" y="2311400"/>
                  </a:lnTo>
                  <a:lnTo>
                    <a:pt x="6447600" y="2362200"/>
                  </a:lnTo>
                  <a:lnTo>
                    <a:pt x="6462713" y="2413000"/>
                  </a:lnTo>
                  <a:lnTo>
                    <a:pt x="6477070" y="2463800"/>
                  </a:lnTo>
                  <a:lnTo>
                    <a:pt x="6490662" y="2514600"/>
                  </a:lnTo>
                  <a:lnTo>
                    <a:pt x="6503488" y="2565400"/>
                  </a:lnTo>
                  <a:lnTo>
                    <a:pt x="6515548" y="2616200"/>
                  </a:lnTo>
                  <a:lnTo>
                    <a:pt x="6526801" y="2667000"/>
                  </a:lnTo>
                  <a:lnTo>
                    <a:pt x="6537329" y="2705100"/>
                  </a:lnTo>
                  <a:lnTo>
                    <a:pt x="6544643" y="2743200"/>
                  </a:lnTo>
                  <a:lnTo>
                    <a:pt x="6547044" y="2768600"/>
                  </a:lnTo>
                  <a:lnTo>
                    <a:pt x="6556077" y="2819400"/>
                  </a:lnTo>
                  <a:lnTo>
                    <a:pt x="6564300" y="2870200"/>
                  </a:lnTo>
                  <a:lnTo>
                    <a:pt x="6571717" y="2921000"/>
                  </a:lnTo>
                  <a:lnTo>
                    <a:pt x="6578353" y="2971800"/>
                  </a:lnTo>
                  <a:lnTo>
                    <a:pt x="6584210" y="3022600"/>
                  </a:lnTo>
                  <a:lnTo>
                    <a:pt x="6589283" y="3073400"/>
                  </a:lnTo>
                  <a:lnTo>
                    <a:pt x="6593568" y="3124200"/>
                  </a:lnTo>
                  <a:lnTo>
                    <a:pt x="6597066" y="3175000"/>
                  </a:lnTo>
                  <a:lnTo>
                    <a:pt x="6599776" y="3225800"/>
                  </a:lnTo>
                  <a:lnTo>
                    <a:pt x="6601698" y="3276600"/>
                  </a:lnTo>
                  <a:lnTo>
                    <a:pt x="6602890" y="3327400"/>
                  </a:lnTo>
                  <a:lnTo>
                    <a:pt x="6603074" y="3365500"/>
                  </a:lnTo>
                  <a:lnTo>
                    <a:pt x="6603066" y="3378200"/>
                  </a:lnTo>
                  <a:lnTo>
                    <a:pt x="6602544" y="3441700"/>
                  </a:lnTo>
                  <a:lnTo>
                    <a:pt x="6601606" y="3479800"/>
                  </a:lnTo>
                  <a:lnTo>
                    <a:pt x="6600109" y="3517900"/>
                  </a:lnTo>
                  <a:lnTo>
                    <a:pt x="6598238" y="3556000"/>
                  </a:lnTo>
                  <a:lnTo>
                    <a:pt x="6595936" y="3594100"/>
                  </a:lnTo>
                  <a:lnTo>
                    <a:pt x="6593198" y="3632200"/>
                  </a:lnTo>
                  <a:lnTo>
                    <a:pt x="6589884" y="3670300"/>
                  </a:lnTo>
                  <a:lnTo>
                    <a:pt x="6588581" y="3683000"/>
                  </a:lnTo>
                  <a:lnTo>
                    <a:pt x="6586117" y="3708400"/>
                  </a:lnTo>
                  <a:lnTo>
                    <a:pt x="6582127" y="3746500"/>
                  </a:lnTo>
                  <a:lnTo>
                    <a:pt x="6577591" y="3797300"/>
                  </a:lnTo>
                  <a:lnTo>
                    <a:pt x="6572615" y="3835400"/>
                  </a:lnTo>
                  <a:lnTo>
                    <a:pt x="6567200" y="3873500"/>
                  </a:lnTo>
                  <a:lnTo>
                    <a:pt x="6561346" y="3911600"/>
                  </a:lnTo>
                  <a:lnTo>
                    <a:pt x="6555052" y="3949700"/>
                  </a:lnTo>
                  <a:lnTo>
                    <a:pt x="6548322" y="3987800"/>
                  </a:lnTo>
                  <a:lnTo>
                    <a:pt x="6541156" y="4025900"/>
                  </a:lnTo>
                  <a:lnTo>
                    <a:pt x="6533554" y="4064000"/>
                  </a:lnTo>
                  <a:lnTo>
                    <a:pt x="6525517" y="4102100"/>
                  </a:lnTo>
                  <a:lnTo>
                    <a:pt x="6517047" y="4140200"/>
                  </a:lnTo>
                  <a:lnTo>
                    <a:pt x="6508145" y="4178300"/>
                  </a:lnTo>
                  <a:lnTo>
                    <a:pt x="6498812" y="4203700"/>
                  </a:lnTo>
                  <a:lnTo>
                    <a:pt x="6489049" y="4241800"/>
                  </a:lnTo>
                  <a:lnTo>
                    <a:pt x="6478856" y="4279900"/>
                  </a:lnTo>
                  <a:lnTo>
                    <a:pt x="6468237" y="4318000"/>
                  </a:lnTo>
                  <a:lnTo>
                    <a:pt x="6457192" y="4356100"/>
                  </a:lnTo>
                  <a:lnTo>
                    <a:pt x="6445721" y="4394200"/>
                  </a:lnTo>
                  <a:lnTo>
                    <a:pt x="6433828" y="4432300"/>
                  </a:lnTo>
                  <a:lnTo>
                    <a:pt x="6421514" y="4470400"/>
                  </a:lnTo>
                  <a:lnTo>
                    <a:pt x="6408781" y="4508500"/>
                  </a:lnTo>
                  <a:lnTo>
                    <a:pt x="6395628" y="4546600"/>
                  </a:lnTo>
                  <a:lnTo>
                    <a:pt x="6382058" y="4584700"/>
                  </a:lnTo>
                  <a:lnTo>
                    <a:pt x="6368075" y="4610100"/>
                  </a:lnTo>
                  <a:lnTo>
                    <a:pt x="6353680" y="4648200"/>
                  </a:lnTo>
                  <a:lnTo>
                    <a:pt x="6338872" y="4686300"/>
                  </a:lnTo>
                  <a:lnTo>
                    <a:pt x="6323655" y="4724400"/>
                  </a:lnTo>
                  <a:lnTo>
                    <a:pt x="6308032" y="4762500"/>
                  </a:lnTo>
                  <a:lnTo>
                    <a:pt x="6292005" y="4787900"/>
                  </a:lnTo>
                  <a:lnTo>
                    <a:pt x="6275573" y="4826000"/>
                  </a:lnTo>
                  <a:lnTo>
                    <a:pt x="6258740" y="4864100"/>
                  </a:lnTo>
                  <a:lnTo>
                    <a:pt x="6241511" y="4902200"/>
                  </a:lnTo>
                  <a:lnTo>
                    <a:pt x="6223885" y="4927600"/>
                  </a:lnTo>
                  <a:lnTo>
                    <a:pt x="6205863" y="4965700"/>
                  </a:lnTo>
                  <a:lnTo>
                    <a:pt x="6187450" y="5003800"/>
                  </a:lnTo>
                  <a:lnTo>
                    <a:pt x="6168650" y="5029200"/>
                  </a:lnTo>
                  <a:lnTo>
                    <a:pt x="6149463" y="5067300"/>
                  </a:lnTo>
                  <a:lnTo>
                    <a:pt x="6129890" y="5105400"/>
                  </a:lnTo>
                  <a:lnTo>
                    <a:pt x="6109934" y="5130800"/>
                  </a:lnTo>
                  <a:lnTo>
                    <a:pt x="6089603" y="5168900"/>
                  </a:lnTo>
                  <a:lnTo>
                    <a:pt x="6068895" y="5207000"/>
                  </a:lnTo>
                  <a:lnTo>
                    <a:pt x="6047810" y="5232400"/>
                  </a:lnTo>
                  <a:lnTo>
                    <a:pt x="6026355" y="5270500"/>
                  </a:lnTo>
                  <a:lnTo>
                    <a:pt x="6004535" y="5295900"/>
                  </a:lnTo>
                  <a:lnTo>
                    <a:pt x="5982349" y="5334000"/>
                  </a:lnTo>
                  <a:lnTo>
                    <a:pt x="5959798" y="5359400"/>
                  </a:lnTo>
                  <a:lnTo>
                    <a:pt x="5936888" y="5397500"/>
                  </a:lnTo>
                  <a:lnTo>
                    <a:pt x="5913624" y="5422900"/>
                  </a:lnTo>
                  <a:lnTo>
                    <a:pt x="5890007" y="5461000"/>
                  </a:lnTo>
                  <a:lnTo>
                    <a:pt x="5866037" y="5486400"/>
                  </a:lnTo>
                  <a:lnTo>
                    <a:pt x="5841720" y="5511800"/>
                  </a:lnTo>
                  <a:lnTo>
                    <a:pt x="5817062" y="5549900"/>
                  </a:lnTo>
                  <a:lnTo>
                    <a:pt x="5792063" y="5575300"/>
                  </a:lnTo>
                  <a:lnTo>
                    <a:pt x="5766724" y="5600700"/>
                  </a:lnTo>
                  <a:lnTo>
                    <a:pt x="5741050" y="5638800"/>
                  </a:lnTo>
                  <a:lnTo>
                    <a:pt x="5715049" y="5664200"/>
                  </a:lnTo>
                  <a:lnTo>
                    <a:pt x="5688721" y="5689600"/>
                  </a:lnTo>
                  <a:lnTo>
                    <a:pt x="5662065" y="5715000"/>
                  </a:lnTo>
                  <a:lnTo>
                    <a:pt x="5635089" y="5740400"/>
                  </a:lnTo>
                  <a:lnTo>
                    <a:pt x="5607800" y="5778500"/>
                  </a:lnTo>
                  <a:lnTo>
                    <a:pt x="5524061" y="5854700"/>
                  </a:lnTo>
                  <a:lnTo>
                    <a:pt x="5466722" y="5905500"/>
                  </a:lnTo>
                  <a:lnTo>
                    <a:pt x="5408196" y="5956300"/>
                  </a:lnTo>
                  <a:lnTo>
                    <a:pt x="5348530" y="6007100"/>
                  </a:lnTo>
                  <a:lnTo>
                    <a:pt x="5287739" y="6057900"/>
                  </a:lnTo>
                  <a:lnTo>
                    <a:pt x="5256938" y="6083300"/>
                  </a:lnTo>
                  <a:lnTo>
                    <a:pt x="5225870" y="6096000"/>
                  </a:lnTo>
                  <a:lnTo>
                    <a:pt x="5131095" y="6172200"/>
                  </a:lnTo>
                  <a:lnTo>
                    <a:pt x="5098999" y="6184900"/>
                  </a:lnTo>
                  <a:lnTo>
                    <a:pt x="5034063" y="6235700"/>
                  </a:lnTo>
                  <a:lnTo>
                    <a:pt x="5001240" y="6248400"/>
                  </a:lnTo>
                  <a:lnTo>
                    <a:pt x="4934892" y="6299200"/>
                  </a:lnTo>
                  <a:lnTo>
                    <a:pt x="4901377" y="6311900"/>
                  </a:lnTo>
                  <a:lnTo>
                    <a:pt x="4867644" y="6337300"/>
                  </a:lnTo>
                  <a:lnTo>
                    <a:pt x="4833696" y="6350000"/>
                  </a:lnTo>
                  <a:lnTo>
                    <a:pt x="4799531" y="6375400"/>
                  </a:lnTo>
                  <a:lnTo>
                    <a:pt x="4730588" y="6400800"/>
                  </a:lnTo>
                  <a:lnTo>
                    <a:pt x="4695819" y="6426200"/>
                  </a:lnTo>
                  <a:lnTo>
                    <a:pt x="4625695" y="6451600"/>
                  </a:lnTo>
                  <a:lnTo>
                    <a:pt x="4590359" y="6477000"/>
                  </a:lnTo>
                  <a:lnTo>
                    <a:pt x="4078861" y="6654800"/>
                  </a:lnTo>
                  <a:lnTo>
                    <a:pt x="4041318" y="6654800"/>
                  </a:lnTo>
                  <a:lnTo>
                    <a:pt x="3928069" y="6692900"/>
                  </a:lnTo>
                  <a:close/>
                </a:path>
                <a:path w="6603365" h="6756400">
                  <a:moveTo>
                    <a:pt x="3852094" y="6705600"/>
                  </a:moveTo>
                  <a:lnTo>
                    <a:pt x="2580483" y="6705600"/>
                  </a:lnTo>
                  <a:lnTo>
                    <a:pt x="2542448" y="6692900"/>
                  </a:lnTo>
                  <a:lnTo>
                    <a:pt x="3890123" y="6692900"/>
                  </a:lnTo>
                  <a:lnTo>
                    <a:pt x="3852094" y="6705600"/>
                  </a:lnTo>
                  <a:close/>
                </a:path>
                <a:path w="6603365" h="6756400">
                  <a:moveTo>
                    <a:pt x="3775785" y="6718300"/>
                  </a:moveTo>
                  <a:lnTo>
                    <a:pt x="2656788" y="6718300"/>
                  </a:lnTo>
                  <a:lnTo>
                    <a:pt x="2618596" y="6705600"/>
                  </a:lnTo>
                  <a:lnTo>
                    <a:pt x="3813981" y="6705600"/>
                  </a:lnTo>
                  <a:lnTo>
                    <a:pt x="3775785" y="6718300"/>
                  </a:lnTo>
                  <a:close/>
                </a:path>
                <a:path w="6603365" h="6756400">
                  <a:moveTo>
                    <a:pt x="3699184" y="6731000"/>
                  </a:moveTo>
                  <a:lnTo>
                    <a:pt x="2733396" y="6731000"/>
                  </a:lnTo>
                  <a:lnTo>
                    <a:pt x="2709822" y="6718300"/>
                  </a:lnTo>
                  <a:lnTo>
                    <a:pt x="3722370" y="6718300"/>
                  </a:lnTo>
                  <a:lnTo>
                    <a:pt x="3699184" y="6731000"/>
                  </a:lnTo>
                  <a:close/>
                </a:path>
                <a:path w="6603365" h="6756400">
                  <a:moveTo>
                    <a:pt x="3622329" y="6743700"/>
                  </a:moveTo>
                  <a:lnTo>
                    <a:pt x="2810246" y="6743700"/>
                  </a:lnTo>
                  <a:lnTo>
                    <a:pt x="2771792" y="6731000"/>
                  </a:lnTo>
                  <a:lnTo>
                    <a:pt x="3660788" y="6731000"/>
                  </a:lnTo>
                  <a:lnTo>
                    <a:pt x="3622329" y="6743700"/>
                  </a:lnTo>
                  <a:close/>
                </a:path>
                <a:path w="6603365" h="6756400">
                  <a:moveTo>
                    <a:pt x="3506663" y="6756400"/>
                  </a:moveTo>
                  <a:lnTo>
                    <a:pt x="2925919" y="6756400"/>
                  </a:lnTo>
                  <a:lnTo>
                    <a:pt x="2923183" y="6743700"/>
                  </a:lnTo>
                  <a:lnTo>
                    <a:pt x="3509032" y="6743700"/>
                  </a:lnTo>
                  <a:lnTo>
                    <a:pt x="3506663" y="6756400"/>
                  </a:lnTo>
                  <a:close/>
                </a:path>
              </a:pathLst>
            </a:custGeom>
            <a:solidFill>
              <a:srgbClr val="118CFF"/>
            </a:solidFill>
          </p:spPr>
          <p:txBody>
            <a:bodyPr wrap="square" lIns="0" tIns="0" rIns="0" bIns="0" rtlCol="0"/>
            <a:lstStyle/>
            <a:p>
              <a:endParaRPr/>
            </a:p>
          </p:txBody>
        </p:sp>
        <p:sp>
          <p:nvSpPr>
            <p:cNvPr id="10" name="object 10"/>
            <p:cNvSpPr/>
            <p:nvPr/>
          </p:nvSpPr>
          <p:spPr>
            <a:xfrm>
              <a:off x="4961112" y="2404416"/>
              <a:ext cx="6603365" cy="6769100"/>
            </a:xfrm>
            <a:custGeom>
              <a:avLst/>
              <a:gdLst/>
              <a:ahLst/>
              <a:cxnLst/>
              <a:rect l="l" t="t" r="r" b="b"/>
              <a:pathLst>
                <a:path w="6603365" h="6769100">
                  <a:moveTo>
                    <a:pt x="3509031" y="6756399"/>
                  </a:moveTo>
                  <a:lnTo>
                    <a:pt x="3468022" y="6759721"/>
                  </a:lnTo>
                  <a:lnTo>
                    <a:pt x="3429347" y="6762383"/>
                  </a:lnTo>
                  <a:lnTo>
                    <a:pt x="3390650" y="6764602"/>
                  </a:lnTo>
                  <a:lnTo>
                    <a:pt x="3351929" y="6766378"/>
                  </a:lnTo>
                  <a:lnTo>
                    <a:pt x="3313186" y="6767711"/>
                  </a:lnTo>
                  <a:lnTo>
                    <a:pt x="3274430" y="6768600"/>
                  </a:lnTo>
                  <a:lnTo>
                    <a:pt x="3235672" y="6769099"/>
                  </a:lnTo>
                  <a:lnTo>
                    <a:pt x="3196911" y="6769099"/>
                  </a:lnTo>
                  <a:lnTo>
                    <a:pt x="3158148" y="6768607"/>
                  </a:lnTo>
                  <a:lnTo>
                    <a:pt x="3119392" y="6767722"/>
                  </a:lnTo>
                  <a:lnTo>
                    <a:pt x="3080653" y="6766394"/>
                  </a:lnTo>
                  <a:lnTo>
                    <a:pt x="3041933" y="6764622"/>
                  </a:lnTo>
                  <a:lnTo>
                    <a:pt x="3003230" y="6762408"/>
                  </a:lnTo>
                  <a:lnTo>
                    <a:pt x="2964555" y="6759750"/>
                  </a:lnTo>
                  <a:lnTo>
                    <a:pt x="2925919" y="6756650"/>
                  </a:lnTo>
                  <a:lnTo>
                    <a:pt x="2923183" y="6756399"/>
                  </a:lnTo>
                </a:path>
                <a:path w="6603365" h="6769100">
                  <a:moveTo>
                    <a:pt x="3722370" y="6730999"/>
                  </a:moveTo>
                  <a:lnTo>
                    <a:pt x="3660788" y="6739785"/>
                  </a:lnTo>
                  <a:lnTo>
                    <a:pt x="3622329" y="6744654"/>
                  </a:lnTo>
                  <a:lnTo>
                    <a:pt x="3583817" y="6749083"/>
                  </a:lnTo>
                  <a:lnTo>
                    <a:pt x="3545262" y="6753071"/>
                  </a:lnTo>
                  <a:lnTo>
                    <a:pt x="3509031" y="6756399"/>
                  </a:lnTo>
                </a:path>
                <a:path w="6603365" h="6769100">
                  <a:moveTo>
                    <a:pt x="2923183" y="6756399"/>
                  </a:moveTo>
                  <a:lnTo>
                    <a:pt x="2848759" y="6749125"/>
                  </a:lnTo>
                  <a:lnTo>
                    <a:pt x="2810246" y="6744700"/>
                  </a:lnTo>
                  <a:lnTo>
                    <a:pt x="2771792" y="6739836"/>
                  </a:lnTo>
                  <a:lnTo>
                    <a:pt x="2733395" y="6734531"/>
                  </a:lnTo>
                  <a:lnTo>
                    <a:pt x="2709822" y="6730999"/>
                  </a:lnTo>
                </a:path>
                <a:path w="6603365" h="6769100">
                  <a:moveTo>
                    <a:pt x="6526742" y="2667021"/>
                  </a:moveTo>
                  <a:lnTo>
                    <a:pt x="6529462" y="2679637"/>
                  </a:lnTo>
                  <a:lnTo>
                    <a:pt x="6537329" y="2717597"/>
                  </a:lnTo>
                  <a:lnTo>
                    <a:pt x="6544644" y="2755666"/>
                  </a:lnTo>
                  <a:lnTo>
                    <a:pt x="6547044" y="2768615"/>
                  </a:lnTo>
                </a:path>
                <a:path w="6603365" h="6769100">
                  <a:moveTo>
                    <a:pt x="6602870" y="3340099"/>
                  </a:moveTo>
                  <a:lnTo>
                    <a:pt x="6603052" y="3372237"/>
                  </a:lnTo>
                  <a:lnTo>
                    <a:pt x="6603005" y="3410997"/>
                  </a:lnTo>
                  <a:lnTo>
                    <a:pt x="6602544" y="3449755"/>
                  </a:lnTo>
                  <a:lnTo>
                    <a:pt x="6601605" y="3488510"/>
                  </a:lnTo>
                  <a:lnTo>
                    <a:pt x="6600128" y="3527249"/>
                  </a:lnTo>
                  <a:lnTo>
                    <a:pt x="6598238" y="3565965"/>
                  </a:lnTo>
                  <a:lnTo>
                    <a:pt x="6595935" y="3604659"/>
                  </a:lnTo>
                  <a:lnTo>
                    <a:pt x="6593198" y="3643328"/>
                  </a:lnTo>
                  <a:lnTo>
                    <a:pt x="6589891" y="3681954"/>
                  </a:lnTo>
                  <a:lnTo>
                    <a:pt x="6586180" y="3720537"/>
                  </a:lnTo>
                  <a:lnTo>
                    <a:pt x="6582127" y="3759085"/>
                  </a:lnTo>
                  <a:lnTo>
                    <a:pt x="6577591" y="3797585"/>
                  </a:lnTo>
                  <a:lnTo>
                    <a:pt x="6572615" y="3836030"/>
                  </a:lnTo>
                  <a:lnTo>
                    <a:pt x="6567199" y="3874411"/>
                  </a:lnTo>
                  <a:lnTo>
                    <a:pt x="6561345" y="3912728"/>
                  </a:lnTo>
                  <a:lnTo>
                    <a:pt x="6555052" y="3950979"/>
                  </a:lnTo>
                  <a:lnTo>
                    <a:pt x="6548322" y="3989157"/>
                  </a:lnTo>
                  <a:lnTo>
                    <a:pt x="6541156" y="4027250"/>
                  </a:lnTo>
                  <a:lnTo>
                    <a:pt x="6533554" y="4065258"/>
                  </a:lnTo>
                  <a:lnTo>
                    <a:pt x="6525517" y="4103182"/>
                  </a:lnTo>
                  <a:lnTo>
                    <a:pt x="6517046" y="4141011"/>
                  </a:lnTo>
                  <a:lnTo>
                    <a:pt x="6508145" y="4178736"/>
                  </a:lnTo>
                  <a:lnTo>
                    <a:pt x="6498812" y="4216357"/>
                  </a:lnTo>
                  <a:lnTo>
                    <a:pt x="6489048" y="4253873"/>
                  </a:lnTo>
                  <a:lnTo>
                    <a:pt x="6478855" y="4291275"/>
                  </a:lnTo>
                  <a:lnTo>
                    <a:pt x="6468237" y="4328553"/>
                  </a:lnTo>
                  <a:lnTo>
                    <a:pt x="6457192" y="4365707"/>
                  </a:lnTo>
                  <a:lnTo>
                    <a:pt x="6445721" y="4402737"/>
                  </a:lnTo>
                  <a:lnTo>
                    <a:pt x="6433827" y="4439634"/>
                  </a:lnTo>
                  <a:lnTo>
                    <a:pt x="6421514" y="4476387"/>
                  </a:lnTo>
                  <a:lnTo>
                    <a:pt x="6408781" y="4512996"/>
                  </a:lnTo>
                  <a:lnTo>
                    <a:pt x="6395628" y="4549463"/>
                  </a:lnTo>
                  <a:lnTo>
                    <a:pt x="6382058" y="4585776"/>
                  </a:lnTo>
                  <a:lnTo>
                    <a:pt x="6368075" y="4621927"/>
                  </a:lnTo>
                  <a:lnTo>
                    <a:pt x="6353680" y="4657916"/>
                  </a:lnTo>
                  <a:lnTo>
                    <a:pt x="6338872" y="4693742"/>
                  </a:lnTo>
                  <a:lnTo>
                    <a:pt x="6323654" y="4729397"/>
                  </a:lnTo>
                  <a:lnTo>
                    <a:pt x="6308032" y="4764870"/>
                  </a:lnTo>
                  <a:lnTo>
                    <a:pt x="6292005" y="4800162"/>
                  </a:lnTo>
                  <a:lnTo>
                    <a:pt x="6275573" y="4835273"/>
                  </a:lnTo>
                  <a:lnTo>
                    <a:pt x="6258740" y="4870194"/>
                  </a:lnTo>
                  <a:lnTo>
                    <a:pt x="6241510" y="4904915"/>
                  </a:lnTo>
                  <a:lnTo>
                    <a:pt x="6223885" y="4939437"/>
                  </a:lnTo>
                  <a:lnTo>
                    <a:pt x="6205863" y="4973759"/>
                  </a:lnTo>
                  <a:lnTo>
                    <a:pt x="6187450" y="5007873"/>
                  </a:lnTo>
                  <a:lnTo>
                    <a:pt x="6168650" y="5041770"/>
                  </a:lnTo>
                  <a:lnTo>
                    <a:pt x="6149463" y="5075449"/>
                  </a:lnTo>
                  <a:lnTo>
                    <a:pt x="6129889" y="5108910"/>
                  </a:lnTo>
                  <a:lnTo>
                    <a:pt x="6109934" y="5142146"/>
                  </a:lnTo>
                  <a:lnTo>
                    <a:pt x="6089602" y="5175146"/>
                  </a:lnTo>
                  <a:lnTo>
                    <a:pt x="6068894" y="5207912"/>
                  </a:lnTo>
                  <a:lnTo>
                    <a:pt x="6047810" y="5240443"/>
                  </a:lnTo>
                  <a:lnTo>
                    <a:pt x="6026355" y="5272731"/>
                  </a:lnTo>
                  <a:lnTo>
                    <a:pt x="6004534" y="5304766"/>
                  </a:lnTo>
                  <a:lnTo>
                    <a:pt x="5982349" y="5336550"/>
                  </a:lnTo>
                  <a:lnTo>
                    <a:pt x="5959798" y="5368082"/>
                  </a:lnTo>
                  <a:lnTo>
                    <a:pt x="5936888" y="5399354"/>
                  </a:lnTo>
                  <a:lnTo>
                    <a:pt x="5913624" y="5430357"/>
                  </a:lnTo>
                  <a:lnTo>
                    <a:pt x="5890007" y="5461092"/>
                  </a:lnTo>
                  <a:lnTo>
                    <a:pt x="5866037" y="5491559"/>
                  </a:lnTo>
                  <a:lnTo>
                    <a:pt x="5841719" y="5521750"/>
                  </a:lnTo>
                  <a:lnTo>
                    <a:pt x="5817061" y="5551656"/>
                  </a:lnTo>
                  <a:lnTo>
                    <a:pt x="5792063" y="5581278"/>
                  </a:lnTo>
                  <a:lnTo>
                    <a:pt x="5766723" y="5610617"/>
                  </a:lnTo>
                  <a:lnTo>
                    <a:pt x="5741050" y="5639663"/>
                  </a:lnTo>
                  <a:lnTo>
                    <a:pt x="5715049" y="5668409"/>
                  </a:lnTo>
                  <a:lnTo>
                    <a:pt x="5688720" y="5696856"/>
                  </a:lnTo>
                  <a:lnTo>
                    <a:pt x="5662065" y="5725004"/>
                  </a:lnTo>
                  <a:lnTo>
                    <a:pt x="5635089" y="5752845"/>
                  </a:lnTo>
                  <a:lnTo>
                    <a:pt x="5607800" y="5780372"/>
                  </a:lnTo>
                  <a:lnTo>
                    <a:pt x="5580198" y="5807584"/>
                  </a:lnTo>
                  <a:lnTo>
                    <a:pt x="5552282" y="5834483"/>
                  </a:lnTo>
                  <a:lnTo>
                    <a:pt x="5524061" y="5861060"/>
                  </a:lnTo>
                  <a:lnTo>
                    <a:pt x="5495541" y="5887309"/>
                  </a:lnTo>
                  <a:lnTo>
                    <a:pt x="5466722" y="5913230"/>
                  </a:lnTo>
                  <a:lnTo>
                    <a:pt x="5437604" y="5938823"/>
                  </a:lnTo>
                  <a:lnTo>
                    <a:pt x="5408196" y="5964081"/>
                  </a:lnTo>
                  <a:lnTo>
                    <a:pt x="5378505" y="5988997"/>
                  </a:lnTo>
                  <a:lnTo>
                    <a:pt x="5348530" y="6013572"/>
                  </a:lnTo>
                  <a:lnTo>
                    <a:pt x="5318272" y="6037805"/>
                  </a:lnTo>
                  <a:lnTo>
                    <a:pt x="5287739" y="6061691"/>
                  </a:lnTo>
                  <a:lnTo>
                    <a:pt x="5256938" y="6085223"/>
                  </a:lnTo>
                  <a:lnTo>
                    <a:pt x="5225870" y="6108400"/>
                  </a:lnTo>
                  <a:lnTo>
                    <a:pt x="5194535" y="6131224"/>
                  </a:lnTo>
                  <a:lnTo>
                    <a:pt x="5162940" y="6153687"/>
                  </a:lnTo>
                  <a:lnTo>
                    <a:pt x="5131095" y="6175784"/>
                  </a:lnTo>
                  <a:lnTo>
                    <a:pt x="5098999" y="6197516"/>
                  </a:lnTo>
                  <a:lnTo>
                    <a:pt x="5066652" y="6218881"/>
                  </a:lnTo>
                  <a:lnTo>
                    <a:pt x="5034063" y="6239875"/>
                  </a:lnTo>
                  <a:lnTo>
                    <a:pt x="5001240" y="6260492"/>
                  </a:lnTo>
                  <a:lnTo>
                    <a:pt x="4968183" y="6280732"/>
                  </a:lnTo>
                  <a:lnTo>
                    <a:pt x="4934892" y="6300595"/>
                  </a:lnTo>
                  <a:lnTo>
                    <a:pt x="4901376" y="6320075"/>
                  </a:lnTo>
                  <a:lnTo>
                    <a:pt x="4867644" y="6339169"/>
                  </a:lnTo>
                  <a:lnTo>
                    <a:pt x="4833696" y="6357875"/>
                  </a:lnTo>
                  <a:lnTo>
                    <a:pt x="4799531" y="6376193"/>
                  </a:lnTo>
                  <a:lnTo>
                    <a:pt x="4765159" y="6394119"/>
                  </a:lnTo>
                  <a:lnTo>
                    <a:pt x="4730588" y="6411649"/>
                  </a:lnTo>
                  <a:lnTo>
                    <a:pt x="4695819" y="6428782"/>
                  </a:lnTo>
                  <a:lnTo>
                    <a:pt x="4660852" y="6445518"/>
                  </a:lnTo>
                  <a:lnTo>
                    <a:pt x="4625695" y="6461852"/>
                  </a:lnTo>
                  <a:lnTo>
                    <a:pt x="4590359" y="6477782"/>
                  </a:lnTo>
                  <a:lnTo>
                    <a:pt x="4554842" y="6493305"/>
                  </a:lnTo>
                  <a:lnTo>
                    <a:pt x="4519145" y="6508423"/>
                  </a:lnTo>
                  <a:lnTo>
                    <a:pt x="4483278" y="6523132"/>
                  </a:lnTo>
                  <a:lnTo>
                    <a:pt x="4447250" y="6537427"/>
                  </a:lnTo>
                  <a:lnTo>
                    <a:pt x="4411060" y="6551310"/>
                  </a:lnTo>
                  <a:lnTo>
                    <a:pt x="4374709" y="6564778"/>
                  </a:lnTo>
                  <a:lnTo>
                    <a:pt x="4338206" y="6577830"/>
                  </a:lnTo>
                  <a:lnTo>
                    <a:pt x="4301561" y="6590462"/>
                  </a:lnTo>
                  <a:lnTo>
                    <a:pt x="4264774" y="6602674"/>
                  </a:lnTo>
                  <a:lnTo>
                    <a:pt x="4227845" y="6614465"/>
                  </a:lnTo>
                  <a:lnTo>
                    <a:pt x="4190783" y="6625832"/>
                  </a:lnTo>
                  <a:lnTo>
                    <a:pt x="4153598" y="6636774"/>
                  </a:lnTo>
                  <a:lnTo>
                    <a:pt x="4116291" y="6647289"/>
                  </a:lnTo>
                  <a:lnTo>
                    <a:pt x="4078861" y="6657378"/>
                  </a:lnTo>
                  <a:lnTo>
                    <a:pt x="4041317" y="6667038"/>
                  </a:lnTo>
                  <a:lnTo>
                    <a:pt x="4003671" y="6676266"/>
                  </a:lnTo>
                  <a:lnTo>
                    <a:pt x="3965922" y="6685063"/>
                  </a:lnTo>
                  <a:lnTo>
                    <a:pt x="3928069" y="6693429"/>
                  </a:lnTo>
                  <a:lnTo>
                    <a:pt x="3890123" y="6701361"/>
                  </a:lnTo>
                  <a:lnTo>
                    <a:pt x="3852094" y="6708857"/>
                  </a:lnTo>
                  <a:lnTo>
                    <a:pt x="3813981" y="6715917"/>
                  </a:lnTo>
                  <a:lnTo>
                    <a:pt x="3775785" y="6722541"/>
                  </a:lnTo>
                  <a:lnTo>
                    <a:pt x="3737516" y="6728728"/>
                  </a:lnTo>
                  <a:lnTo>
                    <a:pt x="3722370" y="6730999"/>
                  </a:lnTo>
                </a:path>
                <a:path w="6603365" h="6769100">
                  <a:moveTo>
                    <a:pt x="2709822" y="6730999"/>
                  </a:moveTo>
                  <a:lnTo>
                    <a:pt x="2656787" y="6722604"/>
                  </a:lnTo>
                  <a:lnTo>
                    <a:pt x="2618596" y="6715985"/>
                  </a:lnTo>
                  <a:lnTo>
                    <a:pt x="2580483" y="6708929"/>
                  </a:lnTo>
                  <a:lnTo>
                    <a:pt x="2542447" y="6701436"/>
                  </a:lnTo>
                  <a:lnTo>
                    <a:pt x="2504501" y="6693509"/>
                  </a:lnTo>
                  <a:lnTo>
                    <a:pt x="2466652" y="6685149"/>
                  </a:lnTo>
                  <a:lnTo>
                    <a:pt x="2428881" y="6676435"/>
                  </a:lnTo>
                </a:path>
                <a:path w="6603365" h="6769100">
                  <a:moveTo>
                    <a:pt x="2353730" y="6657375"/>
                  </a:moveTo>
                  <a:lnTo>
                    <a:pt x="2316278" y="6647392"/>
                  </a:lnTo>
                  <a:lnTo>
                    <a:pt x="2278970" y="6636881"/>
                  </a:lnTo>
                  <a:lnTo>
                    <a:pt x="2241779" y="6625942"/>
                  </a:lnTo>
                  <a:lnTo>
                    <a:pt x="2204716" y="6614579"/>
                  </a:lnTo>
                  <a:lnTo>
                    <a:pt x="2167790" y="6602793"/>
                  </a:lnTo>
                  <a:lnTo>
                    <a:pt x="2131002" y="6590586"/>
                  </a:lnTo>
                  <a:lnTo>
                    <a:pt x="2094350" y="6577957"/>
                  </a:lnTo>
                  <a:lnTo>
                    <a:pt x="2057846" y="6564909"/>
                  </a:lnTo>
                  <a:lnTo>
                    <a:pt x="2021498" y="6551446"/>
                  </a:lnTo>
                  <a:lnTo>
                    <a:pt x="1985307" y="6537568"/>
                  </a:lnTo>
                  <a:lnTo>
                    <a:pt x="1949272" y="6523275"/>
                  </a:lnTo>
                  <a:lnTo>
                    <a:pt x="1913403" y="6508570"/>
                  </a:lnTo>
                  <a:lnTo>
                    <a:pt x="1877709" y="6493458"/>
                  </a:lnTo>
                  <a:lnTo>
                    <a:pt x="1842191" y="6477938"/>
                  </a:lnTo>
                  <a:lnTo>
                    <a:pt x="1806848" y="6462011"/>
                  </a:lnTo>
                  <a:lnTo>
                    <a:pt x="1771690" y="6445680"/>
                  </a:lnTo>
                  <a:lnTo>
                    <a:pt x="1736725" y="6428951"/>
                  </a:lnTo>
                  <a:lnTo>
                    <a:pt x="1701954" y="6411822"/>
                  </a:lnTo>
                  <a:lnTo>
                    <a:pt x="1667377" y="6394294"/>
                  </a:lnTo>
                  <a:lnTo>
                    <a:pt x="1633003" y="6376371"/>
                  </a:lnTo>
                  <a:lnTo>
                    <a:pt x="1598840" y="6358059"/>
                  </a:lnTo>
                  <a:lnTo>
                    <a:pt x="1564890" y="6339357"/>
                  </a:lnTo>
                  <a:lnTo>
                    <a:pt x="1531151" y="6320265"/>
                  </a:lnTo>
                  <a:lnTo>
                    <a:pt x="1497633" y="6300788"/>
                  </a:lnTo>
                  <a:lnTo>
                    <a:pt x="1464344" y="6280931"/>
                  </a:lnTo>
                  <a:lnTo>
                    <a:pt x="1431285" y="6260695"/>
                  </a:lnTo>
                  <a:lnTo>
                    <a:pt x="1398455" y="6240079"/>
                  </a:lnTo>
                  <a:lnTo>
                    <a:pt x="1365864" y="6219089"/>
                  </a:lnTo>
                  <a:lnTo>
                    <a:pt x="1333519" y="6197730"/>
                  </a:lnTo>
                  <a:lnTo>
                    <a:pt x="1301420" y="6176002"/>
                  </a:lnTo>
                  <a:lnTo>
                    <a:pt x="1269568" y="6153906"/>
                  </a:lnTo>
                  <a:lnTo>
                    <a:pt x="1237971" y="6131446"/>
                  </a:lnTo>
                  <a:lnTo>
                    <a:pt x="1206637" y="6108629"/>
                  </a:lnTo>
                  <a:lnTo>
                    <a:pt x="1175567" y="6085455"/>
                  </a:lnTo>
                  <a:lnTo>
                    <a:pt x="1144760" y="6061924"/>
                  </a:lnTo>
                  <a:lnTo>
                    <a:pt x="1114224" y="6038042"/>
                  </a:lnTo>
                  <a:lnTo>
                    <a:pt x="1083967" y="6013815"/>
                  </a:lnTo>
                  <a:lnTo>
                    <a:pt x="1053989" y="5989243"/>
                  </a:lnTo>
                  <a:lnTo>
                    <a:pt x="1024291" y="5964327"/>
                  </a:lnTo>
                  <a:lnTo>
                    <a:pt x="994880" y="5939073"/>
                  </a:lnTo>
                  <a:lnTo>
                    <a:pt x="965764" y="5913487"/>
                  </a:lnTo>
                  <a:lnTo>
                    <a:pt x="936942" y="5887569"/>
                  </a:lnTo>
                  <a:lnTo>
                    <a:pt x="908415" y="5861319"/>
                  </a:lnTo>
                  <a:lnTo>
                    <a:pt x="880190" y="5834745"/>
                  </a:lnTo>
                  <a:lnTo>
                    <a:pt x="852275" y="5807854"/>
                  </a:lnTo>
                  <a:lnTo>
                    <a:pt x="824670" y="5780644"/>
                  </a:lnTo>
                  <a:lnTo>
                    <a:pt x="797374" y="5753117"/>
                  </a:lnTo>
                  <a:lnTo>
                    <a:pt x="770395" y="5725279"/>
                  </a:lnTo>
                  <a:lnTo>
                    <a:pt x="743740" y="5697138"/>
                  </a:lnTo>
                  <a:lnTo>
                    <a:pt x="717409" y="5668694"/>
                  </a:lnTo>
                  <a:lnTo>
                    <a:pt x="691401" y="5639947"/>
                  </a:lnTo>
                  <a:lnTo>
                    <a:pt x="665724" y="5610904"/>
                  </a:lnTo>
                  <a:lnTo>
                    <a:pt x="640385" y="5581572"/>
                  </a:lnTo>
                  <a:lnTo>
                    <a:pt x="615383" y="5551953"/>
                  </a:lnTo>
                  <a:lnTo>
                    <a:pt x="590718" y="5522045"/>
                  </a:lnTo>
                  <a:lnTo>
                    <a:pt x="566397" y="5491858"/>
                  </a:lnTo>
                  <a:lnTo>
                    <a:pt x="542427" y="5461397"/>
                  </a:lnTo>
                  <a:lnTo>
                    <a:pt x="518806" y="5430665"/>
                  </a:lnTo>
                  <a:lnTo>
                    <a:pt x="495536" y="5399660"/>
                  </a:lnTo>
                  <a:lnTo>
                    <a:pt x="472623" y="5368391"/>
                  </a:lnTo>
                  <a:lnTo>
                    <a:pt x="450071" y="5336865"/>
                  </a:lnTo>
                  <a:lnTo>
                    <a:pt x="427882" y="5305084"/>
                  </a:lnTo>
                  <a:lnTo>
                    <a:pt x="406055" y="5273047"/>
                  </a:lnTo>
                  <a:lnTo>
                    <a:pt x="384596" y="5240762"/>
                  </a:lnTo>
                  <a:lnTo>
                    <a:pt x="363511" y="5208237"/>
                  </a:lnTo>
                  <a:lnTo>
                    <a:pt x="342799" y="5175474"/>
                  </a:lnTo>
                  <a:lnTo>
                    <a:pt x="322461" y="5142472"/>
                  </a:lnTo>
                  <a:lnTo>
                    <a:pt x="302502" y="5109238"/>
                  </a:lnTo>
                  <a:lnTo>
                    <a:pt x="282927" y="5075783"/>
                  </a:lnTo>
                  <a:lnTo>
                    <a:pt x="263736" y="5042106"/>
                  </a:lnTo>
                  <a:lnTo>
                    <a:pt x="244930" y="5008208"/>
                  </a:lnTo>
                  <a:lnTo>
                    <a:pt x="226513" y="4974096"/>
                  </a:lnTo>
                  <a:lnTo>
                    <a:pt x="208489" y="4939780"/>
                  </a:lnTo>
                  <a:lnTo>
                    <a:pt x="190860" y="4905260"/>
                  </a:lnTo>
                  <a:lnTo>
                    <a:pt x="173625" y="4870536"/>
                  </a:lnTo>
                  <a:lnTo>
                    <a:pt x="156788" y="4835618"/>
                  </a:lnTo>
                  <a:lnTo>
                    <a:pt x="140354" y="4800513"/>
                  </a:lnTo>
                  <a:lnTo>
                    <a:pt x="124322" y="4765223"/>
                  </a:lnTo>
                  <a:lnTo>
                    <a:pt x="108694" y="4729746"/>
                  </a:lnTo>
                  <a:lnTo>
                    <a:pt x="93473" y="4694094"/>
                  </a:lnTo>
                  <a:lnTo>
                    <a:pt x="78663" y="4658274"/>
                  </a:lnTo>
                  <a:lnTo>
                    <a:pt x="64263" y="4622287"/>
                  </a:lnTo>
                  <a:lnTo>
                    <a:pt x="50275" y="4586132"/>
                  </a:lnTo>
                  <a:lnTo>
                    <a:pt x="36701" y="4549820"/>
                  </a:lnTo>
                  <a:lnTo>
                    <a:pt x="23545" y="4513360"/>
                  </a:lnTo>
                  <a:lnTo>
                    <a:pt x="10808" y="4476752"/>
                  </a:lnTo>
                  <a:lnTo>
                    <a:pt x="0" y="4444504"/>
                  </a:lnTo>
                </a:path>
                <a:path w="6603365" h="6769100">
                  <a:moveTo>
                    <a:pt x="3216099" y="3382021"/>
                  </a:moveTo>
                  <a:lnTo>
                    <a:pt x="3216098" y="0"/>
                  </a:lnTo>
                </a:path>
              </a:pathLst>
            </a:custGeom>
            <a:ln w="19049">
              <a:solidFill>
                <a:srgbClr val="FFFFFF"/>
              </a:solidFill>
            </a:ln>
          </p:spPr>
          <p:txBody>
            <a:bodyPr wrap="square" lIns="0" tIns="0" rIns="0" bIns="0" rtlCol="0"/>
            <a:lstStyle/>
            <a:p>
              <a:endParaRPr/>
            </a:p>
          </p:txBody>
        </p:sp>
        <p:sp>
          <p:nvSpPr>
            <p:cNvPr id="11" name="object 11"/>
            <p:cNvSpPr/>
            <p:nvPr/>
          </p:nvSpPr>
          <p:spPr>
            <a:xfrm>
              <a:off x="4790147" y="3051060"/>
              <a:ext cx="3387090" cy="3793490"/>
            </a:xfrm>
            <a:custGeom>
              <a:avLst/>
              <a:gdLst/>
              <a:ahLst/>
              <a:cxnLst/>
              <a:rect l="l" t="t" r="r" b="b"/>
              <a:pathLst>
                <a:path w="3387090" h="3793490">
                  <a:moveTo>
                    <a:pt x="169454" y="3793351"/>
                  </a:moveTo>
                  <a:lnTo>
                    <a:pt x="153290" y="3742600"/>
                  </a:lnTo>
                  <a:lnTo>
                    <a:pt x="137849" y="3691647"/>
                  </a:lnTo>
                  <a:lnTo>
                    <a:pt x="121445" y="3634038"/>
                  </a:lnTo>
                  <a:lnTo>
                    <a:pt x="109416" y="3589039"/>
                  </a:lnTo>
                  <a:lnTo>
                    <a:pt x="96311" y="3537415"/>
                  </a:lnTo>
                  <a:lnTo>
                    <a:pt x="84182" y="3485551"/>
                  </a:lnTo>
                  <a:lnTo>
                    <a:pt x="72790" y="3433543"/>
                  </a:lnTo>
                  <a:lnTo>
                    <a:pt x="60961" y="3374823"/>
                  </a:lnTo>
                  <a:lnTo>
                    <a:pt x="52502" y="3329019"/>
                  </a:lnTo>
                  <a:lnTo>
                    <a:pt x="43491" y="3276525"/>
                  </a:lnTo>
                  <a:lnTo>
                    <a:pt x="35472" y="3223869"/>
                  </a:lnTo>
                  <a:lnTo>
                    <a:pt x="28199" y="3171126"/>
                  </a:lnTo>
                  <a:lnTo>
                    <a:pt x="21017" y="3111659"/>
                  </a:lnTo>
                  <a:lnTo>
                    <a:pt x="16182" y="3065332"/>
                  </a:lnTo>
                  <a:lnTo>
                    <a:pt x="11321" y="3012293"/>
                  </a:lnTo>
                  <a:lnTo>
                    <a:pt x="7462" y="2959170"/>
                  </a:lnTo>
                  <a:lnTo>
                    <a:pt x="4353" y="2906019"/>
                  </a:lnTo>
                  <a:lnTo>
                    <a:pt x="1863" y="2846172"/>
                  </a:lnTo>
                  <a:lnTo>
                    <a:pt x="681" y="2799608"/>
                  </a:lnTo>
                  <a:lnTo>
                    <a:pt x="0" y="2746351"/>
                  </a:lnTo>
                  <a:lnTo>
                    <a:pt x="318" y="2693089"/>
                  </a:lnTo>
                  <a:lnTo>
                    <a:pt x="1398" y="2639858"/>
                  </a:lnTo>
                  <a:lnTo>
                    <a:pt x="3617" y="2580000"/>
                  </a:lnTo>
                  <a:lnTo>
                    <a:pt x="6094" y="2533487"/>
                  </a:lnTo>
                  <a:lnTo>
                    <a:pt x="9597" y="2480340"/>
                  </a:lnTo>
                  <a:lnTo>
                    <a:pt x="14103" y="2427269"/>
                  </a:lnTo>
                  <a:lnTo>
                    <a:pt x="19355" y="2374287"/>
                  </a:lnTo>
                  <a:lnTo>
                    <a:pt x="26266" y="2314787"/>
                  </a:lnTo>
                  <a:lnTo>
                    <a:pt x="32389" y="2268613"/>
                  </a:lnTo>
                  <a:lnTo>
                    <a:pt x="40054" y="2215906"/>
                  </a:lnTo>
                  <a:lnTo>
                    <a:pt x="48714" y="2163351"/>
                  </a:lnTo>
                  <a:lnTo>
                    <a:pt x="58110" y="2110945"/>
                  </a:lnTo>
                  <a:lnTo>
                    <a:pt x="69672" y="2052173"/>
                  </a:lnTo>
                  <a:lnTo>
                    <a:pt x="79401" y="2006621"/>
                  </a:lnTo>
                  <a:lnTo>
                    <a:pt x="91182" y="1954679"/>
                  </a:lnTo>
                  <a:lnTo>
                    <a:pt x="103942" y="1902967"/>
                  </a:lnTo>
                  <a:lnTo>
                    <a:pt x="117424" y="1851460"/>
                  </a:lnTo>
                  <a:lnTo>
                    <a:pt x="133566" y="1793777"/>
                  </a:lnTo>
                  <a:lnTo>
                    <a:pt x="146842" y="1749131"/>
                  </a:lnTo>
                  <a:lnTo>
                    <a:pt x="162666" y="1698274"/>
                  </a:lnTo>
                  <a:lnTo>
                    <a:pt x="179447" y="1647724"/>
                  </a:lnTo>
                  <a:lnTo>
                    <a:pt x="196932" y="1597435"/>
                  </a:lnTo>
                  <a:lnTo>
                    <a:pt x="217554" y="1541197"/>
                  </a:lnTo>
                  <a:lnTo>
                    <a:pt x="234295" y="1497732"/>
                  </a:lnTo>
                  <a:lnTo>
                    <a:pt x="254063" y="1448274"/>
                  </a:lnTo>
                  <a:lnTo>
                    <a:pt x="274762" y="1399198"/>
                  </a:lnTo>
                  <a:lnTo>
                    <a:pt x="296142" y="1350438"/>
                  </a:lnTo>
                  <a:lnTo>
                    <a:pt x="321138" y="1296003"/>
                  </a:lnTo>
                  <a:lnTo>
                    <a:pt x="341223" y="1253978"/>
                  </a:lnTo>
                  <a:lnTo>
                    <a:pt x="364810" y="1206223"/>
                  </a:lnTo>
                  <a:lnTo>
                    <a:pt x="389299" y="1158924"/>
                  </a:lnTo>
                  <a:lnTo>
                    <a:pt x="414442" y="1111993"/>
                  </a:lnTo>
                  <a:lnTo>
                    <a:pt x="443636" y="1059690"/>
                  </a:lnTo>
                  <a:lnTo>
                    <a:pt x="466959" y="1019371"/>
                  </a:lnTo>
                  <a:lnTo>
                    <a:pt x="494223" y="973616"/>
                  </a:lnTo>
                  <a:lnTo>
                    <a:pt x="522351" y="928387"/>
                  </a:lnTo>
                  <a:lnTo>
                    <a:pt x="551101" y="883575"/>
                  </a:lnTo>
                  <a:lnTo>
                    <a:pt x="584312" y="833726"/>
                  </a:lnTo>
                  <a:lnTo>
                    <a:pt x="610729" y="795364"/>
                  </a:lnTo>
                  <a:lnTo>
                    <a:pt x="641502" y="751891"/>
                  </a:lnTo>
                  <a:lnTo>
                    <a:pt x="673095" y="709010"/>
                  </a:lnTo>
                  <a:lnTo>
                    <a:pt x="705275" y="666594"/>
                  </a:lnTo>
                  <a:lnTo>
                    <a:pt x="742298" y="619506"/>
                  </a:lnTo>
                  <a:lnTo>
                    <a:pt x="771645" y="583337"/>
                  </a:lnTo>
                  <a:lnTo>
                    <a:pt x="805737" y="542415"/>
                  </a:lnTo>
                  <a:lnTo>
                    <a:pt x="840599" y="502147"/>
                  </a:lnTo>
                  <a:lnTo>
                    <a:pt x="876012" y="462390"/>
                  </a:lnTo>
                  <a:lnTo>
                    <a:pt x="916618" y="418354"/>
                  </a:lnTo>
                  <a:lnTo>
                    <a:pt x="948715" y="384602"/>
                  </a:lnTo>
                  <a:lnTo>
                    <a:pt x="985915" y="346483"/>
                  </a:lnTo>
                  <a:lnTo>
                    <a:pt x="1023832" y="309077"/>
                  </a:lnTo>
                  <a:lnTo>
                    <a:pt x="1062257" y="272223"/>
                  </a:lnTo>
                  <a:lnTo>
                    <a:pt x="1106196" y="231513"/>
                  </a:lnTo>
                  <a:lnTo>
                    <a:pt x="1140844" y="200384"/>
                  </a:lnTo>
                  <a:lnTo>
                    <a:pt x="1180923" y="165305"/>
                  </a:lnTo>
                  <a:lnTo>
                    <a:pt x="1221660" y="130991"/>
                  </a:lnTo>
                  <a:lnTo>
                    <a:pt x="1262860" y="97269"/>
                  </a:lnTo>
                  <a:lnTo>
                    <a:pt x="1309860" y="60135"/>
                  </a:lnTo>
                  <a:lnTo>
                    <a:pt x="1346846" y="31823"/>
                  </a:lnTo>
                  <a:lnTo>
                    <a:pt x="1389556" y="0"/>
                  </a:lnTo>
                  <a:lnTo>
                    <a:pt x="3387064" y="2735376"/>
                  </a:lnTo>
                  <a:lnTo>
                    <a:pt x="169454" y="3793351"/>
                  </a:lnTo>
                  <a:close/>
                </a:path>
              </a:pathLst>
            </a:custGeom>
            <a:solidFill>
              <a:srgbClr val="12239D"/>
            </a:solidFill>
          </p:spPr>
          <p:txBody>
            <a:bodyPr wrap="square" lIns="0" tIns="0" rIns="0" bIns="0" rtlCol="0"/>
            <a:lstStyle/>
            <a:p>
              <a:endParaRPr/>
            </a:p>
          </p:txBody>
        </p:sp>
        <p:sp>
          <p:nvSpPr>
            <p:cNvPr id="12" name="object 12"/>
            <p:cNvSpPr/>
            <p:nvPr/>
          </p:nvSpPr>
          <p:spPr>
            <a:xfrm>
              <a:off x="4790147" y="3051060"/>
              <a:ext cx="3387090" cy="3793490"/>
            </a:xfrm>
            <a:custGeom>
              <a:avLst/>
              <a:gdLst/>
              <a:ahLst/>
              <a:cxnLst/>
              <a:rect l="l" t="t" r="r" b="b"/>
              <a:pathLst>
                <a:path w="3387090" h="3793490">
                  <a:moveTo>
                    <a:pt x="169454" y="3793351"/>
                  </a:moveTo>
                  <a:lnTo>
                    <a:pt x="149360" y="3729896"/>
                  </a:lnTo>
                  <a:lnTo>
                    <a:pt x="130467" y="3666073"/>
                  </a:lnTo>
                  <a:lnTo>
                    <a:pt x="112782" y="3601905"/>
                  </a:lnTo>
                  <a:lnTo>
                    <a:pt x="96311" y="3537415"/>
                  </a:lnTo>
                  <a:lnTo>
                    <a:pt x="81262" y="3472577"/>
                  </a:lnTo>
                  <a:lnTo>
                    <a:pt x="67438" y="3407468"/>
                  </a:lnTo>
                  <a:lnTo>
                    <a:pt x="54847" y="3342110"/>
                  </a:lnTo>
                  <a:lnTo>
                    <a:pt x="43491" y="3276525"/>
                  </a:lnTo>
                  <a:lnTo>
                    <a:pt x="33580" y="3210706"/>
                  </a:lnTo>
                  <a:lnTo>
                    <a:pt x="24912" y="3144712"/>
                  </a:lnTo>
                  <a:lnTo>
                    <a:pt x="17492" y="3078567"/>
                  </a:lnTo>
                  <a:lnTo>
                    <a:pt x="11321" y="3012293"/>
                  </a:lnTo>
                  <a:lnTo>
                    <a:pt x="6609" y="2945899"/>
                  </a:lnTo>
                  <a:lnTo>
                    <a:pt x="3150" y="2879428"/>
                  </a:lnTo>
                  <a:lnTo>
                    <a:pt x="947" y="2812905"/>
                  </a:lnTo>
                  <a:lnTo>
                    <a:pt x="0" y="2746350"/>
                  </a:lnTo>
                  <a:lnTo>
                    <a:pt x="153" y="2713068"/>
                  </a:lnTo>
                  <a:lnTo>
                    <a:pt x="1192" y="2646519"/>
                  </a:lnTo>
                  <a:lnTo>
                    <a:pt x="3592" y="2579998"/>
                  </a:lnTo>
                  <a:lnTo>
                    <a:pt x="7352" y="2513547"/>
                  </a:lnTo>
                  <a:lnTo>
                    <a:pt x="12364" y="2447173"/>
                  </a:lnTo>
                  <a:lnTo>
                    <a:pt x="18626" y="2380911"/>
                  </a:lnTo>
                  <a:lnTo>
                    <a:pt x="26242" y="2314784"/>
                  </a:lnTo>
                  <a:lnTo>
                    <a:pt x="35208" y="2248834"/>
                  </a:lnTo>
                  <a:lnTo>
                    <a:pt x="45417" y="2183057"/>
                  </a:lnTo>
                  <a:lnTo>
                    <a:pt x="56863" y="2117492"/>
                  </a:lnTo>
                  <a:lnTo>
                    <a:pt x="69648" y="2052167"/>
                  </a:lnTo>
                  <a:lnTo>
                    <a:pt x="83765" y="1987125"/>
                  </a:lnTo>
                  <a:lnTo>
                    <a:pt x="99108" y="1922353"/>
                  </a:lnTo>
                  <a:lnTo>
                    <a:pt x="115667" y="1857889"/>
                  </a:lnTo>
                  <a:lnTo>
                    <a:pt x="133543" y="1793770"/>
                  </a:lnTo>
                  <a:lnTo>
                    <a:pt x="152724" y="1730037"/>
                  </a:lnTo>
                  <a:lnTo>
                    <a:pt x="173105" y="1666670"/>
                  </a:lnTo>
                  <a:lnTo>
                    <a:pt x="194676" y="1603705"/>
                  </a:lnTo>
                  <a:lnTo>
                    <a:pt x="217531" y="1541189"/>
                  </a:lnTo>
                  <a:lnTo>
                    <a:pt x="241658" y="1479158"/>
                  </a:lnTo>
                  <a:lnTo>
                    <a:pt x="266952" y="1417588"/>
                  </a:lnTo>
                  <a:lnTo>
                    <a:pt x="293400" y="1356511"/>
                  </a:lnTo>
                  <a:lnTo>
                    <a:pt x="321094" y="1295982"/>
                  </a:lnTo>
                  <a:lnTo>
                    <a:pt x="350018" y="1236038"/>
                  </a:lnTo>
                  <a:lnTo>
                    <a:pt x="380069" y="1176644"/>
                  </a:lnTo>
                  <a:lnTo>
                    <a:pt x="411232" y="1117833"/>
                  </a:lnTo>
                  <a:lnTo>
                    <a:pt x="443593" y="1059665"/>
                  </a:lnTo>
                  <a:lnTo>
                    <a:pt x="477135" y="1002177"/>
                  </a:lnTo>
                  <a:lnTo>
                    <a:pt x="511757" y="945327"/>
                  </a:lnTo>
                  <a:lnTo>
                    <a:pt x="547442" y="889145"/>
                  </a:lnTo>
                  <a:lnTo>
                    <a:pt x="584272" y="833698"/>
                  </a:lnTo>
                  <a:lnTo>
                    <a:pt x="622224" y="779022"/>
                  </a:lnTo>
                  <a:lnTo>
                    <a:pt x="661204" y="725066"/>
                  </a:lnTo>
                  <a:lnTo>
                    <a:pt x="701190" y="671859"/>
                  </a:lnTo>
                  <a:lnTo>
                    <a:pt x="742260" y="619476"/>
                  </a:lnTo>
                  <a:lnTo>
                    <a:pt x="784388" y="567948"/>
                  </a:lnTo>
                  <a:lnTo>
                    <a:pt x="827485" y="517219"/>
                  </a:lnTo>
                  <a:lnTo>
                    <a:pt x="871526" y="467317"/>
                  </a:lnTo>
                  <a:lnTo>
                    <a:pt x="916583" y="418321"/>
                  </a:lnTo>
                  <a:lnTo>
                    <a:pt x="962627" y="370261"/>
                  </a:lnTo>
                  <a:lnTo>
                    <a:pt x="1009574" y="323073"/>
                  </a:lnTo>
                  <a:lnTo>
                    <a:pt x="1057398" y="276783"/>
                  </a:lnTo>
                  <a:lnTo>
                    <a:pt x="1106163" y="231477"/>
                  </a:lnTo>
                  <a:lnTo>
                    <a:pt x="1155839" y="187181"/>
                  </a:lnTo>
                  <a:lnTo>
                    <a:pt x="1206347" y="143825"/>
                  </a:lnTo>
                  <a:lnTo>
                    <a:pt x="1257658" y="101434"/>
                  </a:lnTo>
                  <a:lnTo>
                    <a:pt x="1309830" y="60097"/>
                  </a:lnTo>
                  <a:lnTo>
                    <a:pt x="1362832" y="19838"/>
                  </a:lnTo>
                  <a:lnTo>
                    <a:pt x="1389556" y="0"/>
                  </a:lnTo>
                  <a:lnTo>
                    <a:pt x="3387064" y="2735376"/>
                  </a:lnTo>
                  <a:lnTo>
                    <a:pt x="169454" y="3793351"/>
                  </a:lnTo>
                </a:path>
              </a:pathLst>
            </a:custGeom>
            <a:ln w="19049">
              <a:solidFill>
                <a:srgbClr val="FFFFFF"/>
              </a:solidFill>
            </a:ln>
          </p:spPr>
          <p:txBody>
            <a:bodyPr wrap="square" lIns="0" tIns="0" rIns="0" bIns="0" rtlCol="0"/>
            <a:lstStyle/>
            <a:p>
              <a:endParaRPr/>
            </a:p>
          </p:txBody>
        </p:sp>
        <p:sp>
          <p:nvSpPr>
            <p:cNvPr id="13" name="object 13"/>
            <p:cNvSpPr/>
            <p:nvPr/>
          </p:nvSpPr>
          <p:spPr>
            <a:xfrm>
              <a:off x="6179703" y="2399354"/>
              <a:ext cx="1997710" cy="3387090"/>
            </a:xfrm>
            <a:custGeom>
              <a:avLst/>
              <a:gdLst/>
              <a:ahLst/>
              <a:cxnLst/>
              <a:rect l="l" t="t" r="r" b="b"/>
              <a:pathLst>
                <a:path w="1997709" h="3387090">
                  <a:moveTo>
                    <a:pt x="1997508" y="3387082"/>
                  </a:moveTo>
                  <a:lnTo>
                    <a:pt x="0" y="651705"/>
                  </a:lnTo>
                  <a:lnTo>
                    <a:pt x="39496" y="623337"/>
                  </a:lnTo>
                  <a:lnTo>
                    <a:pt x="79361" y="595568"/>
                  </a:lnTo>
                  <a:lnTo>
                    <a:pt x="119592" y="568395"/>
                  </a:lnTo>
                  <a:lnTo>
                    <a:pt x="176414" y="531302"/>
                  </a:lnTo>
                  <a:lnTo>
                    <a:pt x="221683" y="502937"/>
                  </a:lnTo>
                  <a:lnTo>
                    <a:pt x="267391" y="475286"/>
                  </a:lnTo>
                  <a:lnTo>
                    <a:pt x="313509" y="448365"/>
                  </a:lnTo>
                  <a:lnTo>
                    <a:pt x="360052" y="422196"/>
                  </a:lnTo>
                  <a:lnTo>
                    <a:pt x="406983" y="396718"/>
                  </a:lnTo>
                  <a:lnTo>
                    <a:pt x="454325" y="371968"/>
                  </a:lnTo>
                  <a:lnTo>
                    <a:pt x="497786" y="350154"/>
                  </a:lnTo>
                  <a:lnTo>
                    <a:pt x="541517" y="328990"/>
                  </a:lnTo>
                  <a:lnTo>
                    <a:pt x="585515" y="308471"/>
                  </a:lnTo>
                  <a:lnTo>
                    <a:pt x="629757" y="288545"/>
                  </a:lnTo>
                  <a:lnTo>
                    <a:pt x="696619" y="259857"/>
                  </a:lnTo>
                  <a:lnTo>
                    <a:pt x="746102" y="239726"/>
                  </a:lnTo>
                  <a:lnTo>
                    <a:pt x="795876" y="220381"/>
                  </a:lnTo>
                  <a:lnTo>
                    <a:pt x="845941" y="201820"/>
                  </a:lnTo>
                  <a:lnTo>
                    <a:pt x="896299" y="184052"/>
                  </a:lnTo>
                  <a:lnTo>
                    <a:pt x="946941" y="167045"/>
                  </a:lnTo>
                  <a:lnTo>
                    <a:pt x="993289" y="152327"/>
                  </a:lnTo>
                  <a:lnTo>
                    <a:pt x="1039801" y="138292"/>
                  </a:lnTo>
                  <a:lnTo>
                    <a:pt x="1086476" y="124938"/>
                  </a:lnTo>
                  <a:lnTo>
                    <a:pt x="1133297" y="112206"/>
                  </a:lnTo>
                  <a:lnTo>
                    <a:pt x="1180287" y="100173"/>
                  </a:lnTo>
                  <a:lnTo>
                    <a:pt x="1227439" y="88808"/>
                  </a:lnTo>
                  <a:lnTo>
                    <a:pt x="1308059" y="70974"/>
                  </a:lnTo>
                  <a:lnTo>
                    <a:pt x="1360417" y="60505"/>
                  </a:lnTo>
                  <a:lnTo>
                    <a:pt x="1412942" y="50865"/>
                  </a:lnTo>
                  <a:lnTo>
                    <a:pt x="1465626" y="42021"/>
                  </a:lnTo>
                  <a:lnTo>
                    <a:pt x="1513710" y="34764"/>
                  </a:lnTo>
                  <a:lnTo>
                    <a:pt x="1561849" y="28207"/>
                  </a:lnTo>
                  <a:lnTo>
                    <a:pt x="1610041" y="22348"/>
                  </a:lnTo>
                  <a:lnTo>
                    <a:pt x="1658281" y="17127"/>
                  </a:lnTo>
                  <a:lnTo>
                    <a:pt x="1706578" y="12622"/>
                  </a:lnTo>
                  <a:lnTo>
                    <a:pt x="1754929" y="8802"/>
                  </a:lnTo>
                  <a:lnTo>
                    <a:pt x="1837350" y="3849"/>
                  </a:lnTo>
                  <a:lnTo>
                    <a:pt x="1890702" y="1732"/>
                  </a:lnTo>
                  <a:lnTo>
                    <a:pt x="1944089" y="460"/>
                  </a:lnTo>
                  <a:lnTo>
                    <a:pt x="1997508" y="0"/>
                  </a:lnTo>
                  <a:lnTo>
                    <a:pt x="1997508" y="3387082"/>
                  </a:lnTo>
                  <a:close/>
                </a:path>
              </a:pathLst>
            </a:custGeom>
            <a:solidFill>
              <a:srgbClr val="E66B37"/>
            </a:solidFill>
          </p:spPr>
          <p:txBody>
            <a:bodyPr wrap="square" lIns="0" tIns="0" rIns="0" bIns="0" rtlCol="0"/>
            <a:lstStyle/>
            <a:p>
              <a:endParaRPr/>
            </a:p>
          </p:txBody>
        </p:sp>
        <p:sp>
          <p:nvSpPr>
            <p:cNvPr id="14" name="object 14"/>
            <p:cNvSpPr/>
            <p:nvPr/>
          </p:nvSpPr>
          <p:spPr>
            <a:xfrm>
              <a:off x="6179703" y="2399355"/>
              <a:ext cx="1997710" cy="3387090"/>
            </a:xfrm>
            <a:custGeom>
              <a:avLst/>
              <a:gdLst/>
              <a:ahLst/>
              <a:cxnLst/>
              <a:rect l="l" t="t" r="r" b="b"/>
              <a:pathLst>
                <a:path w="1997709" h="3387090">
                  <a:moveTo>
                    <a:pt x="0" y="651705"/>
                  </a:moveTo>
                  <a:lnTo>
                    <a:pt x="43406" y="620565"/>
                  </a:lnTo>
                  <a:lnTo>
                    <a:pt x="87277" y="590117"/>
                  </a:lnTo>
                  <a:lnTo>
                    <a:pt x="131612" y="560362"/>
                  </a:lnTo>
                  <a:lnTo>
                    <a:pt x="176414" y="531302"/>
                  </a:lnTo>
                  <a:lnTo>
                    <a:pt x="221683" y="502937"/>
                  </a:lnTo>
                  <a:lnTo>
                    <a:pt x="267391" y="475286"/>
                  </a:lnTo>
                  <a:lnTo>
                    <a:pt x="313509" y="448365"/>
                  </a:lnTo>
                  <a:lnTo>
                    <a:pt x="360038" y="422172"/>
                  </a:lnTo>
                  <a:lnTo>
                    <a:pt x="406977" y="396707"/>
                  </a:lnTo>
                  <a:lnTo>
                    <a:pt x="454325" y="371968"/>
                  </a:lnTo>
                  <a:lnTo>
                    <a:pt x="502083" y="348030"/>
                  </a:lnTo>
                  <a:lnTo>
                    <a:pt x="550191" y="324849"/>
                  </a:lnTo>
                  <a:lnTo>
                    <a:pt x="598649" y="302425"/>
                  </a:lnTo>
                  <a:lnTo>
                    <a:pt x="647458" y="280761"/>
                  </a:lnTo>
                  <a:lnTo>
                    <a:pt x="696619" y="259857"/>
                  </a:lnTo>
                  <a:lnTo>
                    <a:pt x="746102" y="239726"/>
                  </a:lnTo>
                  <a:lnTo>
                    <a:pt x="795876" y="220381"/>
                  </a:lnTo>
                  <a:lnTo>
                    <a:pt x="845941" y="201820"/>
                  </a:lnTo>
                  <a:lnTo>
                    <a:pt x="896296" y="184042"/>
                  </a:lnTo>
                  <a:lnTo>
                    <a:pt x="946941" y="167045"/>
                  </a:lnTo>
                  <a:lnTo>
                    <a:pt x="997866" y="150904"/>
                  </a:lnTo>
                  <a:lnTo>
                    <a:pt x="1049017" y="135565"/>
                  </a:lnTo>
                  <a:lnTo>
                    <a:pt x="1100395" y="121029"/>
                  </a:lnTo>
                  <a:lnTo>
                    <a:pt x="1152001" y="107298"/>
                  </a:lnTo>
                  <a:lnTo>
                    <a:pt x="1203835" y="94373"/>
                  </a:lnTo>
                  <a:lnTo>
                    <a:pt x="1255865" y="82263"/>
                  </a:lnTo>
                  <a:lnTo>
                    <a:pt x="1308059" y="70974"/>
                  </a:lnTo>
                  <a:lnTo>
                    <a:pt x="1360417" y="60505"/>
                  </a:lnTo>
                  <a:lnTo>
                    <a:pt x="1412940" y="50855"/>
                  </a:lnTo>
                  <a:lnTo>
                    <a:pt x="1465626" y="42021"/>
                  </a:lnTo>
                  <a:lnTo>
                    <a:pt x="1518453" y="34077"/>
                  </a:lnTo>
                  <a:lnTo>
                    <a:pt x="1571379" y="26961"/>
                  </a:lnTo>
                  <a:lnTo>
                    <a:pt x="1624402" y="20674"/>
                  </a:lnTo>
                  <a:lnTo>
                    <a:pt x="1677523" y="15217"/>
                  </a:lnTo>
                  <a:lnTo>
                    <a:pt x="1730744" y="10592"/>
                  </a:lnTo>
                  <a:lnTo>
                    <a:pt x="1784030" y="6802"/>
                  </a:lnTo>
                  <a:lnTo>
                    <a:pt x="1837350" y="3849"/>
                  </a:lnTo>
                  <a:lnTo>
                    <a:pt x="1890702" y="1732"/>
                  </a:lnTo>
                  <a:lnTo>
                    <a:pt x="1944088" y="449"/>
                  </a:lnTo>
                  <a:lnTo>
                    <a:pt x="1997508" y="0"/>
                  </a:lnTo>
                  <a:lnTo>
                    <a:pt x="1997508" y="3387082"/>
                  </a:lnTo>
                  <a:lnTo>
                    <a:pt x="0" y="651705"/>
                  </a:lnTo>
                </a:path>
              </a:pathLst>
            </a:custGeom>
            <a:ln w="19049">
              <a:solidFill>
                <a:srgbClr val="FFFFFF"/>
              </a:solidFill>
            </a:ln>
          </p:spPr>
          <p:txBody>
            <a:bodyPr wrap="square" lIns="0" tIns="0" rIns="0" bIns="0" rtlCol="0"/>
            <a:lstStyle/>
            <a:p>
              <a:endParaRPr/>
            </a:p>
          </p:txBody>
        </p:sp>
        <p:sp>
          <p:nvSpPr>
            <p:cNvPr id="15" name="object 15"/>
            <p:cNvSpPr/>
            <p:nvPr/>
          </p:nvSpPr>
          <p:spPr>
            <a:xfrm>
              <a:off x="4435463" y="2163896"/>
              <a:ext cx="6943090" cy="5857240"/>
            </a:xfrm>
            <a:custGeom>
              <a:avLst/>
              <a:gdLst/>
              <a:ahLst/>
              <a:cxnLst/>
              <a:rect l="l" t="t" r="r" b="b"/>
              <a:pathLst>
                <a:path w="6943090" h="5857240">
                  <a:moveTo>
                    <a:pt x="6554040" y="5658254"/>
                  </a:moveTo>
                  <a:lnTo>
                    <a:pt x="6828410" y="5856860"/>
                  </a:lnTo>
                  <a:lnTo>
                    <a:pt x="6942710" y="5856860"/>
                  </a:lnTo>
                </a:path>
                <a:path w="6943090" h="5857240">
                  <a:moveTo>
                    <a:pt x="436739" y="2559511"/>
                  </a:moveTo>
                  <a:lnTo>
                    <a:pt x="114299" y="2455800"/>
                  </a:lnTo>
                  <a:lnTo>
                    <a:pt x="0" y="2455800"/>
                  </a:lnTo>
                </a:path>
                <a:path w="6943090" h="5857240">
                  <a:moveTo>
                    <a:pt x="2664917" y="322003"/>
                  </a:moveTo>
                  <a:lnTo>
                    <a:pt x="2559860" y="0"/>
                  </a:lnTo>
                  <a:lnTo>
                    <a:pt x="2445560" y="0"/>
                  </a:lnTo>
                </a:path>
              </a:pathLst>
            </a:custGeom>
            <a:ln w="9524">
              <a:solidFill>
                <a:srgbClr val="242424"/>
              </a:solidFill>
            </a:ln>
          </p:spPr>
          <p:txBody>
            <a:bodyPr wrap="square" lIns="0" tIns="0" rIns="0" bIns="0" rtlCol="0"/>
            <a:lstStyle/>
            <a:p>
              <a:endParaRPr/>
            </a:p>
          </p:txBody>
        </p:sp>
      </p:grpSp>
      <p:sp>
        <p:nvSpPr>
          <p:cNvPr id="16" name="object 16"/>
          <p:cNvSpPr txBox="1"/>
          <p:nvPr/>
        </p:nvSpPr>
        <p:spPr>
          <a:xfrm>
            <a:off x="11403574" y="7858993"/>
            <a:ext cx="1906270" cy="330200"/>
          </a:xfrm>
          <a:prstGeom prst="rect">
            <a:avLst/>
          </a:prstGeom>
        </p:spPr>
        <p:txBody>
          <a:bodyPr vert="horz" wrap="square" lIns="0" tIns="12700" rIns="0" bIns="0" rtlCol="0">
            <a:spAutoFit/>
          </a:bodyPr>
          <a:lstStyle/>
          <a:p>
            <a:pPr marL="12700">
              <a:lnSpc>
                <a:spcPct val="100000"/>
              </a:lnSpc>
              <a:spcBef>
                <a:spcPts val="100"/>
              </a:spcBef>
            </a:pPr>
            <a:r>
              <a:rPr sz="2000" b="1">
                <a:solidFill>
                  <a:srgbClr val="616161"/>
                </a:solidFill>
                <a:latin typeface="Segoe UI"/>
                <a:cs typeface="Segoe UI"/>
              </a:rPr>
              <a:t>5.63M</a:t>
            </a:r>
            <a:r>
              <a:rPr sz="2000" b="1" spc="-5">
                <a:solidFill>
                  <a:srgbClr val="616161"/>
                </a:solidFill>
                <a:latin typeface="Segoe UI"/>
                <a:cs typeface="Segoe UI"/>
              </a:rPr>
              <a:t> </a:t>
            </a:r>
            <a:r>
              <a:rPr sz="2000" b="1" spc="-10">
                <a:solidFill>
                  <a:srgbClr val="616161"/>
                </a:solidFill>
                <a:latin typeface="Segoe UI"/>
                <a:cs typeface="Segoe UI"/>
              </a:rPr>
              <a:t>(69.94%)</a:t>
            </a:r>
            <a:endParaRPr sz="2000">
              <a:latin typeface="Segoe UI"/>
              <a:cs typeface="Segoe UI"/>
            </a:endParaRPr>
          </a:p>
        </p:txBody>
      </p:sp>
      <p:sp>
        <p:nvSpPr>
          <p:cNvPr id="17" name="object 17"/>
          <p:cNvSpPr txBox="1"/>
          <p:nvPr/>
        </p:nvSpPr>
        <p:spPr>
          <a:xfrm>
            <a:off x="2503773" y="4457934"/>
            <a:ext cx="1906270" cy="330200"/>
          </a:xfrm>
          <a:prstGeom prst="rect">
            <a:avLst/>
          </a:prstGeom>
        </p:spPr>
        <p:txBody>
          <a:bodyPr vert="horz" wrap="square" lIns="0" tIns="12700" rIns="0" bIns="0" rtlCol="0">
            <a:spAutoFit/>
          </a:bodyPr>
          <a:lstStyle/>
          <a:p>
            <a:pPr marL="12700">
              <a:lnSpc>
                <a:spcPct val="100000"/>
              </a:lnSpc>
              <a:spcBef>
                <a:spcPts val="100"/>
              </a:spcBef>
            </a:pPr>
            <a:r>
              <a:rPr sz="2000" b="1">
                <a:solidFill>
                  <a:srgbClr val="616161"/>
                </a:solidFill>
                <a:latin typeface="Segoe UI"/>
                <a:cs typeface="Segoe UI"/>
              </a:rPr>
              <a:t>1.61M</a:t>
            </a:r>
            <a:r>
              <a:rPr sz="2000" b="1" spc="-5">
                <a:solidFill>
                  <a:srgbClr val="616161"/>
                </a:solidFill>
                <a:latin typeface="Segoe UI"/>
                <a:cs typeface="Segoe UI"/>
              </a:rPr>
              <a:t> </a:t>
            </a:r>
            <a:r>
              <a:rPr sz="2000" b="1" spc="-10">
                <a:solidFill>
                  <a:srgbClr val="616161"/>
                </a:solidFill>
                <a:latin typeface="Segoe UI"/>
                <a:cs typeface="Segoe UI"/>
              </a:rPr>
              <a:t>(20.02%)</a:t>
            </a:r>
            <a:endParaRPr sz="2000">
              <a:latin typeface="Segoe UI"/>
              <a:cs typeface="Segoe UI"/>
            </a:endParaRPr>
          </a:p>
        </p:txBody>
      </p:sp>
      <p:sp>
        <p:nvSpPr>
          <p:cNvPr id="18" name="object 18"/>
          <p:cNvSpPr txBox="1"/>
          <p:nvPr/>
        </p:nvSpPr>
        <p:spPr>
          <a:xfrm>
            <a:off x="4949335" y="2002133"/>
            <a:ext cx="1906270" cy="330200"/>
          </a:xfrm>
          <a:prstGeom prst="rect">
            <a:avLst/>
          </a:prstGeom>
        </p:spPr>
        <p:txBody>
          <a:bodyPr vert="horz" wrap="square" lIns="0" tIns="12700" rIns="0" bIns="0" rtlCol="0">
            <a:spAutoFit/>
          </a:bodyPr>
          <a:lstStyle/>
          <a:p>
            <a:pPr marL="12700">
              <a:lnSpc>
                <a:spcPct val="100000"/>
              </a:lnSpc>
              <a:spcBef>
                <a:spcPts val="100"/>
              </a:spcBef>
            </a:pPr>
            <a:r>
              <a:rPr sz="2000" b="1">
                <a:solidFill>
                  <a:srgbClr val="616161"/>
                </a:solidFill>
                <a:latin typeface="Segoe UI"/>
                <a:cs typeface="Segoe UI"/>
              </a:rPr>
              <a:t>0.81M</a:t>
            </a:r>
            <a:r>
              <a:rPr sz="2000" b="1" spc="-5">
                <a:solidFill>
                  <a:srgbClr val="616161"/>
                </a:solidFill>
                <a:latin typeface="Segoe UI"/>
                <a:cs typeface="Segoe UI"/>
              </a:rPr>
              <a:t> </a:t>
            </a:r>
            <a:r>
              <a:rPr sz="2000" b="1" spc="-10">
                <a:solidFill>
                  <a:srgbClr val="616161"/>
                </a:solidFill>
                <a:latin typeface="Segoe UI"/>
                <a:cs typeface="Segoe UI"/>
              </a:rPr>
              <a:t>(10.04%)</a:t>
            </a:r>
            <a:endParaRPr sz="2000">
              <a:latin typeface="Segoe UI"/>
              <a:cs typeface="Segoe UI"/>
            </a:endParaRPr>
          </a:p>
        </p:txBody>
      </p:sp>
      <p:grpSp>
        <p:nvGrpSpPr>
          <p:cNvPr id="19" name="object 19"/>
          <p:cNvGrpSpPr/>
          <p:nvPr/>
        </p:nvGrpSpPr>
        <p:grpSpPr>
          <a:xfrm>
            <a:off x="15071596" y="5511419"/>
            <a:ext cx="161925" cy="904875"/>
            <a:chOff x="15071596" y="5511419"/>
            <a:chExt cx="161925" cy="904875"/>
          </a:xfrm>
        </p:grpSpPr>
        <p:pic>
          <p:nvPicPr>
            <p:cNvPr id="20" name="object 20"/>
            <p:cNvPicPr/>
            <p:nvPr/>
          </p:nvPicPr>
          <p:blipFill>
            <a:blip r:embed="rId2" cstate="print"/>
            <a:stretch>
              <a:fillRect/>
            </a:stretch>
          </p:blipFill>
          <p:spPr>
            <a:xfrm>
              <a:off x="15071596" y="5511419"/>
              <a:ext cx="161544" cy="161544"/>
            </a:xfrm>
            <a:prstGeom prst="rect">
              <a:avLst/>
            </a:prstGeom>
          </p:spPr>
        </p:pic>
        <p:pic>
          <p:nvPicPr>
            <p:cNvPr id="21" name="object 21"/>
            <p:cNvPicPr/>
            <p:nvPr/>
          </p:nvPicPr>
          <p:blipFill>
            <a:blip r:embed="rId3" cstate="print"/>
            <a:stretch>
              <a:fillRect/>
            </a:stretch>
          </p:blipFill>
          <p:spPr>
            <a:xfrm>
              <a:off x="15071596" y="5882894"/>
              <a:ext cx="161544" cy="161544"/>
            </a:xfrm>
            <a:prstGeom prst="rect">
              <a:avLst/>
            </a:prstGeom>
          </p:spPr>
        </p:pic>
        <p:pic>
          <p:nvPicPr>
            <p:cNvPr id="22" name="object 22"/>
            <p:cNvPicPr/>
            <p:nvPr/>
          </p:nvPicPr>
          <p:blipFill>
            <a:blip r:embed="rId4" cstate="print"/>
            <a:stretch>
              <a:fillRect/>
            </a:stretch>
          </p:blipFill>
          <p:spPr>
            <a:xfrm>
              <a:off x="15071596" y="6254369"/>
              <a:ext cx="161544" cy="161544"/>
            </a:xfrm>
            <a:prstGeom prst="rect">
              <a:avLst/>
            </a:prstGeom>
          </p:spPr>
        </p:pic>
      </p:grpSp>
      <p:sp>
        <p:nvSpPr>
          <p:cNvPr id="23" name="object 23"/>
          <p:cNvSpPr txBox="1"/>
          <p:nvPr/>
        </p:nvSpPr>
        <p:spPr>
          <a:xfrm>
            <a:off x="15036800" y="5045934"/>
            <a:ext cx="1931035" cy="1463675"/>
          </a:xfrm>
          <a:prstGeom prst="rect">
            <a:avLst/>
          </a:prstGeom>
        </p:spPr>
        <p:txBody>
          <a:bodyPr vert="horz" wrap="square" lIns="0" tIns="33655" rIns="0" bIns="0" rtlCol="0">
            <a:spAutoFit/>
          </a:bodyPr>
          <a:lstStyle/>
          <a:p>
            <a:pPr marL="12700">
              <a:lnSpc>
                <a:spcPct val="100000"/>
              </a:lnSpc>
              <a:spcBef>
                <a:spcPts val="265"/>
              </a:spcBef>
            </a:pPr>
            <a:r>
              <a:rPr sz="2000" b="1" spc="-10">
                <a:solidFill>
                  <a:srgbClr val="616161"/>
                </a:solidFill>
                <a:latin typeface="Segoe UI"/>
                <a:cs typeface="Segoe UI"/>
              </a:rPr>
              <a:t>abc_rank</a:t>
            </a:r>
            <a:endParaRPr sz="2000">
              <a:latin typeface="Segoe UI"/>
              <a:cs typeface="Segoe UI"/>
            </a:endParaRPr>
          </a:p>
          <a:p>
            <a:pPr marL="227329">
              <a:lnSpc>
                <a:spcPct val="100000"/>
              </a:lnSpc>
              <a:spcBef>
                <a:spcPts val="200"/>
              </a:spcBef>
            </a:pPr>
            <a:r>
              <a:rPr sz="2000" b="1">
                <a:solidFill>
                  <a:srgbClr val="616161"/>
                </a:solidFill>
                <a:latin typeface="Segoe UI"/>
                <a:cs typeface="Segoe UI"/>
              </a:rPr>
              <a:t>A</a:t>
            </a:r>
            <a:r>
              <a:rPr sz="2000" b="1" spc="-10">
                <a:solidFill>
                  <a:srgbClr val="616161"/>
                </a:solidFill>
                <a:latin typeface="Segoe UI"/>
                <a:cs typeface="Segoe UI"/>
              </a:rPr>
              <a:t> (</a:t>
            </a:r>
            <a:r>
              <a:rPr sz="2250" b="1" spc="-270">
                <a:solidFill>
                  <a:srgbClr val="616161"/>
                </a:solidFill>
                <a:latin typeface="BIZ UDPGothic"/>
                <a:cs typeface="BIZ UDPGothic"/>
              </a:rPr>
              <a:t>主</a:t>
            </a:r>
            <a:r>
              <a:rPr sz="2250" b="1" spc="-270">
                <a:solidFill>
                  <a:srgbClr val="616161"/>
                </a:solidFill>
                <a:latin typeface="Adobe Clean Han ExtraBold"/>
                <a:cs typeface="Adobe Clean Han ExtraBold"/>
              </a:rPr>
              <a:t>⼒</a:t>
            </a:r>
            <a:r>
              <a:rPr sz="2250" b="1" spc="-270">
                <a:solidFill>
                  <a:srgbClr val="616161"/>
                </a:solidFill>
                <a:latin typeface="BIZ UDPGothic"/>
                <a:cs typeface="BIZ UDPGothic"/>
              </a:rPr>
              <a:t>商品</a:t>
            </a:r>
            <a:r>
              <a:rPr sz="2000" b="1" spc="-50">
                <a:solidFill>
                  <a:srgbClr val="616161"/>
                </a:solidFill>
                <a:latin typeface="Segoe UI"/>
                <a:cs typeface="Segoe UI"/>
              </a:rPr>
              <a:t>)</a:t>
            </a:r>
            <a:endParaRPr sz="2000">
              <a:latin typeface="Segoe UI"/>
              <a:cs typeface="Segoe UI"/>
            </a:endParaRPr>
          </a:p>
          <a:p>
            <a:pPr marL="227329">
              <a:lnSpc>
                <a:spcPct val="100000"/>
              </a:lnSpc>
              <a:spcBef>
                <a:spcPts val="225"/>
              </a:spcBef>
            </a:pPr>
            <a:r>
              <a:rPr sz="2000" b="1">
                <a:solidFill>
                  <a:srgbClr val="616161"/>
                </a:solidFill>
                <a:latin typeface="Segoe UI"/>
                <a:cs typeface="Segoe UI"/>
              </a:rPr>
              <a:t>B</a:t>
            </a:r>
            <a:r>
              <a:rPr sz="2000" b="1" spc="-10">
                <a:solidFill>
                  <a:srgbClr val="616161"/>
                </a:solidFill>
                <a:latin typeface="Segoe UI"/>
                <a:cs typeface="Segoe UI"/>
              </a:rPr>
              <a:t> (</a:t>
            </a:r>
            <a:r>
              <a:rPr sz="2250" b="1" spc="-270">
                <a:solidFill>
                  <a:srgbClr val="616161"/>
                </a:solidFill>
                <a:latin typeface="BIZ UDPGothic"/>
                <a:cs typeface="BIZ UDPGothic"/>
              </a:rPr>
              <a:t>準主</a:t>
            </a:r>
            <a:r>
              <a:rPr sz="2250" b="1" spc="-270">
                <a:solidFill>
                  <a:srgbClr val="616161"/>
                </a:solidFill>
                <a:latin typeface="Adobe Clean Han ExtraBold"/>
                <a:cs typeface="Adobe Clean Han ExtraBold"/>
              </a:rPr>
              <a:t>⼒</a:t>
            </a:r>
            <a:r>
              <a:rPr sz="2250" b="1" spc="-270">
                <a:solidFill>
                  <a:srgbClr val="616161"/>
                </a:solidFill>
                <a:latin typeface="BIZ UDPGothic"/>
                <a:cs typeface="BIZ UDPGothic"/>
              </a:rPr>
              <a:t>商品</a:t>
            </a:r>
            <a:r>
              <a:rPr sz="2000" b="1" spc="-50">
                <a:solidFill>
                  <a:srgbClr val="616161"/>
                </a:solidFill>
                <a:latin typeface="Segoe UI"/>
                <a:cs typeface="Segoe UI"/>
              </a:rPr>
              <a:t>)</a:t>
            </a:r>
            <a:endParaRPr sz="2000">
              <a:latin typeface="Segoe UI"/>
              <a:cs typeface="Segoe UI"/>
            </a:endParaRPr>
          </a:p>
          <a:p>
            <a:pPr marL="227329">
              <a:lnSpc>
                <a:spcPct val="100000"/>
              </a:lnSpc>
              <a:spcBef>
                <a:spcPts val="225"/>
              </a:spcBef>
            </a:pPr>
            <a:r>
              <a:rPr sz="2000" b="1">
                <a:solidFill>
                  <a:srgbClr val="616161"/>
                </a:solidFill>
                <a:latin typeface="Segoe UI"/>
                <a:cs typeface="Segoe UI"/>
              </a:rPr>
              <a:t>C</a:t>
            </a:r>
            <a:r>
              <a:rPr sz="2000" b="1" spc="-10">
                <a:solidFill>
                  <a:srgbClr val="616161"/>
                </a:solidFill>
                <a:latin typeface="Segoe UI"/>
                <a:cs typeface="Segoe UI"/>
              </a:rPr>
              <a:t> (</a:t>
            </a:r>
            <a:r>
              <a:rPr sz="2250" b="1" spc="-270">
                <a:solidFill>
                  <a:srgbClr val="616161"/>
                </a:solidFill>
                <a:latin typeface="BIZ UDPGothic"/>
                <a:cs typeface="BIZ UDPGothic"/>
              </a:rPr>
              <a:t>売上</a:t>
            </a:r>
            <a:r>
              <a:rPr sz="2250" b="1" spc="-270">
                <a:solidFill>
                  <a:srgbClr val="616161"/>
                </a:solidFill>
                <a:latin typeface="Adobe Clean Han ExtraBold"/>
                <a:cs typeface="Adobe Clean Han ExtraBold"/>
              </a:rPr>
              <a:t>⼩</a:t>
            </a:r>
            <a:r>
              <a:rPr sz="2000" b="1" spc="-50">
                <a:solidFill>
                  <a:srgbClr val="616161"/>
                </a:solidFill>
                <a:latin typeface="Segoe UI"/>
                <a:cs typeface="Segoe UI"/>
              </a:rPr>
              <a:t>)</a:t>
            </a:r>
            <a:endParaRPr sz="2000">
              <a:latin typeface="Segoe UI"/>
              <a:cs typeface="Segoe UI"/>
            </a:endParaRPr>
          </a:p>
        </p:txBody>
      </p:sp>
      <p:sp>
        <p:nvSpPr>
          <p:cNvPr id="24" name="テキスト ボックス 23">
            <a:extLst>
              <a:ext uri="{FF2B5EF4-FFF2-40B4-BE49-F238E27FC236}">
                <a16:creationId xmlns:a16="http://schemas.microsoft.com/office/drawing/2014/main" id="{A3EA2F86-A6F7-A5AC-4C97-1D2F5C792BD6}"/>
              </a:ext>
            </a:extLst>
          </p:cNvPr>
          <p:cNvSpPr txBox="1"/>
          <p:nvPr/>
        </p:nvSpPr>
        <p:spPr>
          <a:xfrm>
            <a:off x="10972800" y="826850"/>
            <a:ext cx="1683544" cy="369332"/>
          </a:xfrm>
          <a:prstGeom prst="rect">
            <a:avLst/>
          </a:prstGeom>
          <a:noFill/>
        </p:spPr>
        <p:txBody>
          <a:bodyPr wrap="square" rtlCol="0">
            <a:spAutoFit/>
          </a:bodyPr>
          <a:lstStyle/>
          <a:p>
            <a:r>
              <a:rPr kumimoji="1" lang="en-US" altLang="ja-JP" b="1"/>
              <a:t>powerBI </a:t>
            </a:r>
            <a:r>
              <a:rPr kumimoji="1" lang="ja-JP" altLang="en-US" b="1"/>
              <a:t>作成</a:t>
            </a:r>
            <a:endParaRPr kumimoji="1" lang="en-US" altLang="ja-JP" b="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2D966E-5DCF-FDE5-850F-DE5820E911ED}"/>
              </a:ext>
            </a:extLst>
          </p:cNvPr>
          <p:cNvSpPr>
            <a:spLocks noGrp="1"/>
          </p:cNvSpPr>
          <p:nvPr>
            <p:ph type="title"/>
          </p:nvPr>
        </p:nvSpPr>
        <p:spPr>
          <a:xfrm>
            <a:off x="3505200" y="876300"/>
            <a:ext cx="11734800" cy="1107996"/>
          </a:xfrm>
        </p:spPr>
        <p:txBody>
          <a:bodyPr/>
          <a:lstStyle/>
          <a:p>
            <a:r>
              <a:rPr kumimoji="1" lang="ja-JP" altLang="en-US"/>
              <a:t>　　</a:t>
            </a:r>
            <a:r>
              <a:rPr kumimoji="1" lang="ja-JP" altLang="en-US" sz="3600"/>
              <a:t>③ ユーザー初回購入月からの継続率分析（コホート分析）</a:t>
            </a:r>
          </a:p>
        </p:txBody>
      </p:sp>
      <p:sp>
        <p:nvSpPr>
          <p:cNvPr id="3" name="テキスト ボックス 2">
            <a:extLst>
              <a:ext uri="{FF2B5EF4-FFF2-40B4-BE49-F238E27FC236}">
                <a16:creationId xmlns:a16="http://schemas.microsoft.com/office/drawing/2014/main" id="{784A3D12-ABBA-85AB-D4A3-5A13E92F24E3}"/>
              </a:ext>
            </a:extLst>
          </p:cNvPr>
          <p:cNvSpPr txBox="1"/>
          <p:nvPr/>
        </p:nvSpPr>
        <p:spPr>
          <a:xfrm>
            <a:off x="1295400" y="3695700"/>
            <a:ext cx="17145000" cy="4801314"/>
          </a:xfrm>
          <a:prstGeom prst="rect">
            <a:avLst/>
          </a:prstGeom>
          <a:noFill/>
        </p:spPr>
        <p:txBody>
          <a:bodyPr wrap="square" rtlCol="0">
            <a:spAutoFit/>
          </a:bodyPr>
          <a:lstStyle/>
          <a:p>
            <a:r>
              <a:rPr kumimoji="1" lang="ja-JP" altLang="en-US" sz="3200"/>
              <a:t>・分析の狙い：</a:t>
            </a:r>
            <a:endParaRPr kumimoji="1" lang="en-US" altLang="ja-JP" sz="3200"/>
          </a:p>
          <a:p>
            <a:r>
              <a:rPr kumimoji="1" lang="ja-JP" altLang="en-US" sz="3200"/>
              <a:t>　　</a:t>
            </a:r>
            <a:r>
              <a:rPr kumimoji="1" lang="en-US" altLang="ja-JP" sz="3200"/>
              <a:t>EC</a:t>
            </a:r>
            <a:r>
              <a:rPr kumimoji="1" lang="ja-JP" altLang="en-US" sz="3200"/>
              <a:t>サイトの健康状態を示す「リピート継続率」を可視化し、</a:t>
            </a:r>
            <a:endParaRPr kumimoji="1" lang="en-US" altLang="ja-JP" sz="3200"/>
          </a:p>
          <a:p>
            <a:r>
              <a:rPr kumimoji="1" lang="ja-JP" altLang="en-US" sz="3200"/>
              <a:t>　　顧客が何ヶ月目までお店に残ってくれているかを計測。</a:t>
            </a:r>
          </a:p>
          <a:p>
            <a:endParaRPr kumimoji="1" lang="ja-JP" altLang="en-US" sz="3200"/>
          </a:p>
          <a:p>
            <a:endParaRPr kumimoji="1" lang="en-US" altLang="ja-JP" sz="3200"/>
          </a:p>
          <a:p>
            <a:endParaRPr kumimoji="1" lang="en-US" altLang="ja-JP" sz="3200"/>
          </a:p>
          <a:p>
            <a:r>
              <a:rPr kumimoji="1" lang="ja-JP" altLang="en-US" sz="3200"/>
              <a:t>・クエリの工夫：</a:t>
            </a:r>
            <a:endParaRPr kumimoji="1" lang="en-US" altLang="ja-JP" sz="3200"/>
          </a:p>
          <a:p>
            <a:r>
              <a:rPr kumimoji="1" lang="ja-JP" altLang="en-US" sz="3200"/>
              <a:t>　　</a:t>
            </a:r>
            <a:r>
              <a:rPr kumimoji="1" lang="en-US" altLang="ja-JP" sz="3200"/>
              <a:t>WITH </a:t>
            </a:r>
            <a:r>
              <a:rPr kumimoji="1" lang="ja-JP" altLang="en-US" sz="3200"/>
              <a:t>句を使って「初回購入月」と「その後の購入月」のテーブルを小分けに定義し、　　　</a:t>
            </a:r>
            <a:endParaRPr kumimoji="1" lang="en-US" altLang="ja-JP" sz="3200"/>
          </a:p>
          <a:p>
            <a:r>
              <a:rPr kumimoji="1" lang="ja-JP" altLang="en-US" sz="3200"/>
              <a:t>　　</a:t>
            </a:r>
            <a:r>
              <a:rPr kumimoji="1" lang="en-US" altLang="ja-JP" sz="3200"/>
              <a:t>DATE_DIFF </a:t>
            </a:r>
            <a:r>
              <a:rPr kumimoji="1" lang="ja-JP" altLang="en-US" sz="3200"/>
              <a:t>関数を使って初回購入から何ヶ月後に再購入したか経過月数を算出。</a:t>
            </a:r>
          </a:p>
          <a:p>
            <a:endParaRPr kumimoji="1" lang="ja-JP" altLang="en-US"/>
          </a:p>
        </p:txBody>
      </p:sp>
    </p:spTree>
    <p:extLst>
      <p:ext uri="{BB962C8B-B14F-4D97-AF65-F5344CB8AC3E}">
        <p14:creationId xmlns:p14="http://schemas.microsoft.com/office/powerpoint/2010/main" val="492870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BA9ECD-7A98-EAE9-F51C-B5CADEB33AA7}"/>
              </a:ext>
            </a:extLst>
          </p:cNvPr>
          <p:cNvSpPr>
            <a:spLocks noGrp="1"/>
          </p:cNvSpPr>
          <p:nvPr>
            <p:ph type="title"/>
          </p:nvPr>
        </p:nvSpPr>
        <p:spPr>
          <a:xfrm>
            <a:off x="7095475" y="800100"/>
            <a:ext cx="4554249" cy="553998"/>
          </a:xfrm>
        </p:spPr>
        <p:txBody>
          <a:bodyPr/>
          <a:lstStyle/>
          <a:p>
            <a:r>
              <a:rPr kumimoji="1" lang="ja-JP" altLang="en-US"/>
              <a:t>　　</a:t>
            </a:r>
            <a:r>
              <a:rPr kumimoji="1" lang="en-US" altLang="ja-JP" sz="3600"/>
              <a:t>SQL /</a:t>
            </a:r>
            <a:r>
              <a:rPr kumimoji="1" lang="ja-JP" altLang="en-US" sz="3600"/>
              <a:t>コホート分析①</a:t>
            </a:r>
          </a:p>
        </p:txBody>
      </p:sp>
      <p:sp>
        <p:nvSpPr>
          <p:cNvPr id="3" name="テキスト ボックス 2">
            <a:extLst>
              <a:ext uri="{FF2B5EF4-FFF2-40B4-BE49-F238E27FC236}">
                <a16:creationId xmlns:a16="http://schemas.microsoft.com/office/drawing/2014/main" id="{0EDB15BE-AEF6-AE36-5749-BA8B17368E12}"/>
              </a:ext>
            </a:extLst>
          </p:cNvPr>
          <p:cNvSpPr txBox="1"/>
          <p:nvPr/>
        </p:nvSpPr>
        <p:spPr>
          <a:xfrm>
            <a:off x="3190458" y="3467100"/>
            <a:ext cx="12430542" cy="5539978"/>
          </a:xfrm>
          <a:prstGeom prst="rect">
            <a:avLst/>
          </a:prstGeom>
          <a:noFill/>
        </p:spPr>
        <p:txBody>
          <a:bodyPr wrap="square" rtlCol="0">
            <a:spAutoFit/>
          </a:bodyPr>
          <a:lstStyle/>
          <a:p>
            <a:r>
              <a:rPr kumimoji="1" lang="en-US" altLang="ja-JP" sz="2800"/>
              <a:t>WITH user_first_order AS (</a:t>
            </a:r>
          </a:p>
          <a:p>
            <a:r>
              <a:rPr kumimoji="1" lang="en-US" altLang="ja-JP" sz="2800"/>
              <a:t>  </a:t>
            </a:r>
            <a:r>
              <a:rPr kumimoji="1" lang="en-US" altLang="ja-JP" sz="2800">
                <a:solidFill>
                  <a:srgbClr val="C00000"/>
                </a:solidFill>
              </a:rPr>
              <a:t>-- </a:t>
            </a:r>
            <a:r>
              <a:rPr kumimoji="1" lang="ja-JP" altLang="en-US" sz="2800">
                <a:solidFill>
                  <a:srgbClr val="C00000"/>
                </a:solidFill>
              </a:rPr>
              <a:t>ユーザーごとの「初めて購入した月（初回購入月）」</a:t>
            </a:r>
          </a:p>
          <a:p>
            <a:r>
              <a:rPr kumimoji="1" lang="ja-JP" altLang="en-US" sz="2800"/>
              <a:t>  </a:t>
            </a:r>
            <a:r>
              <a:rPr kumimoji="1" lang="en-US" altLang="ja-JP" sz="2800"/>
              <a:t>SELECT</a:t>
            </a:r>
          </a:p>
          <a:p>
            <a:r>
              <a:rPr kumimoji="1" lang="en-US" altLang="ja-JP" sz="2800"/>
              <a:t>    user_id,</a:t>
            </a:r>
          </a:p>
          <a:p>
            <a:r>
              <a:rPr kumimoji="1" lang="en-US" altLang="ja-JP" sz="2800"/>
              <a:t>    MIN(FORMAT_TIMESTAMP('%Y-%m', created_at)) AS first_order_month</a:t>
            </a:r>
          </a:p>
          <a:p>
            <a:r>
              <a:rPr kumimoji="1" lang="en-US" altLang="ja-JP" sz="2800"/>
              <a:t>  FROM</a:t>
            </a:r>
          </a:p>
          <a:p>
            <a:r>
              <a:rPr kumimoji="1" lang="en-US" altLang="ja-JP" sz="2800"/>
              <a:t>    `bigquery-public-data.thelook_ecommerce.order_items`</a:t>
            </a:r>
          </a:p>
          <a:p>
            <a:r>
              <a:rPr kumimoji="1" lang="en-US" altLang="ja-JP" sz="2800"/>
              <a:t>  WHERE</a:t>
            </a:r>
          </a:p>
          <a:p>
            <a:r>
              <a:rPr kumimoji="1" lang="en-US" altLang="ja-JP" sz="2800"/>
              <a:t>    status NOT IN ('Cancelled', 'Returned')</a:t>
            </a:r>
          </a:p>
          <a:p>
            <a:r>
              <a:rPr kumimoji="1" lang="en-US" altLang="ja-JP" sz="2800"/>
              <a:t>  GROUP BY</a:t>
            </a:r>
          </a:p>
          <a:p>
            <a:r>
              <a:rPr kumimoji="1" lang="en-US" altLang="ja-JP" sz="2800"/>
              <a:t>    user_id</a:t>
            </a:r>
          </a:p>
          <a:p>
            <a:r>
              <a:rPr kumimoji="1" lang="en-US" altLang="ja-JP" sz="2800"/>
              <a:t>),</a:t>
            </a:r>
          </a:p>
          <a:p>
            <a:endParaRPr kumimoji="1" lang="ja-JP" altLang="en-US"/>
          </a:p>
        </p:txBody>
      </p:sp>
    </p:spTree>
    <p:extLst>
      <p:ext uri="{BB962C8B-B14F-4D97-AF65-F5344CB8AC3E}">
        <p14:creationId xmlns:p14="http://schemas.microsoft.com/office/powerpoint/2010/main" val="4237572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D14E7F-5ED4-7654-D4CF-A708D139ACEE}"/>
              </a:ext>
            </a:extLst>
          </p:cNvPr>
          <p:cNvSpPr>
            <a:spLocks noGrp="1"/>
          </p:cNvSpPr>
          <p:nvPr>
            <p:ph type="title"/>
          </p:nvPr>
        </p:nvSpPr>
        <p:spPr>
          <a:xfrm>
            <a:off x="7010399" y="723900"/>
            <a:ext cx="4724401" cy="609600"/>
          </a:xfrm>
        </p:spPr>
        <p:txBody>
          <a:bodyPr/>
          <a:lstStyle/>
          <a:p>
            <a:r>
              <a:rPr kumimoji="1" lang="ja-JP" altLang="en-US"/>
              <a:t>　　　</a:t>
            </a:r>
            <a:r>
              <a:rPr kumimoji="1" lang="en-US" altLang="ja-JP" sz="3600"/>
              <a:t>SQL /</a:t>
            </a:r>
            <a:r>
              <a:rPr kumimoji="1" lang="ja-JP" altLang="en-US" sz="3600"/>
              <a:t>コホート分析②</a:t>
            </a:r>
            <a:br>
              <a:rPr kumimoji="1" lang="en-US" altLang="ja-JP" sz="3600"/>
            </a:br>
            <a:endParaRPr kumimoji="1" lang="ja-JP" altLang="en-US" sz="3600"/>
          </a:p>
        </p:txBody>
      </p:sp>
      <p:sp>
        <p:nvSpPr>
          <p:cNvPr id="3" name="テキスト ボックス 2">
            <a:extLst>
              <a:ext uri="{FF2B5EF4-FFF2-40B4-BE49-F238E27FC236}">
                <a16:creationId xmlns:a16="http://schemas.microsoft.com/office/drawing/2014/main" id="{50D690AC-D8AA-D82A-E06D-F3980F086665}"/>
              </a:ext>
            </a:extLst>
          </p:cNvPr>
          <p:cNvSpPr txBox="1"/>
          <p:nvPr/>
        </p:nvSpPr>
        <p:spPr>
          <a:xfrm>
            <a:off x="4800600" y="2817554"/>
            <a:ext cx="10820400" cy="5109091"/>
          </a:xfrm>
          <a:prstGeom prst="rect">
            <a:avLst/>
          </a:prstGeom>
          <a:noFill/>
        </p:spPr>
        <p:txBody>
          <a:bodyPr wrap="square" rtlCol="0">
            <a:spAutoFit/>
          </a:bodyPr>
          <a:lstStyle/>
          <a:p>
            <a:r>
              <a:rPr kumimoji="1" lang="en-US" altLang="ja-JP" sz="2800"/>
              <a:t>cohort_sizes AS (</a:t>
            </a:r>
          </a:p>
          <a:p>
            <a:r>
              <a:rPr kumimoji="1" lang="en-US" altLang="ja-JP" sz="2800">
                <a:solidFill>
                  <a:srgbClr val="C00000"/>
                </a:solidFill>
              </a:rPr>
              <a:t>  -- </a:t>
            </a:r>
            <a:r>
              <a:rPr kumimoji="1" lang="ja-JP" altLang="en-US" sz="2800">
                <a:solidFill>
                  <a:srgbClr val="C00000"/>
                </a:solidFill>
              </a:rPr>
              <a:t>初回購入月（コホート）ごとの、同期人数</a:t>
            </a:r>
          </a:p>
          <a:p>
            <a:r>
              <a:rPr kumimoji="1" lang="ja-JP" altLang="en-US" sz="2800"/>
              <a:t>  </a:t>
            </a:r>
            <a:r>
              <a:rPr kumimoji="1" lang="en-US" altLang="ja-JP" sz="2800"/>
              <a:t>SELECT</a:t>
            </a:r>
          </a:p>
          <a:p>
            <a:r>
              <a:rPr kumimoji="1" lang="en-US" altLang="ja-JP" sz="2800"/>
              <a:t>    first_order_month,</a:t>
            </a:r>
          </a:p>
          <a:p>
            <a:r>
              <a:rPr kumimoji="1" lang="en-US" altLang="ja-JP" sz="2800"/>
              <a:t>    COUNT(DISTINCT user_id) AS cohort_size</a:t>
            </a:r>
          </a:p>
          <a:p>
            <a:r>
              <a:rPr kumimoji="1" lang="en-US" altLang="ja-JP" sz="2800"/>
              <a:t>  FROM</a:t>
            </a:r>
          </a:p>
          <a:p>
            <a:r>
              <a:rPr kumimoji="1" lang="en-US" altLang="ja-JP" sz="2800"/>
              <a:t>    user_first_order</a:t>
            </a:r>
          </a:p>
          <a:p>
            <a:r>
              <a:rPr kumimoji="1" lang="en-US" altLang="ja-JP" sz="2800"/>
              <a:t>  GROUP BY</a:t>
            </a:r>
          </a:p>
          <a:p>
            <a:r>
              <a:rPr kumimoji="1" lang="en-US" altLang="ja-JP" sz="2800"/>
              <a:t>    first_order_month</a:t>
            </a:r>
          </a:p>
          <a:p>
            <a:r>
              <a:rPr kumimoji="1" lang="en-US" altLang="ja-JP" sz="2800"/>
              <a:t>)</a:t>
            </a:r>
          </a:p>
          <a:p>
            <a:endParaRPr kumimoji="1" lang="en-US" altLang="ja-JP" sz="2800"/>
          </a:p>
          <a:p>
            <a:endParaRPr kumimoji="1" lang="ja-JP" altLang="en-US"/>
          </a:p>
        </p:txBody>
      </p:sp>
    </p:spTree>
    <p:extLst>
      <p:ext uri="{BB962C8B-B14F-4D97-AF65-F5344CB8AC3E}">
        <p14:creationId xmlns:p14="http://schemas.microsoft.com/office/powerpoint/2010/main" val="2261493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7589D9-366A-A569-3665-7A103A8FA5D7}"/>
              </a:ext>
            </a:extLst>
          </p:cNvPr>
          <p:cNvSpPr>
            <a:spLocks noGrp="1"/>
          </p:cNvSpPr>
          <p:nvPr>
            <p:ph type="title"/>
          </p:nvPr>
        </p:nvSpPr>
        <p:spPr>
          <a:xfrm>
            <a:off x="6714475" y="800100"/>
            <a:ext cx="5316249" cy="1107996"/>
          </a:xfrm>
        </p:spPr>
        <p:txBody>
          <a:bodyPr/>
          <a:lstStyle/>
          <a:p>
            <a:r>
              <a:rPr kumimoji="1" lang="ja-JP" altLang="en-US"/>
              <a:t>　　　</a:t>
            </a:r>
            <a:r>
              <a:rPr kumimoji="1" lang="en-US" altLang="ja-JP" sz="3600"/>
              <a:t>SQL /</a:t>
            </a:r>
            <a:r>
              <a:rPr kumimoji="1" lang="ja-JP" altLang="en-US" sz="3600"/>
              <a:t>コホート分析③</a:t>
            </a:r>
            <a:br>
              <a:rPr kumimoji="1" lang="en-US" altLang="ja-JP" sz="3600"/>
            </a:br>
            <a:endParaRPr kumimoji="1" lang="ja-JP" altLang="en-US" sz="3600"/>
          </a:p>
        </p:txBody>
      </p:sp>
      <p:sp>
        <p:nvSpPr>
          <p:cNvPr id="3" name="テキスト ボックス 2">
            <a:extLst>
              <a:ext uri="{FF2B5EF4-FFF2-40B4-BE49-F238E27FC236}">
                <a16:creationId xmlns:a16="http://schemas.microsoft.com/office/drawing/2014/main" id="{BE06A64A-7101-E633-55DD-8B33DCCC7E4E}"/>
              </a:ext>
            </a:extLst>
          </p:cNvPr>
          <p:cNvSpPr txBox="1"/>
          <p:nvPr/>
        </p:nvSpPr>
        <p:spPr>
          <a:xfrm>
            <a:off x="3924300" y="2095500"/>
            <a:ext cx="10896600" cy="8153400"/>
          </a:xfrm>
          <a:prstGeom prst="rect">
            <a:avLst/>
          </a:prstGeom>
          <a:noFill/>
        </p:spPr>
        <p:txBody>
          <a:bodyPr wrap="square" rtlCol="0">
            <a:spAutoFit/>
          </a:bodyPr>
          <a:lstStyle/>
          <a:p>
            <a:r>
              <a:rPr kumimoji="1" lang="en-US" altLang="ja-JP" b="1">
                <a:solidFill>
                  <a:srgbClr val="C00000"/>
                </a:solidFill>
              </a:rPr>
              <a:t>--</a:t>
            </a:r>
            <a:r>
              <a:rPr kumimoji="1" lang="ja-JP" altLang="en-US" b="1">
                <a:solidFill>
                  <a:srgbClr val="C00000"/>
                </a:solidFill>
              </a:rPr>
              <a:t>初回購入月と、その後の購入月を掛け合わせて、経過月ごとのリピート人数と率を計算</a:t>
            </a:r>
          </a:p>
          <a:p>
            <a:r>
              <a:rPr kumimoji="1" lang="en-US" altLang="ja-JP"/>
              <a:t>SELECT</a:t>
            </a:r>
          </a:p>
          <a:p>
            <a:r>
              <a:rPr kumimoji="1" lang="en-US" altLang="ja-JP"/>
              <a:t>  f.first_order_month AS cohort_month,</a:t>
            </a:r>
          </a:p>
          <a:p>
            <a:r>
              <a:rPr kumimoji="1" lang="en-US" altLang="ja-JP"/>
              <a:t>  s.cohort_size AS original_customer_count,</a:t>
            </a:r>
          </a:p>
          <a:p>
            <a:r>
              <a:rPr kumimoji="1" lang="en-US" altLang="ja-JP"/>
              <a:t>  -- </a:t>
            </a:r>
            <a:r>
              <a:rPr kumimoji="1" lang="ja-JP" altLang="en-US"/>
              <a:t>初回購入から何ヶ月経ったか（経過月数）を計算</a:t>
            </a:r>
          </a:p>
          <a:p>
            <a:r>
              <a:rPr kumimoji="1" lang="ja-JP" altLang="en-US"/>
              <a:t>  </a:t>
            </a:r>
            <a:r>
              <a:rPr kumimoji="1" lang="en-US" altLang="ja-JP"/>
              <a:t>DATE_DIFF(</a:t>
            </a:r>
          </a:p>
          <a:p>
            <a:r>
              <a:rPr kumimoji="1" lang="en-US" altLang="ja-JP"/>
              <a:t>    DATE(PARSE_DATE('%Y-%m', o.order_month)), </a:t>
            </a:r>
          </a:p>
          <a:p>
            <a:r>
              <a:rPr kumimoji="1" lang="en-US" altLang="ja-JP"/>
              <a:t>    DATE(PARSE_DATE('%Y-%m', f.first_order_month)), </a:t>
            </a:r>
          </a:p>
          <a:p>
            <a:r>
              <a:rPr kumimoji="1" lang="en-US" altLang="ja-JP"/>
              <a:t>    MONTH</a:t>
            </a:r>
          </a:p>
          <a:p>
            <a:r>
              <a:rPr kumimoji="1" lang="en-US" altLang="ja-JP"/>
              <a:t>  ) AS months_lapsed,</a:t>
            </a:r>
          </a:p>
          <a:p>
            <a:r>
              <a:rPr kumimoji="1" lang="en-US" altLang="ja-JP" b="1"/>
              <a:t>  </a:t>
            </a:r>
            <a:r>
              <a:rPr kumimoji="1" lang="en-US" altLang="ja-JP" b="1">
                <a:solidFill>
                  <a:srgbClr val="C00000"/>
                </a:solidFill>
              </a:rPr>
              <a:t>-- </a:t>
            </a:r>
            <a:r>
              <a:rPr kumimoji="1" lang="ja-JP" altLang="en-US" b="1">
                <a:solidFill>
                  <a:srgbClr val="C00000"/>
                </a:solidFill>
              </a:rPr>
              <a:t>その月に戻ってきたリピーターの数</a:t>
            </a:r>
          </a:p>
          <a:p>
            <a:r>
              <a:rPr kumimoji="1" lang="ja-JP" altLang="en-US"/>
              <a:t>  </a:t>
            </a:r>
            <a:r>
              <a:rPr kumimoji="1" lang="en-US" altLang="ja-JP"/>
              <a:t>COUNT(DISTINCT o.user_id) AS active_customer_count,</a:t>
            </a:r>
          </a:p>
          <a:p>
            <a:r>
              <a:rPr kumimoji="1" lang="en-US" altLang="ja-JP"/>
              <a:t>  </a:t>
            </a:r>
            <a:r>
              <a:rPr kumimoji="1" lang="en-US" altLang="ja-JP" b="1">
                <a:solidFill>
                  <a:srgbClr val="C00000"/>
                </a:solidFill>
              </a:rPr>
              <a:t>-- </a:t>
            </a:r>
            <a:r>
              <a:rPr kumimoji="1" lang="ja-JP" altLang="en-US" b="1">
                <a:solidFill>
                  <a:srgbClr val="C00000"/>
                </a:solidFill>
              </a:rPr>
              <a:t>残存率（リピーター数 </a:t>
            </a:r>
            <a:r>
              <a:rPr kumimoji="1" lang="en-US" altLang="ja-JP" b="1">
                <a:solidFill>
                  <a:srgbClr val="C00000"/>
                </a:solidFill>
              </a:rPr>
              <a:t>÷ </a:t>
            </a:r>
            <a:r>
              <a:rPr kumimoji="1" lang="ja-JP" altLang="en-US" b="1">
                <a:solidFill>
                  <a:srgbClr val="C00000"/>
                </a:solidFill>
              </a:rPr>
              <a:t>同期の人数）を％で計算</a:t>
            </a:r>
          </a:p>
          <a:p>
            <a:r>
              <a:rPr kumimoji="1" lang="ja-JP" altLang="en-US"/>
              <a:t>  </a:t>
            </a:r>
            <a:r>
              <a:rPr kumimoji="1" lang="en-US" altLang="ja-JP"/>
              <a:t>ROUND((COUNT(DISTINCT o.user_id) / s.cohort_size) * 100, 1) AS retention_rate</a:t>
            </a:r>
          </a:p>
          <a:p>
            <a:r>
              <a:rPr kumimoji="1" lang="en-US" altLang="ja-JP"/>
              <a:t>FROM</a:t>
            </a:r>
          </a:p>
          <a:p>
            <a:r>
              <a:rPr kumimoji="1" lang="en-US" altLang="ja-JP"/>
              <a:t>  user_first_order f</a:t>
            </a:r>
          </a:p>
          <a:p>
            <a:r>
              <a:rPr kumimoji="1" lang="en-US" altLang="ja-JP"/>
              <a:t>JOIN</a:t>
            </a:r>
          </a:p>
          <a:p>
            <a:r>
              <a:rPr kumimoji="1" lang="en-US" altLang="ja-JP"/>
              <a:t>  order_months o ON f.user_id = o.user_id</a:t>
            </a:r>
          </a:p>
          <a:p>
            <a:r>
              <a:rPr kumimoji="1" lang="en-US" altLang="ja-JP"/>
              <a:t>JOIN</a:t>
            </a:r>
          </a:p>
          <a:p>
            <a:r>
              <a:rPr kumimoji="1" lang="en-US" altLang="ja-JP"/>
              <a:t>  cohort_sizes s ON f.first_order_month = s.first_order_month</a:t>
            </a:r>
          </a:p>
          <a:p>
            <a:r>
              <a:rPr kumimoji="1" lang="en-US" altLang="ja-JP" b="1">
                <a:solidFill>
                  <a:srgbClr val="C00000"/>
                </a:solidFill>
              </a:rPr>
              <a:t>-- 2023</a:t>
            </a:r>
            <a:r>
              <a:rPr kumimoji="1" lang="ja-JP" altLang="en-US" b="1">
                <a:solidFill>
                  <a:srgbClr val="C00000"/>
                </a:solidFill>
              </a:rPr>
              <a:t>年以降の比較的新しいデータに絞る</a:t>
            </a:r>
            <a:endParaRPr kumimoji="1" lang="en-US" altLang="ja-JP" b="1"/>
          </a:p>
          <a:p>
            <a:r>
              <a:rPr kumimoji="1" lang="en-US" altLang="ja-JP"/>
              <a:t>WHERE</a:t>
            </a:r>
          </a:p>
          <a:p>
            <a:r>
              <a:rPr kumimoji="1" lang="en-US" altLang="ja-JP">
                <a:solidFill>
                  <a:srgbClr val="C00000"/>
                </a:solidFill>
              </a:rPr>
              <a:t>  </a:t>
            </a:r>
            <a:r>
              <a:rPr kumimoji="1" lang="ja-JP" altLang="en-US"/>
              <a:t>  </a:t>
            </a:r>
            <a:r>
              <a:rPr kumimoji="1" lang="en-US" altLang="ja-JP"/>
              <a:t>f.first_order_month &gt;= '2023-01'</a:t>
            </a:r>
          </a:p>
          <a:p>
            <a:r>
              <a:rPr kumimoji="1" lang="en-US" altLang="ja-JP"/>
              <a:t>GROUP BY</a:t>
            </a:r>
          </a:p>
          <a:p>
            <a:r>
              <a:rPr kumimoji="1" lang="en-US" altLang="ja-JP"/>
              <a:t>  cohort_month, cohort_size, months_lapsed</a:t>
            </a:r>
          </a:p>
          <a:p>
            <a:r>
              <a:rPr kumimoji="1" lang="en-US" altLang="ja-JP"/>
              <a:t>ORDER BY</a:t>
            </a:r>
          </a:p>
          <a:p>
            <a:r>
              <a:rPr kumimoji="1" lang="en-US" altLang="ja-JP"/>
              <a:t>  cohort_month ASC, months_lapsed ASC;</a:t>
            </a:r>
          </a:p>
          <a:p>
            <a:endParaRPr kumimoji="1" lang="ja-JP" altLang="en-US"/>
          </a:p>
        </p:txBody>
      </p:sp>
    </p:spTree>
    <p:extLst>
      <p:ext uri="{BB962C8B-B14F-4D97-AF65-F5344CB8AC3E}">
        <p14:creationId xmlns:p14="http://schemas.microsoft.com/office/powerpoint/2010/main" val="2304567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28600" y="228600"/>
            <a:ext cx="18288000" cy="1597660"/>
            <a:chOff x="228600" y="228600"/>
            <a:chExt cx="18288000" cy="1597660"/>
          </a:xfrm>
        </p:grpSpPr>
        <p:sp>
          <p:nvSpPr>
            <p:cNvPr id="3" name="object 3"/>
            <p:cNvSpPr/>
            <p:nvPr/>
          </p:nvSpPr>
          <p:spPr>
            <a:xfrm>
              <a:off x="228600" y="228600"/>
              <a:ext cx="18288000" cy="323850"/>
            </a:xfrm>
            <a:custGeom>
              <a:avLst/>
              <a:gdLst/>
              <a:ahLst/>
              <a:cxnLst/>
              <a:rect l="l" t="t" r="r" b="b"/>
              <a:pathLst>
                <a:path w="18288000" h="323850">
                  <a:moveTo>
                    <a:pt x="18287998" y="323849"/>
                  </a:moveTo>
                  <a:lnTo>
                    <a:pt x="0" y="323849"/>
                  </a:lnTo>
                  <a:lnTo>
                    <a:pt x="0" y="0"/>
                  </a:lnTo>
                  <a:lnTo>
                    <a:pt x="18287998" y="0"/>
                  </a:lnTo>
                  <a:lnTo>
                    <a:pt x="18287998" y="323849"/>
                  </a:lnTo>
                  <a:close/>
                </a:path>
              </a:pathLst>
            </a:custGeom>
            <a:solidFill>
              <a:srgbClr val="3B3A38"/>
            </a:solidFill>
          </p:spPr>
          <p:txBody>
            <a:bodyPr wrap="square" lIns="0" tIns="0" rIns="0" bIns="0" rtlCol="0"/>
            <a:lstStyle/>
            <a:p>
              <a:endParaRPr/>
            </a:p>
          </p:txBody>
        </p:sp>
        <p:sp>
          <p:nvSpPr>
            <p:cNvPr id="4" name="object 4"/>
            <p:cNvSpPr/>
            <p:nvPr/>
          </p:nvSpPr>
          <p:spPr>
            <a:xfrm>
              <a:off x="228587" y="548639"/>
              <a:ext cx="18288000" cy="1222375"/>
            </a:xfrm>
            <a:custGeom>
              <a:avLst/>
              <a:gdLst/>
              <a:ahLst/>
              <a:cxnLst/>
              <a:rect l="l" t="t" r="r" b="b"/>
              <a:pathLst>
                <a:path w="18288000" h="1222375">
                  <a:moveTo>
                    <a:pt x="18288000" y="1213485"/>
                  </a:moveTo>
                  <a:lnTo>
                    <a:pt x="0" y="1213485"/>
                  </a:lnTo>
                  <a:lnTo>
                    <a:pt x="0" y="1221752"/>
                  </a:lnTo>
                  <a:lnTo>
                    <a:pt x="18288000" y="1221752"/>
                  </a:lnTo>
                  <a:lnTo>
                    <a:pt x="18288000" y="1213485"/>
                  </a:lnTo>
                  <a:close/>
                </a:path>
                <a:path w="18288000" h="1222375">
                  <a:moveTo>
                    <a:pt x="18288000" y="0"/>
                  </a:moveTo>
                  <a:lnTo>
                    <a:pt x="0" y="0"/>
                  </a:lnTo>
                  <a:lnTo>
                    <a:pt x="0" y="3810"/>
                  </a:lnTo>
                  <a:lnTo>
                    <a:pt x="18288000" y="3810"/>
                  </a:lnTo>
                  <a:lnTo>
                    <a:pt x="18288000" y="0"/>
                  </a:lnTo>
                  <a:close/>
                </a:path>
              </a:pathLst>
            </a:custGeom>
            <a:solidFill>
              <a:srgbClr val="000000">
                <a:alpha val="10998"/>
              </a:srgbClr>
            </a:solidFill>
          </p:spPr>
          <p:txBody>
            <a:bodyPr wrap="square" lIns="0" tIns="0" rIns="0" bIns="0" rtlCol="0"/>
            <a:lstStyle/>
            <a:p>
              <a:endParaRPr/>
            </a:p>
          </p:txBody>
        </p:sp>
        <p:sp>
          <p:nvSpPr>
            <p:cNvPr id="5" name="object 5"/>
            <p:cNvSpPr/>
            <p:nvPr/>
          </p:nvSpPr>
          <p:spPr>
            <a:xfrm>
              <a:off x="228600" y="1762124"/>
              <a:ext cx="18288000" cy="64135"/>
            </a:xfrm>
            <a:custGeom>
              <a:avLst/>
              <a:gdLst/>
              <a:ahLst/>
              <a:cxnLst/>
              <a:rect l="l" t="t" r="r" b="b"/>
              <a:pathLst>
                <a:path w="18288000" h="64135">
                  <a:moveTo>
                    <a:pt x="0" y="64135"/>
                  </a:moveTo>
                  <a:lnTo>
                    <a:pt x="18287999" y="64135"/>
                  </a:lnTo>
                  <a:lnTo>
                    <a:pt x="18287999" y="0"/>
                  </a:lnTo>
                  <a:lnTo>
                    <a:pt x="0" y="0"/>
                  </a:lnTo>
                  <a:lnTo>
                    <a:pt x="0" y="64135"/>
                  </a:lnTo>
                  <a:close/>
                </a:path>
              </a:pathLst>
            </a:custGeom>
            <a:solidFill>
              <a:srgbClr val="000000">
                <a:alpha val="12998"/>
              </a:srgbClr>
            </a:solidFill>
          </p:spPr>
          <p:txBody>
            <a:bodyPr wrap="square" lIns="0" tIns="0" rIns="0" bIns="0" rtlCol="0"/>
            <a:lstStyle/>
            <a:p>
              <a:endParaRPr/>
            </a:p>
          </p:txBody>
        </p:sp>
        <p:sp>
          <p:nvSpPr>
            <p:cNvPr id="6" name="object 6"/>
            <p:cNvSpPr/>
            <p:nvPr/>
          </p:nvSpPr>
          <p:spPr>
            <a:xfrm>
              <a:off x="228600" y="552449"/>
              <a:ext cx="18288000" cy="1209675"/>
            </a:xfrm>
            <a:custGeom>
              <a:avLst/>
              <a:gdLst/>
              <a:ahLst/>
              <a:cxnLst/>
              <a:rect l="l" t="t" r="r" b="b"/>
              <a:pathLst>
                <a:path w="18288000" h="1209675">
                  <a:moveTo>
                    <a:pt x="18287998" y="1209674"/>
                  </a:moveTo>
                  <a:lnTo>
                    <a:pt x="0" y="1209674"/>
                  </a:lnTo>
                  <a:lnTo>
                    <a:pt x="0" y="0"/>
                  </a:lnTo>
                  <a:lnTo>
                    <a:pt x="18287998" y="0"/>
                  </a:lnTo>
                  <a:lnTo>
                    <a:pt x="18287998" y="1209674"/>
                  </a:lnTo>
                  <a:close/>
                </a:path>
              </a:pathLst>
            </a:custGeom>
            <a:solidFill>
              <a:srgbClr val="F2F1F1"/>
            </a:solidFill>
          </p:spPr>
          <p:txBody>
            <a:bodyPr wrap="square" lIns="0" tIns="0" rIns="0" bIns="0" rtlCol="0"/>
            <a:lstStyle/>
            <a:p>
              <a:endParaRPr/>
            </a:p>
          </p:txBody>
        </p:sp>
      </p:grpSp>
      <p:sp>
        <p:nvSpPr>
          <p:cNvPr id="7" name="object 7"/>
          <p:cNvSpPr txBox="1"/>
          <p:nvPr/>
        </p:nvSpPr>
        <p:spPr>
          <a:xfrm>
            <a:off x="8929687" y="314808"/>
            <a:ext cx="885825" cy="152400"/>
          </a:xfrm>
          <a:prstGeom prst="rect">
            <a:avLst/>
          </a:prstGeom>
        </p:spPr>
        <p:txBody>
          <a:bodyPr vert="horz" wrap="square" lIns="0" tIns="8890" rIns="0" bIns="0" rtlCol="0">
            <a:spAutoFit/>
          </a:bodyPr>
          <a:lstStyle/>
          <a:p>
            <a:pPr>
              <a:lnSpc>
                <a:spcPct val="100000"/>
              </a:lnSpc>
              <a:spcBef>
                <a:spcPts val="70"/>
              </a:spcBef>
            </a:pPr>
            <a:r>
              <a:rPr sz="900">
                <a:solidFill>
                  <a:srgbClr val="FFFFFF"/>
                </a:solidFill>
                <a:latin typeface="Segoe UI"/>
                <a:cs typeface="Segoe UI"/>
              </a:rPr>
              <a:t>Power</a:t>
            </a:r>
            <a:r>
              <a:rPr sz="900" spc="-30">
                <a:solidFill>
                  <a:srgbClr val="FFFFFF"/>
                </a:solidFill>
                <a:latin typeface="Segoe UI"/>
                <a:cs typeface="Segoe UI"/>
              </a:rPr>
              <a:t> </a:t>
            </a:r>
            <a:r>
              <a:rPr sz="900">
                <a:solidFill>
                  <a:srgbClr val="FFFFFF"/>
                </a:solidFill>
                <a:latin typeface="Segoe UI"/>
                <a:cs typeface="Segoe UI"/>
              </a:rPr>
              <a:t>BI</a:t>
            </a:r>
            <a:r>
              <a:rPr sz="900" spc="-25">
                <a:solidFill>
                  <a:srgbClr val="FFFFFF"/>
                </a:solidFill>
                <a:latin typeface="Segoe UI"/>
                <a:cs typeface="Segoe UI"/>
              </a:rPr>
              <a:t> </a:t>
            </a:r>
            <a:r>
              <a:rPr sz="900" spc="-10">
                <a:solidFill>
                  <a:srgbClr val="FFFFFF"/>
                </a:solidFill>
                <a:latin typeface="Segoe UI"/>
                <a:cs typeface="Segoe UI"/>
              </a:rPr>
              <a:t>Desktop</a:t>
            </a:r>
            <a:endParaRPr sz="900">
              <a:latin typeface="Segoe UI"/>
              <a:cs typeface="Segoe UI"/>
            </a:endParaRPr>
          </a:p>
        </p:txBody>
      </p:sp>
      <p:sp>
        <p:nvSpPr>
          <p:cNvPr id="8" name="object 8"/>
          <p:cNvSpPr/>
          <p:nvPr/>
        </p:nvSpPr>
        <p:spPr>
          <a:xfrm>
            <a:off x="228600" y="22860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FAFAFA">
              <a:alpha val="85998"/>
            </a:srgbClr>
          </a:solidFill>
        </p:spPr>
        <p:txBody>
          <a:bodyPr wrap="square" lIns="0" tIns="0" rIns="0" bIns="0" rtlCol="0"/>
          <a:lstStyle/>
          <a:p>
            <a:endParaRPr/>
          </a:p>
        </p:txBody>
      </p:sp>
      <p:grpSp>
        <p:nvGrpSpPr>
          <p:cNvPr id="9" name="object 9"/>
          <p:cNvGrpSpPr/>
          <p:nvPr/>
        </p:nvGrpSpPr>
        <p:grpSpPr>
          <a:xfrm>
            <a:off x="333374" y="228600"/>
            <a:ext cx="18173700" cy="10287000"/>
            <a:chOff x="333374" y="228600"/>
            <a:chExt cx="18173700" cy="10287000"/>
          </a:xfrm>
        </p:grpSpPr>
        <p:sp>
          <p:nvSpPr>
            <p:cNvPr id="10" name="object 10"/>
            <p:cNvSpPr/>
            <p:nvPr/>
          </p:nvSpPr>
          <p:spPr>
            <a:xfrm>
              <a:off x="338137" y="233362"/>
              <a:ext cx="18164175" cy="10277475"/>
            </a:xfrm>
            <a:custGeom>
              <a:avLst/>
              <a:gdLst/>
              <a:ahLst/>
              <a:cxnLst/>
              <a:rect l="l" t="t" r="r" b="b"/>
              <a:pathLst>
                <a:path w="18164175" h="10277475">
                  <a:moveTo>
                    <a:pt x="18097425" y="10277473"/>
                  </a:moveTo>
                  <a:lnTo>
                    <a:pt x="66746" y="10277473"/>
                  </a:lnTo>
                  <a:lnTo>
                    <a:pt x="62101" y="10277016"/>
                  </a:lnTo>
                  <a:lnTo>
                    <a:pt x="24240" y="10259865"/>
                  </a:lnTo>
                  <a:lnTo>
                    <a:pt x="2287" y="10224572"/>
                  </a:lnTo>
                  <a:lnTo>
                    <a:pt x="0" y="10210727"/>
                  </a:lnTo>
                  <a:lnTo>
                    <a:pt x="0" y="10206036"/>
                  </a:lnTo>
                  <a:lnTo>
                    <a:pt x="0" y="66746"/>
                  </a:lnTo>
                  <a:lnTo>
                    <a:pt x="14645" y="27848"/>
                  </a:lnTo>
                  <a:lnTo>
                    <a:pt x="48433" y="3642"/>
                  </a:lnTo>
                  <a:lnTo>
                    <a:pt x="66746" y="0"/>
                  </a:lnTo>
                  <a:lnTo>
                    <a:pt x="18097425" y="0"/>
                  </a:lnTo>
                  <a:lnTo>
                    <a:pt x="18136324" y="14645"/>
                  </a:lnTo>
                  <a:lnTo>
                    <a:pt x="18160529" y="48433"/>
                  </a:lnTo>
                  <a:lnTo>
                    <a:pt x="18164173" y="66746"/>
                  </a:lnTo>
                  <a:lnTo>
                    <a:pt x="18164173" y="10210727"/>
                  </a:lnTo>
                  <a:lnTo>
                    <a:pt x="18149526" y="10249623"/>
                  </a:lnTo>
                  <a:lnTo>
                    <a:pt x="18115737" y="10273830"/>
                  </a:lnTo>
                  <a:lnTo>
                    <a:pt x="18102070" y="10277016"/>
                  </a:lnTo>
                  <a:lnTo>
                    <a:pt x="18097425" y="10277473"/>
                  </a:lnTo>
                  <a:close/>
                </a:path>
              </a:pathLst>
            </a:custGeom>
            <a:solidFill>
              <a:srgbClr val="FFFFFF"/>
            </a:solidFill>
          </p:spPr>
          <p:txBody>
            <a:bodyPr wrap="square" lIns="0" tIns="0" rIns="0" bIns="0" rtlCol="0"/>
            <a:lstStyle/>
            <a:p>
              <a:endParaRPr/>
            </a:p>
          </p:txBody>
        </p:sp>
        <p:sp>
          <p:nvSpPr>
            <p:cNvPr id="11" name="object 11"/>
            <p:cNvSpPr/>
            <p:nvPr/>
          </p:nvSpPr>
          <p:spPr>
            <a:xfrm>
              <a:off x="338137" y="233362"/>
              <a:ext cx="18164175" cy="10277475"/>
            </a:xfrm>
            <a:custGeom>
              <a:avLst/>
              <a:gdLst/>
              <a:ahLst/>
              <a:cxnLst/>
              <a:rect l="l" t="t" r="r" b="b"/>
              <a:pathLst>
                <a:path w="18164175" h="10277475">
                  <a:moveTo>
                    <a:pt x="0" y="10206036"/>
                  </a:moveTo>
                  <a:lnTo>
                    <a:pt x="0" y="71437"/>
                  </a:lnTo>
                  <a:lnTo>
                    <a:pt x="0" y="66746"/>
                  </a:lnTo>
                  <a:lnTo>
                    <a:pt x="457" y="62101"/>
                  </a:lnTo>
                  <a:lnTo>
                    <a:pt x="1372" y="57500"/>
                  </a:lnTo>
                  <a:lnTo>
                    <a:pt x="2287" y="52900"/>
                  </a:lnTo>
                  <a:lnTo>
                    <a:pt x="3642" y="48433"/>
                  </a:lnTo>
                  <a:lnTo>
                    <a:pt x="5437" y="44099"/>
                  </a:lnTo>
                  <a:lnTo>
                    <a:pt x="7232" y="39765"/>
                  </a:lnTo>
                  <a:lnTo>
                    <a:pt x="9433" y="35649"/>
                  </a:lnTo>
                  <a:lnTo>
                    <a:pt x="12039" y="31748"/>
                  </a:lnTo>
                  <a:lnTo>
                    <a:pt x="14645" y="27848"/>
                  </a:lnTo>
                  <a:lnTo>
                    <a:pt x="44099" y="5437"/>
                  </a:lnTo>
                  <a:lnTo>
                    <a:pt x="48433" y="3642"/>
                  </a:lnTo>
                  <a:lnTo>
                    <a:pt x="52900" y="2287"/>
                  </a:lnTo>
                  <a:lnTo>
                    <a:pt x="57500" y="1372"/>
                  </a:lnTo>
                  <a:lnTo>
                    <a:pt x="62101" y="457"/>
                  </a:lnTo>
                  <a:lnTo>
                    <a:pt x="66746" y="0"/>
                  </a:lnTo>
                  <a:lnTo>
                    <a:pt x="71437" y="0"/>
                  </a:lnTo>
                  <a:lnTo>
                    <a:pt x="18092736" y="0"/>
                  </a:lnTo>
                  <a:lnTo>
                    <a:pt x="18097425" y="0"/>
                  </a:lnTo>
                  <a:lnTo>
                    <a:pt x="18102070" y="457"/>
                  </a:lnTo>
                  <a:lnTo>
                    <a:pt x="18132422" y="12039"/>
                  </a:lnTo>
                  <a:lnTo>
                    <a:pt x="18136324" y="14645"/>
                  </a:lnTo>
                  <a:lnTo>
                    <a:pt x="18139932" y="17606"/>
                  </a:lnTo>
                  <a:lnTo>
                    <a:pt x="18143249" y="20923"/>
                  </a:lnTo>
                  <a:lnTo>
                    <a:pt x="18146566" y="24240"/>
                  </a:lnTo>
                  <a:lnTo>
                    <a:pt x="18149526" y="27848"/>
                  </a:lnTo>
                  <a:lnTo>
                    <a:pt x="18152131" y="31748"/>
                  </a:lnTo>
                  <a:lnTo>
                    <a:pt x="18154737" y="35649"/>
                  </a:lnTo>
                  <a:lnTo>
                    <a:pt x="18156938" y="39765"/>
                  </a:lnTo>
                  <a:lnTo>
                    <a:pt x="18158732" y="44099"/>
                  </a:lnTo>
                  <a:lnTo>
                    <a:pt x="18160529" y="48433"/>
                  </a:lnTo>
                  <a:lnTo>
                    <a:pt x="18161883" y="52900"/>
                  </a:lnTo>
                  <a:lnTo>
                    <a:pt x="18162799" y="57500"/>
                  </a:lnTo>
                  <a:lnTo>
                    <a:pt x="18163715" y="62101"/>
                  </a:lnTo>
                  <a:lnTo>
                    <a:pt x="18164173" y="66746"/>
                  </a:lnTo>
                  <a:lnTo>
                    <a:pt x="18164173" y="71437"/>
                  </a:lnTo>
                  <a:lnTo>
                    <a:pt x="18164173" y="10206036"/>
                  </a:lnTo>
                  <a:lnTo>
                    <a:pt x="18164173" y="10210727"/>
                  </a:lnTo>
                  <a:lnTo>
                    <a:pt x="18163715" y="10215372"/>
                  </a:lnTo>
                  <a:lnTo>
                    <a:pt x="18162800" y="10219973"/>
                  </a:lnTo>
                  <a:lnTo>
                    <a:pt x="18161885" y="10224572"/>
                  </a:lnTo>
                  <a:lnTo>
                    <a:pt x="18152132" y="10245723"/>
                  </a:lnTo>
                  <a:lnTo>
                    <a:pt x="18149526" y="10249623"/>
                  </a:lnTo>
                  <a:lnTo>
                    <a:pt x="18115737" y="10273830"/>
                  </a:lnTo>
                  <a:lnTo>
                    <a:pt x="18092736" y="10277474"/>
                  </a:lnTo>
                  <a:lnTo>
                    <a:pt x="71437" y="10277474"/>
                  </a:lnTo>
                  <a:lnTo>
                    <a:pt x="66746" y="10277473"/>
                  </a:lnTo>
                  <a:lnTo>
                    <a:pt x="62101" y="10277016"/>
                  </a:lnTo>
                  <a:lnTo>
                    <a:pt x="57500" y="10276100"/>
                  </a:lnTo>
                  <a:lnTo>
                    <a:pt x="52900" y="10275185"/>
                  </a:lnTo>
                  <a:lnTo>
                    <a:pt x="17606" y="10253232"/>
                  </a:lnTo>
                  <a:lnTo>
                    <a:pt x="457" y="10215372"/>
                  </a:lnTo>
                  <a:lnTo>
                    <a:pt x="0" y="10210727"/>
                  </a:lnTo>
                  <a:lnTo>
                    <a:pt x="0" y="10206036"/>
                  </a:lnTo>
                  <a:close/>
                </a:path>
              </a:pathLst>
            </a:custGeom>
            <a:ln w="9524">
              <a:solidFill>
                <a:srgbClr val="E6E6E6"/>
              </a:solidFill>
            </a:ln>
          </p:spPr>
          <p:txBody>
            <a:bodyPr wrap="square" lIns="0" tIns="0" rIns="0" bIns="0" rtlCol="0"/>
            <a:lstStyle/>
            <a:p>
              <a:endParaRPr/>
            </a:p>
          </p:txBody>
        </p:sp>
        <p:sp>
          <p:nvSpPr>
            <p:cNvPr id="12" name="object 12"/>
            <p:cNvSpPr/>
            <p:nvPr/>
          </p:nvSpPr>
          <p:spPr>
            <a:xfrm>
              <a:off x="495300" y="1057274"/>
              <a:ext cx="1543050" cy="9525"/>
            </a:xfrm>
            <a:custGeom>
              <a:avLst/>
              <a:gdLst/>
              <a:ahLst/>
              <a:cxnLst/>
              <a:rect l="l" t="t" r="r" b="b"/>
              <a:pathLst>
                <a:path w="1543050" h="9525">
                  <a:moveTo>
                    <a:pt x="1543037" y="0"/>
                  </a:moveTo>
                  <a:lnTo>
                    <a:pt x="933437" y="0"/>
                  </a:lnTo>
                  <a:lnTo>
                    <a:pt x="0" y="0"/>
                  </a:lnTo>
                  <a:lnTo>
                    <a:pt x="0" y="9525"/>
                  </a:lnTo>
                  <a:lnTo>
                    <a:pt x="933437" y="9525"/>
                  </a:lnTo>
                  <a:lnTo>
                    <a:pt x="1543037" y="9525"/>
                  </a:lnTo>
                  <a:lnTo>
                    <a:pt x="1543037" y="0"/>
                  </a:lnTo>
                  <a:close/>
                </a:path>
              </a:pathLst>
            </a:custGeom>
            <a:solidFill>
              <a:srgbClr val="242424"/>
            </a:solidFill>
          </p:spPr>
          <p:txBody>
            <a:bodyPr wrap="square" lIns="0" tIns="0" rIns="0" bIns="0" rtlCol="0"/>
            <a:lstStyle/>
            <a:p>
              <a:endParaRPr/>
            </a:p>
          </p:txBody>
        </p:sp>
      </p:grpSp>
      <p:sp>
        <p:nvSpPr>
          <p:cNvPr id="13" name="object 13"/>
          <p:cNvSpPr txBox="1"/>
          <p:nvPr/>
        </p:nvSpPr>
        <p:spPr>
          <a:xfrm>
            <a:off x="530225" y="749300"/>
            <a:ext cx="1031240" cy="301625"/>
          </a:xfrm>
          <a:prstGeom prst="rect">
            <a:avLst/>
          </a:prstGeom>
        </p:spPr>
        <p:txBody>
          <a:bodyPr vert="horz" wrap="square" lIns="0" tIns="12700" rIns="0" bIns="0" rtlCol="0">
            <a:spAutoFit/>
          </a:bodyPr>
          <a:lstStyle/>
          <a:p>
            <a:pPr marL="12700">
              <a:lnSpc>
                <a:spcPct val="100000"/>
              </a:lnSpc>
              <a:spcBef>
                <a:spcPts val="100"/>
              </a:spcBef>
            </a:pPr>
            <a:r>
              <a:rPr sz="1050">
                <a:solidFill>
                  <a:srgbClr val="242424"/>
                </a:solidFill>
                <a:latin typeface="Segoe UI"/>
                <a:cs typeface="Segoe UI"/>
              </a:rPr>
              <a:t>cohort_month</a:t>
            </a:r>
            <a:r>
              <a:rPr sz="1050" spc="120">
                <a:solidFill>
                  <a:srgbClr val="242424"/>
                </a:solidFill>
                <a:latin typeface="Segoe UI"/>
                <a:cs typeface="Segoe UI"/>
              </a:rPr>
              <a:t>  </a:t>
            </a:r>
            <a:r>
              <a:rPr sz="1050" spc="-50">
                <a:solidFill>
                  <a:srgbClr val="242424"/>
                </a:solidFill>
                <a:latin typeface="Segoe UI"/>
                <a:cs typeface="Segoe UI"/>
              </a:rPr>
              <a:t>0</a:t>
            </a:r>
            <a:endParaRPr sz="1050">
              <a:latin typeface="Segoe UI"/>
              <a:cs typeface="Segoe UI"/>
            </a:endParaRPr>
          </a:p>
          <a:p>
            <a:pPr marL="12700">
              <a:lnSpc>
                <a:spcPct val="100000"/>
              </a:lnSpc>
              <a:spcBef>
                <a:spcPts val="15"/>
              </a:spcBef>
            </a:pPr>
            <a:r>
              <a:rPr sz="750" spc="-50">
                <a:solidFill>
                  <a:srgbClr val="242424"/>
                </a:solidFill>
                <a:latin typeface="Segoe UI Symbol"/>
                <a:cs typeface="Segoe UI Symbol"/>
              </a:rPr>
              <a:t></a:t>
            </a:r>
            <a:endParaRPr sz="750">
              <a:latin typeface="Segoe UI Symbol"/>
              <a:cs typeface="Segoe UI Symbol"/>
            </a:endParaRPr>
          </a:p>
        </p:txBody>
      </p:sp>
      <p:grpSp>
        <p:nvGrpSpPr>
          <p:cNvPr id="14" name="object 14"/>
          <p:cNvGrpSpPr/>
          <p:nvPr/>
        </p:nvGrpSpPr>
        <p:grpSpPr>
          <a:xfrm>
            <a:off x="1419224" y="1057274"/>
            <a:ext cx="16840200" cy="9210675"/>
            <a:chOff x="1419224" y="1057274"/>
            <a:chExt cx="16840200" cy="9210675"/>
          </a:xfrm>
        </p:grpSpPr>
        <p:sp>
          <p:nvSpPr>
            <p:cNvPr id="15" name="object 15"/>
            <p:cNvSpPr/>
            <p:nvPr/>
          </p:nvSpPr>
          <p:spPr>
            <a:xfrm>
              <a:off x="1419212" y="1057274"/>
              <a:ext cx="16840200" cy="8496300"/>
            </a:xfrm>
            <a:custGeom>
              <a:avLst/>
              <a:gdLst/>
              <a:ahLst/>
              <a:cxnLst/>
              <a:rect l="l" t="t" r="r" b="b"/>
              <a:pathLst>
                <a:path w="16840200" h="8496300">
                  <a:moveTo>
                    <a:pt x="9525" y="9525"/>
                  </a:moveTo>
                  <a:lnTo>
                    <a:pt x="0" y="9525"/>
                  </a:lnTo>
                  <a:lnTo>
                    <a:pt x="0" y="266700"/>
                  </a:lnTo>
                  <a:lnTo>
                    <a:pt x="0" y="523875"/>
                  </a:lnTo>
                  <a:lnTo>
                    <a:pt x="0" y="8496300"/>
                  </a:lnTo>
                  <a:lnTo>
                    <a:pt x="9525" y="8496300"/>
                  </a:lnTo>
                  <a:lnTo>
                    <a:pt x="9525" y="266700"/>
                  </a:lnTo>
                  <a:lnTo>
                    <a:pt x="9525" y="9525"/>
                  </a:lnTo>
                  <a:close/>
                </a:path>
                <a:path w="16840200" h="8496300">
                  <a:moveTo>
                    <a:pt x="16840200" y="0"/>
                  </a:moveTo>
                  <a:lnTo>
                    <a:pt x="16840200" y="0"/>
                  </a:lnTo>
                  <a:lnTo>
                    <a:pt x="619125" y="0"/>
                  </a:lnTo>
                  <a:lnTo>
                    <a:pt x="619125" y="9525"/>
                  </a:lnTo>
                  <a:lnTo>
                    <a:pt x="16840200" y="9525"/>
                  </a:lnTo>
                  <a:lnTo>
                    <a:pt x="16840200" y="0"/>
                  </a:lnTo>
                  <a:close/>
                </a:path>
              </a:pathLst>
            </a:custGeom>
            <a:solidFill>
              <a:srgbClr val="242424"/>
            </a:solidFill>
          </p:spPr>
          <p:txBody>
            <a:bodyPr wrap="square" lIns="0" tIns="0" rIns="0" bIns="0" rtlCol="0"/>
            <a:lstStyle/>
            <a:p>
              <a:endParaRPr/>
            </a:p>
          </p:txBody>
        </p:sp>
        <p:sp>
          <p:nvSpPr>
            <p:cNvPr id="16" name="object 16"/>
            <p:cNvSpPr/>
            <p:nvPr/>
          </p:nvSpPr>
          <p:spPr>
            <a:xfrm>
              <a:off x="1419212" y="9296399"/>
              <a:ext cx="9525" cy="971550"/>
            </a:xfrm>
            <a:custGeom>
              <a:avLst/>
              <a:gdLst/>
              <a:ahLst/>
              <a:cxnLst/>
              <a:rect l="l" t="t" r="r" b="b"/>
              <a:pathLst>
                <a:path w="9525" h="971550">
                  <a:moveTo>
                    <a:pt x="9525" y="0"/>
                  </a:moveTo>
                  <a:lnTo>
                    <a:pt x="0" y="0"/>
                  </a:lnTo>
                  <a:lnTo>
                    <a:pt x="0" y="257175"/>
                  </a:lnTo>
                  <a:lnTo>
                    <a:pt x="0" y="514350"/>
                  </a:lnTo>
                  <a:lnTo>
                    <a:pt x="0" y="704850"/>
                  </a:lnTo>
                  <a:lnTo>
                    <a:pt x="0" y="971550"/>
                  </a:lnTo>
                  <a:lnTo>
                    <a:pt x="9525" y="971550"/>
                  </a:lnTo>
                  <a:lnTo>
                    <a:pt x="9525" y="704850"/>
                  </a:lnTo>
                  <a:lnTo>
                    <a:pt x="9525" y="514350"/>
                  </a:lnTo>
                  <a:lnTo>
                    <a:pt x="9525" y="257175"/>
                  </a:lnTo>
                  <a:lnTo>
                    <a:pt x="9525" y="0"/>
                  </a:lnTo>
                  <a:close/>
                </a:path>
              </a:pathLst>
            </a:custGeom>
            <a:solidFill>
              <a:srgbClr val="242424"/>
            </a:solidFill>
          </p:spPr>
          <p:txBody>
            <a:bodyPr wrap="square" lIns="0" tIns="0" rIns="0" bIns="0" rtlCol="0"/>
            <a:lstStyle/>
            <a:p>
              <a:endParaRPr/>
            </a:p>
          </p:txBody>
        </p:sp>
      </p:grpSp>
      <p:sp>
        <p:nvSpPr>
          <p:cNvPr id="17" name="object 17"/>
          <p:cNvSpPr txBox="1"/>
          <p:nvPr/>
        </p:nvSpPr>
        <p:spPr>
          <a:xfrm>
            <a:off x="2073275" y="749300"/>
            <a:ext cx="97790" cy="185420"/>
          </a:xfrm>
          <a:prstGeom prst="rect">
            <a:avLst/>
          </a:prstGeom>
        </p:spPr>
        <p:txBody>
          <a:bodyPr vert="horz" wrap="square" lIns="0" tIns="12700" rIns="0" bIns="0" rtlCol="0">
            <a:spAutoFit/>
          </a:bodyPr>
          <a:lstStyle/>
          <a:p>
            <a:pPr marL="12700">
              <a:lnSpc>
                <a:spcPct val="100000"/>
              </a:lnSpc>
              <a:spcBef>
                <a:spcPts val="100"/>
              </a:spcBef>
            </a:pPr>
            <a:r>
              <a:rPr sz="1050" spc="-50">
                <a:solidFill>
                  <a:srgbClr val="242424"/>
                </a:solidFill>
                <a:latin typeface="Segoe UI"/>
                <a:cs typeface="Segoe UI"/>
              </a:rPr>
              <a:t>1</a:t>
            </a:r>
            <a:endParaRPr sz="1050">
              <a:latin typeface="Segoe UI"/>
              <a:cs typeface="Segoe UI"/>
            </a:endParaRPr>
          </a:p>
        </p:txBody>
      </p:sp>
      <p:sp>
        <p:nvSpPr>
          <p:cNvPr id="18" name="object 18"/>
          <p:cNvSpPr txBox="1"/>
          <p:nvPr/>
        </p:nvSpPr>
        <p:spPr>
          <a:xfrm>
            <a:off x="2578099" y="749300"/>
            <a:ext cx="97790" cy="185420"/>
          </a:xfrm>
          <a:prstGeom prst="rect">
            <a:avLst/>
          </a:prstGeom>
        </p:spPr>
        <p:txBody>
          <a:bodyPr vert="horz" wrap="square" lIns="0" tIns="12700" rIns="0" bIns="0" rtlCol="0">
            <a:spAutoFit/>
          </a:bodyPr>
          <a:lstStyle/>
          <a:p>
            <a:pPr marL="12700">
              <a:lnSpc>
                <a:spcPct val="100000"/>
              </a:lnSpc>
              <a:spcBef>
                <a:spcPts val="100"/>
              </a:spcBef>
            </a:pPr>
            <a:r>
              <a:rPr sz="1050" spc="-50">
                <a:solidFill>
                  <a:srgbClr val="242424"/>
                </a:solidFill>
                <a:latin typeface="Segoe UI"/>
                <a:cs typeface="Segoe UI"/>
              </a:rPr>
              <a:t>2</a:t>
            </a:r>
            <a:endParaRPr sz="1050">
              <a:latin typeface="Segoe UI"/>
              <a:cs typeface="Segoe UI"/>
            </a:endParaRPr>
          </a:p>
        </p:txBody>
      </p:sp>
      <p:sp>
        <p:nvSpPr>
          <p:cNvPr id="19" name="object 19"/>
          <p:cNvSpPr txBox="1"/>
          <p:nvPr/>
        </p:nvSpPr>
        <p:spPr>
          <a:xfrm>
            <a:off x="3082924" y="749300"/>
            <a:ext cx="97790" cy="185420"/>
          </a:xfrm>
          <a:prstGeom prst="rect">
            <a:avLst/>
          </a:prstGeom>
        </p:spPr>
        <p:txBody>
          <a:bodyPr vert="horz" wrap="square" lIns="0" tIns="12700" rIns="0" bIns="0" rtlCol="0">
            <a:spAutoFit/>
          </a:bodyPr>
          <a:lstStyle/>
          <a:p>
            <a:pPr marL="12700">
              <a:lnSpc>
                <a:spcPct val="100000"/>
              </a:lnSpc>
              <a:spcBef>
                <a:spcPts val="100"/>
              </a:spcBef>
            </a:pPr>
            <a:r>
              <a:rPr sz="1050" spc="-50">
                <a:solidFill>
                  <a:srgbClr val="242424"/>
                </a:solidFill>
                <a:latin typeface="Segoe UI"/>
                <a:cs typeface="Segoe UI"/>
              </a:rPr>
              <a:t>3</a:t>
            </a:r>
            <a:endParaRPr sz="1050">
              <a:latin typeface="Segoe UI"/>
              <a:cs typeface="Segoe UI"/>
            </a:endParaRPr>
          </a:p>
        </p:txBody>
      </p:sp>
      <p:sp>
        <p:nvSpPr>
          <p:cNvPr id="20" name="object 20"/>
          <p:cNvSpPr txBox="1"/>
          <p:nvPr/>
        </p:nvSpPr>
        <p:spPr>
          <a:xfrm>
            <a:off x="3511550" y="749300"/>
            <a:ext cx="97790" cy="185420"/>
          </a:xfrm>
          <a:prstGeom prst="rect">
            <a:avLst/>
          </a:prstGeom>
        </p:spPr>
        <p:txBody>
          <a:bodyPr vert="horz" wrap="square" lIns="0" tIns="12700" rIns="0" bIns="0" rtlCol="0">
            <a:spAutoFit/>
          </a:bodyPr>
          <a:lstStyle/>
          <a:p>
            <a:pPr marL="12700">
              <a:lnSpc>
                <a:spcPct val="100000"/>
              </a:lnSpc>
              <a:spcBef>
                <a:spcPts val="100"/>
              </a:spcBef>
            </a:pPr>
            <a:r>
              <a:rPr sz="1050" spc="-50">
                <a:solidFill>
                  <a:srgbClr val="242424"/>
                </a:solidFill>
                <a:latin typeface="Segoe UI"/>
                <a:cs typeface="Segoe UI"/>
              </a:rPr>
              <a:t>4</a:t>
            </a:r>
            <a:endParaRPr sz="1050">
              <a:latin typeface="Segoe UI"/>
              <a:cs typeface="Segoe UI"/>
            </a:endParaRPr>
          </a:p>
        </p:txBody>
      </p:sp>
      <p:sp>
        <p:nvSpPr>
          <p:cNvPr id="21" name="object 21"/>
          <p:cNvSpPr txBox="1"/>
          <p:nvPr/>
        </p:nvSpPr>
        <p:spPr>
          <a:xfrm>
            <a:off x="3940175" y="749300"/>
            <a:ext cx="97790" cy="185420"/>
          </a:xfrm>
          <a:prstGeom prst="rect">
            <a:avLst/>
          </a:prstGeom>
        </p:spPr>
        <p:txBody>
          <a:bodyPr vert="horz" wrap="square" lIns="0" tIns="12700" rIns="0" bIns="0" rtlCol="0">
            <a:spAutoFit/>
          </a:bodyPr>
          <a:lstStyle/>
          <a:p>
            <a:pPr marL="12700">
              <a:lnSpc>
                <a:spcPct val="100000"/>
              </a:lnSpc>
              <a:spcBef>
                <a:spcPts val="100"/>
              </a:spcBef>
            </a:pPr>
            <a:r>
              <a:rPr sz="1050" spc="-50">
                <a:solidFill>
                  <a:srgbClr val="242424"/>
                </a:solidFill>
                <a:latin typeface="Segoe UI"/>
                <a:cs typeface="Segoe UI"/>
              </a:rPr>
              <a:t>5</a:t>
            </a:r>
            <a:endParaRPr sz="1050">
              <a:latin typeface="Segoe UI"/>
              <a:cs typeface="Segoe UI"/>
            </a:endParaRPr>
          </a:p>
        </p:txBody>
      </p:sp>
      <p:sp>
        <p:nvSpPr>
          <p:cNvPr id="22" name="object 22"/>
          <p:cNvSpPr txBox="1"/>
          <p:nvPr/>
        </p:nvSpPr>
        <p:spPr>
          <a:xfrm>
            <a:off x="4368800" y="749300"/>
            <a:ext cx="97790" cy="185420"/>
          </a:xfrm>
          <a:prstGeom prst="rect">
            <a:avLst/>
          </a:prstGeom>
        </p:spPr>
        <p:txBody>
          <a:bodyPr vert="horz" wrap="square" lIns="0" tIns="12700" rIns="0" bIns="0" rtlCol="0">
            <a:spAutoFit/>
          </a:bodyPr>
          <a:lstStyle/>
          <a:p>
            <a:pPr marL="12700">
              <a:lnSpc>
                <a:spcPct val="100000"/>
              </a:lnSpc>
              <a:spcBef>
                <a:spcPts val="100"/>
              </a:spcBef>
            </a:pPr>
            <a:r>
              <a:rPr sz="1050" spc="-50">
                <a:solidFill>
                  <a:srgbClr val="242424"/>
                </a:solidFill>
                <a:latin typeface="Segoe UI"/>
                <a:cs typeface="Segoe UI"/>
              </a:rPr>
              <a:t>6</a:t>
            </a:r>
            <a:endParaRPr sz="1050">
              <a:latin typeface="Segoe UI"/>
              <a:cs typeface="Segoe UI"/>
            </a:endParaRPr>
          </a:p>
        </p:txBody>
      </p:sp>
      <p:sp>
        <p:nvSpPr>
          <p:cNvPr id="23" name="object 23"/>
          <p:cNvSpPr txBox="1"/>
          <p:nvPr/>
        </p:nvSpPr>
        <p:spPr>
          <a:xfrm>
            <a:off x="4797424" y="749300"/>
            <a:ext cx="97790" cy="185420"/>
          </a:xfrm>
          <a:prstGeom prst="rect">
            <a:avLst/>
          </a:prstGeom>
        </p:spPr>
        <p:txBody>
          <a:bodyPr vert="horz" wrap="square" lIns="0" tIns="12700" rIns="0" bIns="0" rtlCol="0">
            <a:spAutoFit/>
          </a:bodyPr>
          <a:lstStyle/>
          <a:p>
            <a:pPr marL="12700">
              <a:lnSpc>
                <a:spcPct val="100000"/>
              </a:lnSpc>
              <a:spcBef>
                <a:spcPts val="100"/>
              </a:spcBef>
            </a:pPr>
            <a:r>
              <a:rPr sz="1050" spc="-50">
                <a:solidFill>
                  <a:srgbClr val="242424"/>
                </a:solidFill>
                <a:latin typeface="Segoe UI"/>
                <a:cs typeface="Segoe UI"/>
              </a:rPr>
              <a:t>7</a:t>
            </a:r>
            <a:endParaRPr sz="1050">
              <a:latin typeface="Segoe UI"/>
              <a:cs typeface="Segoe UI"/>
            </a:endParaRPr>
          </a:p>
        </p:txBody>
      </p:sp>
      <p:sp>
        <p:nvSpPr>
          <p:cNvPr id="24" name="object 24"/>
          <p:cNvSpPr txBox="1"/>
          <p:nvPr/>
        </p:nvSpPr>
        <p:spPr>
          <a:xfrm>
            <a:off x="5226049" y="749300"/>
            <a:ext cx="97790" cy="185420"/>
          </a:xfrm>
          <a:prstGeom prst="rect">
            <a:avLst/>
          </a:prstGeom>
        </p:spPr>
        <p:txBody>
          <a:bodyPr vert="horz" wrap="square" lIns="0" tIns="12700" rIns="0" bIns="0" rtlCol="0">
            <a:spAutoFit/>
          </a:bodyPr>
          <a:lstStyle/>
          <a:p>
            <a:pPr marL="12700">
              <a:lnSpc>
                <a:spcPct val="100000"/>
              </a:lnSpc>
              <a:spcBef>
                <a:spcPts val="100"/>
              </a:spcBef>
            </a:pPr>
            <a:r>
              <a:rPr sz="1050" spc="-50">
                <a:solidFill>
                  <a:srgbClr val="242424"/>
                </a:solidFill>
                <a:latin typeface="Segoe UI"/>
                <a:cs typeface="Segoe UI"/>
              </a:rPr>
              <a:t>8</a:t>
            </a:r>
            <a:endParaRPr sz="1050">
              <a:latin typeface="Segoe UI"/>
              <a:cs typeface="Segoe UI"/>
            </a:endParaRPr>
          </a:p>
        </p:txBody>
      </p:sp>
      <p:sp>
        <p:nvSpPr>
          <p:cNvPr id="25" name="object 25"/>
          <p:cNvSpPr txBox="1"/>
          <p:nvPr/>
        </p:nvSpPr>
        <p:spPr>
          <a:xfrm>
            <a:off x="5654674" y="749300"/>
            <a:ext cx="97790" cy="185420"/>
          </a:xfrm>
          <a:prstGeom prst="rect">
            <a:avLst/>
          </a:prstGeom>
        </p:spPr>
        <p:txBody>
          <a:bodyPr vert="horz" wrap="square" lIns="0" tIns="12700" rIns="0" bIns="0" rtlCol="0">
            <a:spAutoFit/>
          </a:bodyPr>
          <a:lstStyle/>
          <a:p>
            <a:pPr marL="12700">
              <a:lnSpc>
                <a:spcPct val="100000"/>
              </a:lnSpc>
              <a:spcBef>
                <a:spcPts val="100"/>
              </a:spcBef>
            </a:pPr>
            <a:r>
              <a:rPr sz="1050" spc="-50">
                <a:solidFill>
                  <a:srgbClr val="242424"/>
                </a:solidFill>
                <a:latin typeface="Segoe UI"/>
                <a:cs typeface="Segoe UI"/>
              </a:rPr>
              <a:t>9</a:t>
            </a:r>
            <a:endParaRPr sz="1050">
              <a:latin typeface="Segoe UI"/>
              <a:cs typeface="Segoe UI"/>
            </a:endParaRPr>
          </a:p>
        </p:txBody>
      </p:sp>
      <p:sp>
        <p:nvSpPr>
          <p:cNvPr id="26" name="object 26"/>
          <p:cNvSpPr txBox="1"/>
          <p:nvPr/>
        </p:nvSpPr>
        <p:spPr>
          <a:xfrm>
            <a:off x="6083299" y="362584"/>
            <a:ext cx="12037695" cy="572135"/>
          </a:xfrm>
          <a:prstGeom prst="rect">
            <a:avLst/>
          </a:prstGeom>
        </p:spPr>
        <p:txBody>
          <a:bodyPr vert="horz" wrap="square" lIns="0" tIns="12065" rIns="0" bIns="0" rtlCol="0">
            <a:spAutoFit/>
          </a:bodyPr>
          <a:lstStyle/>
          <a:p>
            <a:pPr marL="2045970">
              <a:lnSpc>
                <a:spcPct val="100000"/>
              </a:lnSpc>
              <a:spcBef>
                <a:spcPts val="95"/>
              </a:spcBef>
            </a:pPr>
            <a:r>
              <a:rPr sz="1700" b="1" spc="-220">
                <a:solidFill>
                  <a:srgbClr val="242424"/>
                </a:solidFill>
                <a:latin typeface="Ryo Gothic Std B"/>
                <a:cs typeface="Ryo Gothic Std B"/>
              </a:rPr>
              <a:t>ユーザー</a:t>
            </a:r>
            <a:r>
              <a:rPr sz="1700" b="1" spc="-190">
                <a:solidFill>
                  <a:srgbClr val="242424"/>
                </a:solidFill>
                <a:latin typeface="BIZ UDPGothic"/>
                <a:cs typeface="BIZ UDPGothic"/>
              </a:rPr>
              <a:t>継続率 </a:t>
            </a:r>
            <a:r>
              <a:rPr sz="1400">
                <a:solidFill>
                  <a:srgbClr val="242424"/>
                </a:solidFill>
                <a:latin typeface="Nueva Std Cond"/>
                <a:cs typeface="Nueva Std Cond"/>
              </a:rPr>
              <a:t>(</a:t>
            </a:r>
            <a:r>
              <a:rPr sz="1700" b="1" spc="-210">
                <a:solidFill>
                  <a:srgbClr val="242424"/>
                </a:solidFill>
                <a:latin typeface="Ryo Gothic Std B"/>
                <a:cs typeface="Ryo Gothic Std B"/>
              </a:rPr>
              <a:t>コホート</a:t>
            </a:r>
            <a:r>
              <a:rPr sz="1700" b="1" spc="-210">
                <a:solidFill>
                  <a:srgbClr val="242424"/>
                </a:solidFill>
                <a:latin typeface="BIZ UDPGothic"/>
                <a:cs typeface="BIZ UDPGothic"/>
              </a:rPr>
              <a:t>分析</a:t>
            </a:r>
            <a:r>
              <a:rPr sz="1400" spc="-50">
                <a:solidFill>
                  <a:srgbClr val="242424"/>
                </a:solidFill>
                <a:latin typeface="Nueva Std Cond"/>
                <a:cs typeface="Nueva Std Cond"/>
              </a:rPr>
              <a:t>)</a:t>
            </a:r>
            <a:endParaRPr sz="1400">
              <a:latin typeface="Nueva Std Cond"/>
              <a:cs typeface="Nueva Std Cond"/>
            </a:endParaRPr>
          </a:p>
          <a:p>
            <a:pPr marL="12700">
              <a:lnSpc>
                <a:spcPct val="100000"/>
              </a:lnSpc>
              <a:spcBef>
                <a:spcPts val="1010"/>
              </a:spcBef>
              <a:tabLst>
                <a:tab pos="440690" algn="l"/>
                <a:tab pos="869315" algn="l"/>
                <a:tab pos="1297940" algn="l"/>
                <a:tab pos="1726564" algn="l"/>
                <a:tab pos="2155190" algn="l"/>
                <a:tab pos="2583815" algn="l"/>
                <a:tab pos="3012440" algn="l"/>
                <a:tab pos="3441065" algn="l"/>
                <a:tab pos="3869690" algn="l"/>
                <a:tab pos="4298315" algn="l"/>
                <a:tab pos="4726940" algn="l"/>
                <a:tab pos="5155565" algn="l"/>
                <a:tab pos="5584190" algn="l"/>
                <a:tab pos="6012815" algn="l"/>
                <a:tab pos="6441440" algn="l"/>
                <a:tab pos="6870065" algn="l"/>
                <a:tab pos="7298690" algn="l"/>
                <a:tab pos="7727315" algn="l"/>
                <a:tab pos="8155940" algn="l"/>
                <a:tab pos="8584565" algn="l"/>
                <a:tab pos="9013190" algn="l"/>
                <a:tab pos="9441815" algn="l"/>
                <a:tab pos="9870440" algn="l"/>
                <a:tab pos="10299065" algn="l"/>
                <a:tab pos="10727690" algn="l"/>
                <a:tab pos="11156315" algn="l"/>
                <a:tab pos="11518265" algn="l"/>
                <a:tab pos="11880215" algn="l"/>
              </a:tabLst>
            </a:pPr>
            <a:r>
              <a:rPr sz="1050" spc="-25">
                <a:solidFill>
                  <a:srgbClr val="242424"/>
                </a:solidFill>
                <a:latin typeface="Segoe UI"/>
                <a:cs typeface="Segoe UI"/>
              </a:rPr>
              <a:t>10</a:t>
            </a:r>
            <a:r>
              <a:rPr sz="1050">
                <a:solidFill>
                  <a:srgbClr val="242424"/>
                </a:solidFill>
                <a:latin typeface="Segoe UI"/>
                <a:cs typeface="Segoe UI"/>
              </a:rPr>
              <a:t>	</a:t>
            </a:r>
            <a:r>
              <a:rPr sz="1050" spc="-25">
                <a:solidFill>
                  <a:srgbClr val="242424"/>
                </a:solidFill>
                <a:latin typeface="Segoe UI"/>
                <a:cs typeface="Segoe UI"/>
              </a:rPr>
              <a:t>11</a:t>
            </a:r>
            <a:r>
              <a:rPr sz="1050">
                <a:solidFill>
                  <a:srgbClr val="242424"/>
                </a:solidFill>
                <a:latin typeface="Segoe UI"/>
                <a:cs typeface="Segoe UI"/>
              </a:rPr>
              <a:t>	</a:t>
            </a:r>
            <a:r>
              <a:rPr sz="1050" spc="-25">
                <a:solidFill>
                  <a:srgbClr val="242424"/>
                </a:solidFill>
                <a:latin typeface="Segoe UI"/>
                <a:cs typeface="Segoe UI"/>
              </a:rPr>
              <a:t>12</a:t>
            </a:r>
            <a:r>
              <a:rPr sz="1050">
                <a:solidFill>
                  <a:srgbClr val="242424"/>
                </a:solidFill>
                <a:latin typeface="Segoe UI"/>
                <a:cs typeface="Segoe UI"/>
              </a:rPr>
              <a:t>	</a:t>
            </a:r>
            <a:r>
              <a:rPr sz="1050" spc="-25">
                <a:solidFill>
                  <a:srgbClr val="242424"/>
                </a:solidFill>
                <a:latin typeface="Segoe UI"/>
                <a:cs typeface="Segoe UI"/>
              </a:rPr>
              <a:t>13</a:t>
            </a:r>
            <a:r>
              <a:rPr sz="1050">
                <a:solidFill>
                  <a:srgbClr val="242424"/>
                </a:solidFill>
                <a:latin typeface="Segoe UI"/>
                <a:cs typeface="Segoe UI"/>
              </a:rPr>
              <a:t>	</a:t>
            </a:r>
            <a:r>
              <a:rPr sz="1050" spc="-25">
                <a:solidFill>
                  <a:srgbClr val="242424"/>
                </a:solidFill>
                <a:latin typeface="Segoe UI"/>
                <a:cs typeface="Segoe UI"/>
              </a:rPr>
              <a:t>14</a:t>
            </a:r>
            <a:r>
              <a:rPr sz="1050">
                <a:solidFill>
                  <a:srgbClr val="242424"/>
                </a:solidFill>
                <a:latin typeface="Segoe UI"/>
                <a:cs typeface="Segoe UI"/>
              </a:rPr>
              <a:t>	</a:t>
            </a:r>
            <a:r>
              <a:rPr sz="1050" spc="-25">
                <a:solidFill>
                  <a:srgbClr val="242424"/>
                </a:solidFill>
                <a:latin typeface="Segoe UI"/>
                <a:cs typeface="Segoe UI"/>
              </a:rPr>
              <a:t>15</a:t>
            </a:r>
            <a:r>
              <a:rPr sz="1050">
                <a:solidFill>
                  <a:srgbClr val="242424"/>
                </a:solidFill>
                <a:latin typeface="Segoe UI"/>
                <a:cs typeface="Segoe UI"/>
              </a:rPr>
              <a:t>	</a:t>
            </a:r>
            <a:r>
              <a:rPr sz="1050" spc="-25">
                <a:solidFill>
                  <a:srgbClr val="242424"/>
                </a:solidFill>
                <a:latin typeface="Segoe UI"/>
                <a:cs typeface="Segoe UI"/>
              </a:rPr>
              <a:t>16</a:t>
            </a:r>
            <a:r>
              <a:rPr sz="1050">
                <a:solidFill>
                  <a:srgbClr val="242424"/>
                </a:solidFill>
                <a:latin typeface="Segoe UI"/>
                <a:cs typeface="Segoe UI"/>
              </a:rPr>
              <a:t>	</a:t>
            </a:r>
            <a:r>
              <a:rPr sz="1050" spc="-25">
                <a:solidFill>
                  <a:srgbClr val="242424"/>
                </a:solidFill>
                <a:latin typeface="Segoe UI"/>
                <a:cs typeface="Segoe UI"/>
              </a:rPr>
              <a:t>17</a:t>
            </a:r>
            <a:r>
              <a:rPr sz="1050">
                <a:solidFill>
                  <a:srgbClr val="242424"/>
                </a:solidFill>
                <a:latin typeface="Segoe UI"/>
                <a:cs typeface="Segoe UI"/>
              </a:rPr>
              <a:t>	</a:t>
            </a:r>
            <a:r>
              <a:rPr sz="1050" spc="-25">
                <a:solidFill>
                  <a:srgbClr val="242424"/>
                </a:solidFill>
                <a:latin typeface="Segoe UI"/>
                <a:cs typeface="Segoe UI"/>
              </a:rPr>
              <a:t>18</a:t>
            </a:r>
            <a:r>
              <a:rPr sz="1050">
                <a:solidFill>
                  <a:srgbClr val="242424"/>
                </a:solidFill>
                <a:latin typeface="Segoe UI"/>
                <a:cs typeface="Segoe UI"/>
              </a:rPr>
              <a:t>	</a:t>
            </a:r>
            <a:r>
              <a:rPr sz="1050" spc="-25">
                <a:solidFill>
                  <a:srgbClr val="242424"/>
                </a:solidFill>
                <a:latin typeface="Segoe UI"/>
                <a:cs typeface="Segoe UI"/>
              </a:rPr>
              <a:t>19</a:t>
            </a:r>
            <a:r>
              <a:rPr sz="1050">
                <a:solidFill>
                  <a:srgbClr val="242424"/>
                </a:solidFill>
                <a:latin typeface="Segoe UI"/>
                <a:cs typeface="Segoe UI"/>
              </a:rPr>
              <a:t>	</a:t>
            </a:r>
            <a:r>
              <a:rPr sz="1050" spc="-25">
                <a:solidFill>
                  <a:srgbClr val="242424"/>
                </a:solidFill>
                <a:latin typeface="Segoe UI"/>
                <a:cs typeface="Segoe UI"/>
              </a:rPr>
              <a:t>20</a:t>
            </a:r>
            <a:r>
              <a:rPr sz="1050">
                <a:solidFill>
                  <a:srgbClr val="242424"/>
                </a:solidFill>
                <a:latin typeface="Segoe UI"/>
                <a:cs typeface="Segoe UI"/>
              </a:rPr>
              <a:t>	</a:t>
            </a:r>
            <a:r>
              <a:rPr sz="1050" spc="-25">
                <a:solidFill>
                  <a:srgbClr val="242424"/>
                </a:solidFill>
                <a:latin typeface="Segoe UI"/>
                <a:cs typeface="Segoe UI"/>
              </a:rPr>
              <a:t>21</a:t>
            </a:r>
            <a:r>
              <a:rPr sz="1050">
                <a:solidFill>
                  <a:srgbClr val="242424"/>
                </a:solidFill>
                <a:latin typeface="Segoe UI"/>
                <a:cs typeface="Segoe UI"/>
              </a:rPr>
              <a:t>	</a:t>
            </a:r>
            <a:r>
              <a:rPr sz="1050" spc="-25">
                <a:solidFill>
                  <a:srgbClr val="242424"/>
                </a:solidFill>
                <a:latin typeface="Segoe UI"/>
                <a:cs typeface="Segoe UI"/>
              </a:rPr>
              <a:t>22</a:t>
            </a:r>
            <a:r>
              <a:rPr sz="1050">
                <a:solidFill>
                  <a:srgbClr val="242424"/>
                </a:solidFill>
                <a:latin typeface="Segoe UI"/>
                <a:cs typeface="Segoe UI"/>
              </a:rPr>
              <a:t>	</a:t>
            </a:r>
            <a:r>
              <a:rPr sz="1050" spc="-25">
                <a:solidFill>
                  <a:srgbClr val="242424"/>
                </a:solidFill>
                <a:latin typeface="Segoe UI"/>
                <a:cs typeface="Segoe UI"/>
              </a:rPr>
              <a:t>23</a:t>
            </a:r>
            <a:r>
              <a:rPr sz="1050">
                <a:solidFill>
                  <a:srgbClr val="242424"/>
                </a:solidFill>
                <a:latin typeface="Segoe UI"/>
                <a:cs typeface="Segoe UI"/>
              </a:rPr>
              <a:t>	</a:t>
            </a:r>
            <a:r>
              <a:rPr sz="1050" spc="-25">
                <a:solidFill>
                  <a:srgbClr val="242424"/>
                </a:solidFill>
                <a:latin typeface="Segoe UI"/>
                <a:cs typeface="Segoe UI"/>
              </a:rPr>
              <a:t>24</a:t>
            </a:r>
            <a:r>
              <a:rPr sz="1050">
                <a:solidFill>
                  <a:srgbClr val="242424"/>
                </a:solidFill>
                <a:latin typeface="Segoe UI"/>
                <a:cs typeface="Segoe UI"/>
              </a:rPr>
              <a:t>	</a:t>
            </a:r>
            <a:r>
              <a:rPr sz="1050" spc="-25">
                <a:solidFill>
                  <a:srgbClr val="242424"/>
                </a:solidFill>
                <a:latin typeface="Segoe UI"/>
                <a:cs typeface="Segoe UI"/>
              </a:rPr>
              <a:t>25</a:t>
            </a:r>
            <a:r>
              <a:rPr sz="1050">
                <a:solidFill>
                  <a:srgbClr val="242424"/>
                </a:solidFill>
                <a:latin typeface="Segoe UI"/>
                <a:cs typeface="Segoe UI"/>
              </a:rPr>
              <a:t>	</a:t>
            </a:r>
            <a:r>
              <a:rPr sz="1050" spc="-25">
                <a:solidFill>
                  <a:srgbClr val="242424"/>
                </a:solidFill>
                <a:latin typeface="Segoe UI"/>
                <a:cs typeface="Segoe UI"/>
              </a:rPr>
              <a:t>26</a:t>
            </a:r>
            <a:r>
              <a:rPr sz="1050">
                <a:solidFill>
                  <a:srgbClr val="242424"/>
                </a:solidFill>
                <a:latin typeface="Segoe UI"/>
                <a:cs typeface="Segoe UI"/>
              </a:rPr>
              <a:t>	</a:t>
            </a:r>
            <a:r>
              <a:rPr sz="1050" spc="-25">
                <a:solidFill>
                  <a:srgbClr val="242424"/>
                </a:solidFill>
                <a:latin typeface="Segoe UI"/>
                <a:cs typeface="Segoe UI"/>
              </a:rPr>
              <a:t>27</a:t>
            </a:r>
            <a:r>
              <a:rPr sz="1050">
                <a:solidFill>
                  <a:srgbClr val="242424"/>
                </a:solidFill>
                <a:latin typeface="Segoe UI"/>
                <a:cs typeface="Segoe UI"/>
              </a:rPr>
              <a:t>	</a:t>
            </a:r>
            <a:r>
              <a:rPr sz="1050" spc="-25">
                <a:solidFill>
                  <a:srgbClr val="242424"/>
                </a:solidFill>
                <a:latin typeface="Segoe UI"/>
                <a:cs typeface="Segoe UI"/>
              </a:rPr>
              <a:t>28</a:t>
            </a:r>
            <a:r>
              <a:rPr sz="1050">
                <a:solidFill>
                  <a:srgbClr val="242424"/>
                </a:solidFill>
                <a:latin typeface="Segoe UI"/>
                <a:cs typeface="Segoe UI"/>
              </a:rPr>
              <a:t>	</a:t>
            </a:r>
            <a:r>
              <a:rPr sz="1050" spc="-25">
                <a:solidFill>
                  <a:srgbClr val="242424"/>
                </a:solidFill>
                <a:latin typeface="Segoe UI"/>
                <a:cs typeface="Segoe UI"/>
              </a:rPr>
              <a:t>29</a:t>
            </a:r>
            <a:r>
              <a:rPr sz="1050">
                <a:solidFill>
                  <a:srgbClr val="242424"/>
                </a:solidFill>
                <a:latin typeface="Segoe UI"/>
                <a:cs typeface="Segoe UI"/>
              </a:rPr>
              <a:t>	</a:t>
            </a:r>
            <a:r>
              <a:rPr sz="1050" spc="-25">
                <a:solidFill>
                  <a:srgbClr val="242424"/>
                </a:solidFill>
                <a:latin typeface="Segoe UI"/>
                <a:cs typeface="Segoe UI"/>
              </a:rPr>
              <a:t>30</a:t>
            </a:r>
            <a:r>
              <a:rPr sz="1050">
                <a:solidFill>
                  <a:srgbClr val="242424"/>
                </a:solidFill>
                <a:latin typeface="Segoe UI"/>
                <a:cs typeface="Segoe UI"/>
              </a:rPr>
              <a:t>	</a:t>
            </a:r>
            <a:r>
              <a:rPr sz="1050" spc="-25">
                <a:solidFill>
                  <a:srgbClr val="242424"/>
                </a:solidFill>
                <a:latin typeface="Segoe UI"/>
                <a:cs typeface="Segoe UI"/>
              </a:rPr>
              <a:t>31</a:t>
            </a:r>
            <a:r>
              <a:rPr sz="1050">
                <a:solidFill>
                  <a:srgbClr val="242424"/>
                </a:solidFill>
                <a:latin typeface="Segoe UI"/>
                <a:cs typeface="Segoe UI"/>
              </a:rPr>
              <a:t>	</a:t>
            </a:r>
            <a:r>
              <a:rPr sz="1050" spc="-25">
                <a:solidFill>
                  <a:srgbClr val="242424"/>
                </a:solidFill>
                <a:latin typeface="Segoe UI"/>
                <a:cs typeface="Segoe UI"/>
              </a:rPr>
              <a:t>32</a:t>
            </a:r>
            <a:r>
              <a:rPr sz="1050">
                <a:solidFill>
                  <a:srgbClr val="242424"/>
                </a:solidFill>
                <a:latin typeface="Segoe UI"/>
                <a:cs typeface="Segoe UI"/>
              </a:rPr>
              <a:t>	</a:t>
            </a:r>
            <a:r>
              <a:rPr sz="1050" spc="-25">
                <a:solidFill>
                  <a:srgbClr val="242424"/>
                </a:solidFill>
                <a:latin typeface="Segoe UI"/>
                <a:cs typeface="Segoe UI"/>
              </a:rPr>
              <a:t>33</a:t>
            </a:r>
            <a:r>
              <a:rPr sz="1050">
                <a:solidFill>
                  <a:srgbClr val="242424"/>
                </a:solidFill>
                <a:latin typeface="Segoe UI"/>
                <a:cs typeface="Segoe UI"/>
              </a:rPr>
              <a:t>	</a:t>
            </a:r>
            <a:r>
              <a:rPr sz="1050" spc="-25">
                <a:solidFill>
                  <a:srgbClr val="242424"/>
                </a:solidFill>
                <a:latin typeface="Segoe UI"/>
                <a:cs typeface="Segoe UI"/>
              </a:rPr>
              <a:t>34</a:t>
            </a:r>
            <a:r>
              <a:rPr sz="1050">
                <a:solidFill>
                  <a:srgbClr val="242424"/>
                </a:solidFill>
                <a:latin typeface="Segoe UI"/>
                <a:cs typeface="Segoe UI"/>
              </a:rPr>
              <a:t>	</a:t>
            </a:r>
            <a:r>
              <a:rPr sz="1050" spc="-25">
                <a:solidFill>
                  <a:srgbClr val="242424"/>
                </a:solidFill>
                <a:latin typeface="Segoe UI"/>
                <a:cs typeface="Segoe UI"/>
              </a:rPr>
              <a:t>35</a:t>
            </a:r>
            <a:r>
              <a:rPr sz="1050">
                <a:solidFill>
                  <a:srgbClr val="242424"/>
                </a:solidFill>
                <a:latin typeface="Segoe UI"/>
                <a:cs typeface="Segoe UI"/>
              </a:rPr>
              <a:t>	</a:t>
            </a:r>
            <a:r>
              <a:rPr sz="1050" spc="-25">
                <a:solidFill>
                  <a:srgbClr val="242424"/>
                </a:solidFill>
                <a:latin typeface="Segoe UI"/>
                <a:cs typeface="Segoe UI"/>
              </a:rPr>
              <a:t>36</a:t>
            </a:r>
            <a:r>
              <a:rPr sz="1050">
                <a:solidFill>
                  <a:srgbClr val="242424"/>
                </a:solidFill>
                <a:latin typeface="Segoe UI"/>
                <a:cs typeface="Segoe UI"/>
              </a:rPr>
              <a:t>	</a:t>
            </a:r>
            <a:r>
              <a:rPr sz="1050" spc="-25">
                <a:solidFill>
                  <a:srgbClr val="242424"/>
                </a:solidFill>
                <a:latin typeface="Segoe UI"/>
                <a:cs typeface="Segoe UI"/>
              </a:rPr>
              <a:t>37</a:t>
            </a:r>
            <a:r>
              <a:rPr sz="1050">
                <a:solidFill>
                  <a:srgbClr val="242424"/>
                </a:solidFill>
                <a:latin typeface="Segoe UI"/>
                <a:cs typeface="Segoe UI"/>
              </a:rPr>
              <a:t>	</a:t>
            </a:r>
            <a:r>
              <a:rPr sz="1050" spc="-25">
                <a:solidFill>
                  <a:srgbClr val="242424"/>
                </a:solidFill>
                <a:latin typeface="Segoe UI"/>
                <a:cs typeface="Segoe UI"/>
              </a:rPr>
              <a:t>38</a:t>
            </a:r>
            <a:endParaRPr sz="1050">
              <a:latin typeface="Segoe UI"/>
              <a:cs typeface="Segoe UI"/>
            </a:endParaRPr>
          </a:p>
        </p:txBody>
      </p:sp>
      <p:sp>
        <p:nvSpPr>
          <p:cNvPr id="27" name="object 27"/>
          <p:cNvSpPr txBox="1"/>
          <p:nvPr/>
        </p:nvSpPr>
        <p:spPr>
          <a:xfrm>
            <a:off x="530225" y="1101725"/>
            <a:ext cx="510540" cy="9133205"/>
          </a:xfrm>
          <a:prstGeom prst="rect">
            <a:avLst/>
          </a:prstGeom>
        </p:spPr>
        <p:txBody>
          <a:bodyPr vert="horz" wrap="square" lIns="0" tIns="12700" rIns="0" bIns="0" rtlCol="0">
            <a:spAutoFit/>
          </a:bodyPr>
          <a:lstStyle/>
          <a:p>
            <a:pPr marL="12700">
              <a:lnSpc>
                <a:spcPct val="100000"/>
              </a:lnSpc>
              <a:spcBef>
                <a:spcPts val="100"/>
              </a:spcBef>
            </a:pPr>
            <a:r>
              <a:rPr sz="1050">
                <a:solidFill>
                  <a:srgbClr val="242424"/>
                </a:solidFill>
                <a:latin typeface="Segoe UI"/>
                <a:cs typeface="Segoe UI"/>
              </a:rPr>
              <a:t>2023-</a:t>
            </a:r>
            <a:r>
              <a:rPr sz="1050" spc="-25">
                <a:solidFill>
                  <a:srgbClr val="242424"/>
                </a:solidFill>
                <a:latin typeface="Segoe UI"/>
                <a:cs typeface="Segoe UI"/>
              </a:rPr>
              <a:t>01</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2023-</a:t>
            </a:r>
            <a:r>
              <a:rPr sz="1050" spc="-25">
                <a:solidFill>
                  <a:srgbClr val="242424"/>
                </a:solidFill>
                <a:latin typeface="Segoe UI"/>
                <a:cs typeface="Segoe UI"/>
              </a:rPr>
              <a:t>02</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2023-</a:t>
            </a:r>
            <a:r>
              <a:rPr sz="1050" spc="-25">
                <a:solidFill>
                  <a:srgbClr val="242424"/>
                </a:solidFill>
                <a:latin typeface="Segoe UI"/>
                <a:cs typeface="Segoe UI"/>
              </a:rPr>
              <a:t>03</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2023-</a:t>
            </a:r>
            <a:r>
              <a:rPr sz="1050" spc="-25">
                <a:solidFill>
                  <a:srgbClr val="242424"/>
                </a:solidFill>
                <a:latin typeface="Segoe UI"/>
                <a:cs typeface="Segoe UI"/>
              </a:rPr>
              <a:t>04</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2023-</a:t>
            </a:r>
            <a:r>
              <a:rPr sz="1050" spc="-25">
                <a:solidFill>
                  <a:srgbClr val="242424"/>
                </a:solidFill>
                <a:latin typeface="Segoe UI"/>
                <a:cs typeface="Segoe UI"/>
              </a:rPr>
              <a:t>05</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2023-</a:t>
            </a:r>
            <a:r>
              <a:rPr sz="1050" spc="-25">
                <a:solidFill>
                  <a:srgbClr val="242424"/>
                </a:solidFill>
                <a:latin typeface="Segoe UI"/>
                <a:cs typeface="Segoe UI"/>
              </a:rPr>
              <a:t>06</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2023-</a:t>
            </a:r>
            <a:r>
              <a:rPr sz="1050" spc="-25">
                <a:solidFill>
                  <a:srgbClr val="242424"/>
                </a:solidFill>
                <a:latin typeface="Segoe UI"/>
                <a:cs typeface="Segoe UI"/>
              </a:rPr>
              <a:t>07</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2023-</a:t>
            </a:r>
            <a:r>
              <a:rPr sz="1050" spc="-25">
                <a:solidFill>
                  <a:srgbClr val="242424"/>
                </a:solidFill>
                <a:latin typeface="Segoe UI"/>
                <a:cs typeface="Segoe UI"/>
              </a:rPr>
              <a:t>08</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2023-</a:t>
            </a:r>
            <a:r>
              <a:rPr sz="1050" spc="-25">
                <a:solidFill>
                  <a:srgbClr val="242424"/>
                </a:solidFill>
                <a:latin typeface="Segoe UI"/>
                <a:cs typeface="Segoe UI"/>
              </a:rPr>
              <a:t>09</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2023-</a:t>
            </a:r>
            <a:r>
              <a:rPr sz="1050" spc="-25">
                <a:solidFill>
                  <a:srgbClr val="242424"/>
                </a:solidFill>
                <a:latin typeface="Segoe UI"/>
                <a:cs typeface="Segoe UI"/>
              </a:rPr>
              <a:t>10</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2023-</a:t>
            </a:r>
            <a:r>
              <a:rPr sz="1050" spc="-25">
                <a:solidFill>
                  <a:srgbClr val="242424"/>
                </a:solidFill>
                <a:latin typeface="Segoe UI"/>
                <a:cs typeface="Segoe UI"/>
              </a:rPr>
              <a:t>11</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2023-</a:t>
            </a:r>
            <a:r>
              <a:rPr sz="1050" spc="-25">
                <a:solidFill>
                  <a:srgbClr val="242424"/>
                </a:solidFill>
                <a:latin typeface="Segoe UI"/>
                <a:cs typeface="Segoe UI"/>
              </a:rPr>
              <a:t>12</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2024-</a:t>
            </a:r>
            <a:r>
              <a:rPr sz="1050" spc="-25">
                <a:solidFill>
                  <a:srgbClr val="242424"/>
                </a:solidFill>
                <a:latin typeface="Segoe UI"/>
                <a:cs typeface="Segoe UI"/>
              </a:rPr>
              <a:t>01</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2024-</a:t>
            </a:r>
            <a:r>
              <a:rPr sz="1050" spc="-25">
                <a:solidFill>
                  <a:srgbClr val="242424"/>
                </a:solidFill>
                <a:latin typeface="Segoe UI"/>
                <a:cs typeface="Segoe UI"/>
              </a:rPr>
              <a:t>02</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2024-</a:t>
            </a:r>
            <a:r>
              <a:rPr sz="1050" spc="-25">
                <a:solidFill>
                  <a:srgbClr val="242424"/>
                </a:solidFill>
                <a:latin typeface="Segoe UI"/>
                <a:cs typeface="Segoe UI"/>
              </a:rPr>
              <a:t>03</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2024-</a:t>
            </a:r>
            <a:r>
              <a:rPr sz="1050" spc="-25">
                <a:solidFill>
                  <a:srgbClr val="242424"/>
                </a:solidFill>
                <a:latin typeface="Segoe UI"/>
                <a:cs typeface="Segoe UI"/>
              </a:rPr>
              <a:t>04</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2024-</a:t>
            </a:r>
            <a:r>
              <a:rPr sz="1050" spc="-25">
                <a:solidFill>
                  <a:srgbClr val="242424"/>
                </a:solidFill>
                <a:latin typeface="Segoe UI"/>
                <a:cs typeface="Segoe UI"/>
              </a:rPr>
              <a:t>05</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2024-</a:t>
            </a:r>
            <a:r>
              <a:rPr sz="1050" spc="-25">
                <a:solidFill>
                  <a:srgbClr val="242424"/>
                </a:solidFill>
                <a:latin typeface="Segoe UI"/>
                <a:cs typeface="Segoe UI"/>
              </a:rPr>
              <a:t>06</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2024-</a:t>
            </a:r>
            <a:r>
              <a:rPr sz="1050" spc="-25">
                <a:solidFill>
                  <a:srgbClr val="242424"/>
                </a:solidFill>
                <a:latin typeface="Segoe UI"/>
                <a:cs typeface="Segoe UI"/>
              </a:rPr>
              <a:t>07</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2024-</a:t>
            </a:r>
            <a:r>
              <a:rPr sz="1050" spc="-25">
                <a:solidFill>
                  <a:srgbClr val="242424"/>
                </a:solidFill>
                <a:latin typeface="Segoe UI"/>
                <a:cs typeface="Segoe UI"/>
              </a:rPr>
              <a:t>08</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2024-</a:t>
            </a:r>
            <a:r>
              <a:rPr sz="1050" spc="-25">
                <a:solidFill>
                  <a:srgbClr val="242424"/>
                </a:solidFill>
                <a:latin typeface="Segoe UI"/>
                <a:cs typeface="Segoe UI"/>
              </a:rPr>
              <a:t>09</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2024-</a:t>
            </a:r>
            <a:r>
              <a:rPr sz="1050" spc="-25">
                <a:solidFill>
                  <a:srgbClr val="242424"/>
                </a:solidFill>
                <a:latin typeface="Segoe UI"/>
                <a:cs typeface="Segoe UI"/>
              </a:rPr>
              <a:t>10</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2024-</a:t>
            </a:r>
            <a:r>
              <a:rPr sz="1050" spc="-25">
                <a:solidFill>
                  <a:srgbClr val="242424"/>
                </a:solidFill>
                <a:latin typeface="Segoe UI"/>
                <a:cs typeface="Segoe UI"/>
              </a:rPr>
              <a:t>11</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2024-</a:t>
            </a:r>
            <a:r>
              <a:rPr sz="1050" spc="-25">
                <a:solidFill>
                  <a:srgbClr val="242424"/>
                </a:solidFill>
                <a:latin typeface="Segoe UI"/>
                <a:cs typeface="Segoe UI"/>
              </a:rPr>
              <a:t>12</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2025-</a:t>
            </a:r>
            <a:r>
              <a:rPr sz="1050" spc="-25">
                <a:solidFill>
                  <a:srgbClr val="242424"/>
                </a:solidFill>
                <a:latin typeface="Segoe UI"/>
                <a:cs typeface="Segoe UI"/>
              </a:rPr>
              <a:t>01</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2025-</a:t>
            </a:r>
            <a:r>
              <a:rPr sz="1050" spc="-25">
                <a:solidFill>
                  <a:srgbClr val="242424"/>
                </a:solidFill>
                <a:latin typeface="Segoe UI"/>
                <a:cs typeface="Segoe UI"/>
              </a:rPr>
              <a:t>02</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2025-</a:t>
            </a:r>
            <a:r>
              <a:rPr sz="1050" spc="-25">
                <a:solidFill>
                  <a:srgbClr val="242424"/>
                </a:solidFill>
                <a:latin typeface="Segoe UI"/>
                <a:cs typeface="Segoe UI"/>
              </a:rPr>
              <a:t>03</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2025-</a:t>
            </a:r>
            <a:r>
              <a:rPr sz="1050" spc="-25">
                <a:solidFill>
                  <a:srgbClr val="242424"/>
                </a:solidFill>
                <a:latin typeface="Segoe UI"/>
                <a:cs typeface="Segoe UI"/>
              </a:rPr>
              <a:t>04</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2025-</a:t>
            </a:r>
            <a:r>
              <a:rPr sz="1050" spc="-25">
                <a:solidFill>
                  <a:srgbClr val="242424"/>
                </a:solidFill>
                <a:latin typeface="Segoe UI"/>
                <a:cs typeface="Segoe UI"/>
              </a:rPr>
              <a:t>05</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2025-</a:t>
            </a:r>
            <a:r>
              <a:rPr sz="1050" spc="-25">
                <a:solidFill>
                  <a:srgbClr val="242424"/>
                </a:solidFill>
                <a:latin typeface="Segoe UI"/>
                <a:cs typeface="Segoe UI"/>
              </a:rPr>
              <a:t>06</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2025-</a:t>
            </a:r>
            <a:r>
              <a:rPr sz="1050" spc="-25">
                <a:solidFill>
                  <a:srgbClr val="242424"/>
                </a:solidFill>
                <a:latin typeface="Segoe UI"/>
                <a:cs typeface="Segoe UI"/>
              </a:rPr>
              <a:t>07</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2025-</a:t>
            </a:r>
            <a:r>
              <a:rPr sz="1050" spc="-25">
                <a:solidFill>
                  <a:srgbClr val="242424"/>
                </a:solidFill>
                <a:latin typeface="Segoe UI"/>
                <a:cs typeface="Segoe UI"/>
              </a:rPr>
              <a:t>08</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2025-</a:t>
            </a:r>
            <a:r>
              <a:rPr sz="1050" spc="-25">
                <a:solidFill>
                  <a:srgbClr val="242424"/>
                </a:solidFill>
                <a:latin typeface="Segoe UI"/>
                <a:cs typeface="Segoe UI"/>
              </a:rPr>
              <a:t>09</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2025-</a:t>
            </a:r>
            <a:r>
              <a:rPr sz="1050" spc="-25">
                <a:solidFill>
                  <a:srgbClr val="242424"/>
                </a:solidFill>
                <a:latin typeface="Segoe UI"/>
                <a:cs typeface="Segoe UI"/>
              </a:rPr>
              <a:t>10</a:t>
            </a:r>
            <a:endParaRPr sz="1050">
              <a:latin typeface="Segoe UI"/>
              <a:cs typeface="Segoe UI"/>
            </a:endParaRPr>
          </a:p>
          <a:p>
            <a:pPr marL="12700">
              <a:lnSpc>
                <a:spcPct val="100000"/>
              </a:lnSpc>
              <a:spcBef>
                <a:spcPts val="765"/>
              </a:spcBef>
            </a:pPr>
            <a:r>
              <a:rPr sz="1050">
                <a:solidFill>
                  <a:srgbClr val="242424"/>
                </a:solidFill>
                <a:latin typeface="Segoe UI"/>
                <a:cs typeface="Segoe UI"/>
              </a:rPr>
              <a:t>2025-</a:t>
            </a:r>
            <a:r>
              <a:rPr sz="1050" spc="-25">
                <a:solidFill>
                  <a:srgbClr val="242424"/>
                </a:solidFill>
                <a:latin typeface="Segoe UI"/>
                <a:cs typeface="Segoe UI"/>
              </a:rPr>
              <a:t>11</a:t>
            </a:r>
            <a:endParaRPr sz="1050">
              <a:latin typeface="Segoe UI"/>
              <a:cs typeface="Segoe UI"/>
            </a:endParaRPr>
          </a:p>
          <a:p>
            <a:pPr marL="12700">
              <a:lnSpc>
                <a:spcPct val="100000"/>
              </a:lnSpc>
              <a:spcBef>
                <a:spcPts val="215"/>
              </a:spcBef>
            </a:pPr>
            <a:r>
              <a:rPr sz="1150" b="1" spc="-80">
                <a:solidFill>
                  <a:srgbClr val="242424"/>
                </a:solidFill>
                <a:latin typeface="BIZ UDPGothic"/>
                <a:cs typeface="BIZ UDPGothic"/>
              </a:rPr>
              <a:t>合計</a:t>
            </a:r>
            <a:endParaRPr sz="1150">
              <a:latin typeface="BIZ UDPGothic"/>
              <a:cs typeface="BIZ UDPGothic"/>
            </a:endParaRPr>
          </a:p>
        </p:txBody>
      </p:sp>
      <p:sp>
        <p:nvSpPr>
          <p:cNvPr id="28" name="object 28"/>
          <p:cNvSpPr txBox="1"/>
          <p:nvPr/>
        </p:nvSpPr>
        <p:spPr>
          <a:xfrm>
            <a:off x="1470967" y="1098581"/>
            <a:ext cx="532765" cy="9112250"/>
          </a:xfrm>
          <a:prstGeom prst="rect">
            <a:avLst/>
          </a:prstGeom>
        </p:spPr>
        <p:txBody>
          <a:bodyPr vert="horz" wrap="square" lIns="0" tIns="12700" rIns="0" bIns="0" rtlCol="0">
            <a:spAutoFit/>
          </a:bodyPr>
          <a:lstStyle/>
          <a:p>
            <a:pPr marR="5080" algn="r">
              <a:lnSpc>
                <a:spcPct val="100000"/>
              </a:lnSpc>
              <a:spcBef>
                <a:spcPts val="100"/>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825"/>
              </a:spcBef>
            </a:pPr>
            <a:r>
              <a:rPr sz="1000" b="1" spc="-10">
                <a:solidFill>
                  <a:srgbClr val="242424"/>
                </a:solidFill>
                <a:latin typeface="Segoe UI"/>
                <a:cs typeface="Segoe UI"/>
              </a:rPr>
              <a:t>100.00</a:t>
            </a:r>
            <a:endParaRPr sz="1000">
              <a:latin typeface="Segoe UI"/>
              <a:cs typeface="Segoe UI"/>
            </a:endParaRPr>
          </a:p>
          <a:p>
            <a:pPr marR="5080" algn="r">
              <a:lnSpc>
                <a:spcPct val="100000"/>
              </a:lnSpc>
              <a:spcBef>
                <a:spcPts val="300"/>
              </a:spcBef>
            </a:pPr>
            <a:r>
              <a:rPr sz="1000" b="1" spc="-10">
                <a:solidFill>
                  <a:srgbClr val="242424"/>
                </a:solidFill>
                <a:latin typeface="Segoe UI"/>
                <a:cs typeface="Segoe UI"/>
              </a:rPr>
              <a:t>4,500.00</a:t>
            </a:r>
            <a:endParaRPr sz="1000">
              <a:latin typeface="Segoe UI"/>
              <a:cs typeface="Segoe UI"/>
            </a:endParaRPr>
          </a:p>
        </p:txBody>
      </p:sp>
      <p:sp>
        <p:nvSpPr>
          <p:cNvPr id="29" name="object 29"/>
          <p:cNvSpPr txBox="1"/>
          <p:nvPr/>
        </p:nvSpPr>
        <p:spPr>
          <a:xfrm>
            <a:off x="2083246" y="1098581"/>
            <a:ext cx="16154400" cy="9112250"/>
          </a:xfrm>
          <a:prstGeom prst="rect">
            <a:avLst/>
          </a:prstGeom>
        </p:spPr>
        <p:txBody>
          <a:bodyPr vert="horz" wrap="square" lIns="0" tIns="12700" rIns="0" bIns="0" rtlCol="0">
            <a:spAutoFit/>
          </a:bodyPr>
          <a:lstStyle/>
          <a:p>
            <a:pPr marL="158115">
              <a:lnSpc>
                <a:spcPct val="100000"/>
              </a:lnSpc>
              <a:spcBef>
                <a:spcPts val="100"/>
              </a:spcBef>
              <a:tabLst>
                <a:tab pos="662940" algn="l"/>
                <a:tab pos="1091565" algn="l"/>
                <a:tab pos="1520190" algn="l"/>
                <a:tab pos="1948814" algn="l"/>
                <a:tab pos="2377440" algn="l"/>
                <a:tab pos="2806065" algn="l"/>
                <a:tab pos="3234690"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 pos="10949940" algn="l"/>
                <a:tab pos="11378565" algn="l"/>
                <a:tab pos="11807190" algn="l"/>
                <a:tab pos="12235815" algn="l"/>
                <a:tab pos="12664440" algn="l"/>
                <a:tab pos="13093065" algn="l"/>
                <a:tab pos="13521690" algn="l"/>
                <a:tab pos="13950315" algn="l"/>
                <a:tab pos="14378940" algn="l"/>
              </a:tabLst>
            </a:pPr>
            <a:r>
              <a:rPr sz="1000" b="1" spc="-20">
                <a:solidFill>
                  <a:srgbClr val="242424"/>
                </a:solidFill>
                <a:latin typeface="Segoe UI"/>
                <a:cs typeface="Segoe UI"/>
              </a:rPr>
              <a:t>3.40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0.40</a:t>
            </a:r>
            <a:r>
              <a:rPr sz="1000" b="1">
                <a:solidFill>
                  <a:srgbClr val="242424"/>
                </a:solidFill>
                <a:latin typeface="Segoe UI"/>
                <a:cs typeface="Segoe UI"/>
              </a:rPr>
              <a:t>	</a:t>
            </a:r>
            <a:r>
              <a:rPr sz="1000" b="1" spc="-20">
                <a:solidFill>
                  <a:srgbClr val="242424"/>
                </a:solidFill>
                <a:latin typeface="Segoe UI"/>
                <a:cs typeface="Segoe UI"/>
              </a:rPr>
              <a:t>0.70</a:t>
            </a:r>
            <a:r>
              <a:rPr sz="1000" b="1">
                <a:solidFill>
                  <a:srgbClr val="242424"/>
                </a:solidFill>
                <a:latin typeface="Segoe UI"/>
                <a:cs typeface="Segoe UI"/>
              </a:rPr>
              <a:t>	</a:t>
            </a:r>
            <a:r>
              <a:rPr sz="1000" b="1" spc="-20">
                <a:solidFill>
                  <a:srgbClr val="242424"/>
                </a:solidFill>
                <a:latin typeface="Segoe UI"/>
                <a:cs typeface="Segoe UI"/>
              </a:rPr>
              <a:t>0.20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0.50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0.70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0.70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0.70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0.90</a:t>
            </a:r>
            <a:r>
              <a:rPr sz="1000" b="1" spc="405">
                <a:solidFill>
                  <a:srgbClr val="242424"/>
                </a:solidFill>
                <a:latin typeface="Segoe UI"/>
                <a:cs typeface="Segoe UI"/>
              </a:rPr>
              <a:t>  </a:t>
            </a:r>
            <a:r>
              <a:rPr sz="1000" b="1">
                <a:solidFill>
                  <a:srgbClr val="242424"/>
                </a:solidFill>
                <a:latin typeface="Segoe UI"/>
                <a:cs typeface="Segoe UI"/>
              </a:rPr>
              <a:t>1.40</a:t>
            </a:r>
            <a:r>
              <a:rPr sz="1000" b="1" spc="145">
                <a:solidFill>
                  <a:srgbClr val="242424"/>
                </a:solidFill>
                <a:latin typeface="Segoe UI"/>
                <a:cs typeface="Segoe UI"/>
              </a:rPr>
              <a:t>  </a:t>
            </a:r>
            <a:r>
              <a:rPr sz="1000" b="1">
                <a:solidFill>
                  <a:srgbClr val="242424"/>
                </a:solidFill>
                <a:latin typeface="Segoe UI"/>
                <a:cs typeface="Segoe UI"/>
              </a:rPr>
              <a:t>0.90</a:t>
            </a:r>
            <a:r>
              <a:rPr sz="1000" b="1" spc="150">
                <a:solidFill>
                  <a:srgbClr val="242424"/>
                </a:solidFill>
                <a:latin typeface="Segoe UI"/>
                <a:cs typeface="Segoe UI"/>
              </a:rPr>
              <a:t>  </a:t>
            </a:r>
            <a:r>
              <a:rPr sz="1000" b="1">
                <a:solidFill>
                  <a:srgbClr val="242424"/>
                </a:solidFill>
                <a:latin typeface="Segoe UI"/>
                <a:cs typeface="Segoe UI"/>
              </a:rPr>
              <a:t>0.40</a:t>
            </a:r>
            <a:r>
              <a:rPr sz="1000" b="1" spc="405">
                <a:solidFill>
                  <a:srgbClr val="242424"/>
                </a:solidFill>
                <a:latin typeface="Segoe UI"/>
                <a:cs typeface="Segoe UI"/>
              </a:rPr>
              <a:t>  </a:t>
            </a:r>
            <a:r>
              <a:rPr sz="1000" b="1" spc="-25">
                <a:solidFill>
                  <a:srgbClr val="242424"/>
                </a:solidFill>
                <a:latin typeface="Segoe UI"/>
                <a:cs typeface="Segoe UI"/>
              </a:rPr>
              <a:t>0.9</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 pos="10949940" algn="l"/>
                <a:tab pos="11378565" algn="l"/>
                <a:tab pos="11807190" algn="l"/>
                <a:tab pos="12235815" algn="l"/>
                <a:tab pos="12664440" algn="l"/>
                <a:tab pos="13093065" algn="l"/>
                <a:tab pos="13521690" algn="l"/>
                <a:tab pos="13950315" algn="l"/>
              </a:tabLst>
            </a:pPr>
            <a:r>
              <a:rPr sz="1000" b="1" spc="-20">
                <a:solidFill>
                  <a:srgbClr val="242424"/>
                </a:solidFill>
                <a:latin typeface="Segoe UI"/>
                <a:cs typeface="Segoe UI"/>
              </a:rPr>
              <a:t>3.70</a:t>
            </a:r>
            <a:r>
              <a:rPr sz="1000" b="1">
                <a:solidFill>
                  <a:srgbClr val="242424"/>
                </a:solidFill>
                <a:latin typeface="Segoe UI"/>
                <a:cs typeface="Segoe UI"/>
              </a:rPr>
              <a:t>	</a:t>
            </a:r>
            <a:r>
              <a:rPr sz="1000" b="1" spc="-20">
                <a:solidFill>
                  <a:srgbClr val="242424"/>
                </a:solidFill>
                <a:latin typeface="Segoe UI"/>
                <a:cs typeface="Segoe UI"/>
              </a:rPr>
              <a:t>0.50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0.70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0.50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0.20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0.70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1.00</a:t>
            </a:r>
            <a:r>
              <a:rPr sz="1000" b="1" spc="405">
                <a:solidFill>
                  <a:srgbClr val="242424"/>
                </a:solidFill>
                <a:latin typeface="Segoe UI"/>
                <a:cs typeface="Segoe UI"/>
              </a:rPr>
              <a:t>  </a:t>
            </a:r>
            <a:r>
              <a:rPr sz="1000" b="1">
                <a:solidFill>
                  <a:srgbClr val="242424"/>
                </a:solidFill>
                <a:latin typeface="Segoe UI"/>
                <a:cs typeface="Segoe UI"/>
              </a:rPr>
              <a:t>1.20</a:t>
            </a:r>
            <a:r>
              <a:rPr sz="1000" b="1" spc="405">
                <a:solidFill>
                  <a:srgbClr val="242424"/>
                </a:solidFill>
                <a:latin typeface="Segoe UI"/>
                <a:cs typeface="Segoe UI"/>
              </a:rPr>
              <a:t>  </a:t>
            </a:r>
            <a:r>
              <a:rPr sz="1000" b="1">
                <a:solidFill>
                  <a:srgbClr val="242424"/>
                </a:solidFill>
                <a:latin typeface="Segoe UI"/>
                <a:cs typeface="Segoe UI"/>
              </a:rPr>
              <a:t>1.70</a:t>
            </a:r>
            <a:r>
              <a:rPr sz="1000" b="1" spc="150">
                <a:solidFill>
                  <a:srgbClr val="242424"/>
                </a:solidFill>
                <a:latin typeface="Segoe UI"/>
                <a:cs typeface="Segoe UI"/>
              </a:rPr>
              <a:t>  </a:t>
            </a:r>
            <a:r>
              <a:rPr sz="1000" b="1">
                <a:solidFill>
                  <a:srgbClr val="242424"/>
                </a:solidFill>
                <a:latin typeface="Segoe UI"/>
                <a:cs typeface="Segoe UI"/>
              </a:rPr>
              <a:t>1.40</a:t>
            </a:r>
            <a:r>
              <a:rPr sz="1000" b="1" spc="145">
                <a:solidFill>
                  <a:srgbClr val="242424"/>
                </a:solidFill>
                <a:latin typeface="Segoe UI"/>
                <a:cs typeface="Segoe UI"/>
              </a:rPr>
              <a:t>  </a:t>
            </a:r>
            <a:r>
              <a:rPr sz="1000" b="1">
                <a:solidFill>
                  <a:srgbClr val="242424"/>
                </a:solidFill>
                <a:latin typeface="Segoe UI"/>
                <a:cs typeface="Segoe UI"/>
              </a:rPr>
              <a:t>0.90</a:t>
            </a:r>
            <a:r>
              <a:rPr sz="1000" b="1" spc="409">
                <a:solidFill>
                  <a:srgbClr val="242424"/>
                </a:solidFill>
                <a:latin typeface="Segoe UI"/>
                <a:cs typeface="Segoe UI"/>
              </a:rPr>
              <a:t>  </a:t>
            </a:r>
            <a:r>
              <a:rPr sz="1000" b="1" spc="-25">
                <a:solidFill>
                  <a:srgbClr val="242424"/>
                </a:solidFill>
                <a:latin typeface="Segoe UI"/>
                <a:cs typeface="Segoe UI"/>
              </a:rPr>
              <a:t>0.9</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 pos="10949940" algn="l"/>
                <a:tab pos="11378565" algn="l"/>
                <a:tab pos="11807190" algn="l"/>
                <a:tab pos="12235815" algn="l"/>
                <a:tab pos="12664440" algn="l"/>
                <a:tab pos="13093065" algn="l"/>
                <a:tab pos="13521690" algn="l"/>
                <a:tab pos="13950315" algn="l"/>
              </a:tabLst>
            </a:pP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0.70</a:t>
            </a:r>
            <a:r>
              <a:rPr sz="1000" b="1">
                <a:solidFill>
                  <a:srgbClr val="242424"/>
                </a:solidFill>
                <a:latin typeface="Segoe UI"/>
                <a:cs typeface="Segoe UI"/>
              </a:rPr>
              <a:t>	</a:t>
            </a:r>
            <a:r>
              <a:rPr sz="1000" b="1" spc="-20">
                <a:solidFill>
                  <a:srgbClr val="242424"/>
                </a:solidFill>
                <a:latin typeface="Segoe UI"/>
                <a:cs typeface="Segoe UI"/>
              </a:rPr>
              <a:t>0.80</a:t>
            </a:r>
            <a:r>
              <a:rPr sz="1000" b="1">
                <a:solidFill>
                  <a:srgbClr val="242424"/>
                </a:solidFill>
                <a:latin typeface="Segoe UI"/>
                <a:cs typeface="Segoe UI"/>
              </a:rPr>
              <a:t>	</a:t>
            </a:r>
            <a:r>
              <a:rPr sz="1000" b="1" spc="-20">
                <a:solidFill>
                  <a:srgbClr val="242424"/>
                </a:solidFill>
                <a:latin typeface="Segoe UI"/>
                <a:cs typeface="Segoe UI"/>
              </a:rPr>
              <a:t>0.80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0.80</a:t>
            </a:r>
            <a:r>
              <a:rPr sz="1000" b="1">
                <a:solidFill>
                  <a:srgbClr val="242424"/>
                </a:solidFill>
                <a:latin typeface="Segoe UI"/>
                <a:cs typeface="Segoe UI"/>
              </a:rPr>
              <a:t>	</a:t>
            </a:r>
            <a:r>
              <a:rPr sz="1000" b="1" spc="-20">
                <a:solidFill>
                  <a:srgbClr val="242424"/>
                </a:solidFill>
                <a:latin typeface="Segoe UI"/>
                <a:cs typeface="Segoe UI"/>
              </a:rPr>
              <a:t>0.80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0.50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0.80</a:t>
            </a:r>
            <a:r>
              <a:rPr sz="1000" b="1">
                <a:solidFill>
                  <a:srgbClr val="242424"/>
                </a:solidFill>
                <a:latin typeface="Segoe UI"/>
                <a:cs typeface="Segoe UI"/>
              </a:rPr>
              <a:t>	</a:t>
            </a:r>
            <a:r>
              <a:rPr sz="1000" b="1" spc="-20">
                <a:solidFill>
                  <a:srgbClr val="242424"/>
                </a:solidFill>
                <a:latin typeface="Segoe UI"/>
                <a:cs typeface="Segoe UI"/>
              </a:rPr>
              <a:t>0.30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0.80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0.80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1.20</a:t>
            </a:r>
            <a:r>
              <a:rPr sz="1000" b="1" spc="405">
                <a:solidFill>
                  <a:srgbClr val="242424"/>
                </a:solidFill>
                <a:latin typeface="Segoe UI"/>
                <a:cs typeface="Segoe UI"/>
              </a:rPr>
              <a:t>  </a:t>
            </a:r>
            <a:r>
              <a:rPr sz="1000" b="1">
                <a:solidFill>
                  <a:srgbClr val="242424"/>
                </a:solidFill>
                <a:latin typeface="Segoe UI"/>
                <a:cs typeface="Segoe UI"/>
              </a:rPr>
              <a:t>0.80</a:t>
            </a:r>
            <a:r>
              <a:rPr sz="1000" b="1" spc="405">
                <a:solidFill>
                  <a:srgbClr val="242424"/>
                </a:solidFill>
                <a:latin typeface="Segoe UI"/>
                <a:cs typeface="Segoe UI"/>
              </a:rPr>
              <a:t>  </a:t>
            </a:r>
            <a:r>
              <a:rPr sz="1000" b="1">
                <a:solidFill>
                  <a:srgbClr val="242424"/>
                </a:solidFill>
                <a:latin typeface="Segoe UI"/>
                <a:cs typeface="Segoe UI"/>
              </a:rPr>
              <a:t>0.70</a:t>
            </a:r>
            <a:r>
              <a:rPr sz="1000" b="1" spc="150">
                <a:solidFill>
                  <a:srgbClr val="242424"/>
                </a:solidFill>
                <a:latin typeface="Segoe UI"/>
                <a:cs typeface="Segoe UI"/>
              </a:rPr>
              <a:t>  </a:t>
            </a:r>
            <a:r>
              <a:rPr sz="1000" b="1">
                <a:solidFill>
                  <a:srgbClr val="242424"/>
                </a:solidFill>
                <a:latin typeface="Segoe UI"/>
                <a:cs typeface="Segoe UI"/>
              </a:rPr>
              <a:t>0.80</a:t>
            </a:r>
            <a:r>
              <a:rPr sz="1000" b="1" spc="145">
                <a:solidFill>
                  <a:srgbClr val="242424"/>
                </a:solidFill>
                <a:latin typeface="Segoe UI"/>
                <a:cs typeface="Segoe UI"/>
              </a:rPr>
              <a:t>  </a:t>
            </a:r>
            <a:r>
              <a:rPr sz="1000" b="1">
                <a:solidFill>
                  <a:srgbClr val="242424"/>
                </a:solidFill>
                <a:latin typeface="Segoe UI"/>
                <a:cs typeface="Segoe UI"/>
              </a:rPr>
              <a:t>1.00</a:t>
            </a:r>
            <a:r>
              <a:rPr sz="1000" b="1" spc="409">
                <a:solidFill>
                  <a:srgbClr val="242424"/>
                </a:solidFill>
                <a:latin typeface="Segoe UI"/>
                <a:cs typeface="Segoe UI"/>
              </a:rPr>
              <a:t>  </a:t>
            </a:r>
            <a:r>
              <a:rPr sz="1000" b="1" spc="-25">
                <a:solidFill>
                  <a:srgbClr val="242424"/>
                </a:solidFill>
                <a:latin typeface="Segoe UI"/>
                <a:cs typeface="Segoe UI"/>
              </a:rPr>
              <a:t>2.3</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 pos="10949940" algn="l"/>
                <a:tab pos="11378565" algn="l"/>
                <a:tab pos="11807190" algn="l"/>
                <a:tab pos="12235815" algn="l"/>
                <a:tab pos="12664440" algn="l"/>
                <a:tab pos="13093065" algn="l"/>
                <a:tab pos="13521690" algn="l"/>
                <a:tab pos="13950315" algn="l"/>
              </a:tabLst>
            </a:pPr>
            <a:r>
              <a:rPr sz="1000" b="1" spc="-20">
                <a:solidFill>
                  <a:srgbClr val="242424"/>
                </a:solidFill>
                <a:latin typeface="Segoe UI"/>
                <a:cs typeface="Segoe UI"/>
              </a:rPr>
              <a:t>2.80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2.40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0.70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0.30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1.60</a:t>
            </a:r>
            <a:r>
              <a:rPr sz="1000" b="1" spc="405">
                <a:solidFill>
                  <a:srgbClr val="242424"/>
                </a:solidFill>
                <a:latin typeface="Segoe UI"/>
                <a:cs typeface="Segoe UI"/>
              </a:rPr>
              <a:t>  </a:t>
            </a:r>
            <a:r>
              <a:rPr sz="1000" b="1">
                <a:solidFill>
                  <a:srgbClr val="242424"/>
                </a:solidFill>
                <a:latin typeface="Segoe UI"/>
                <a:cs typeface="Segoe UI"/>
              </a:rPr>
              <a:t>1.10</a:t>
            </a:r>
            <a:r>
              <a:rPr sz="1000" b="1" spc="405">
                <a:solidFill>
                  <a:srgbClr val="242424"/>
                </a:solidFill>
                <a:latin typeface="Segoe UI"/>
                <a:cs typeface="Segoe UI"/>
              </a:rPr>
              <a:t>  </a:t>
            </a:r>
            <a:r>
              <a:rPr sz="1000" b="1">
                <a:solidFill>
                  <a:srgbClr val="242424"/>
                </a:solidFill>
                <a:latin typeface="Segoe UI"/>
                <a:cs typeface="Segoe UI"/>
              </a:rPr>
              <a:t>1.10</a:t>
            </a:r>
            <a:r>
              <a:rPr sz="1000" b="1" spc="150">
                <a:solidFill>
                  <a:srgbClr val="242424"/>
                </a:solidFill>
                <a:latin typeface="Segoe UI"/>
                <a:cs typeface="Segoe UI"/>
              </a:rPr>
              <a:t>  </a:t>
            </a:r>
            <a:r>
              <a:rPr sz="1000" b="1">
                <a:solidFill>
                  <a:srgbClr val="242424"/>
                </a:solidFill>
                <a:latin typeface="Segoe UI"/>
                <a:cs typeface="Segoe UI"/>
              </a:rPr>
              <a:t>1.60</a:t>
            </a:r>
            <a:r>
              <a:rPr sz="1000" b="1" spc="145">
                <a:solidFill>
                  <a:srgbClr val="242424"/>
                </a:solidFill>
                <a:latin typeface="Segoe UI"/>
                <a:cs typeface="Segoe UI"/>
              </a:rPr>
              <a:t>  </a:t>
            </a:r>
            <a:r>
              <a:rPr sz="1000" b="1">
                <a:solidFill>
                  <a:srgbClr val="242424"/>
                </a:solidFill>
                <a:latin typeface="Segoe UI"/>
                <a:cs typeface="Segoe UI"/>
              </a:rPr>
              <a:t>1.10</a:t>
            </a:r>
            <a:r>
              <a:rPr sz="1000" b="1" spc="409">
                <a:solidFill>
                  <a:srgbClr val="242424"/>
                </a:solidFill>
                <a:latin typeface="Segoe UI"/>
                <a:cs typeface="Segoe UI"/>
              </a:rPr>
              <a:t>  </a:t>
            </a:r>
            <a:r>
              <a:rPr sz="1000" b="1" spc="-25">
                <a:solidFill>
                  <a:srgbClr val="242424"/>
                </a:solidFill>
                <a:latin typeface="Segoe UI"/>
                <a:cs typeface="Segoe UI"/>
              </a:rPr>
              <a:t>2.0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 pos="10949940" algn="l"/>
                <a:tab pos="11378565" algn="l"/>
                <a:tab pos="11807190" algn="l"/>
                <a:tab pos="12235815" algn="l"/>
                <a:tab pos="12664440" algn="l"/>
                <a:tab pos="13093065" algn="l"/>
                <a:tab pos="13521690" algn="l"/>
                <a:tab pos="13950315" algn="l"/>
              </a:tabLst>
            </a:pPr>
            <a:r>
              <a:rPr sz="1000" b="1" spc="-20">
                <a:solidFill>
                  <a:srgbClr val="242424"/>
                </a:solidFill>
                <a:latin typeface="Segoe UI"/>
                <a:cs typeface="Segoe UI"/>
              </a:rPr>
              <a:t>3.70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0.80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0.60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0.80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0.50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1.10</a:t>
            </a:r>
            <a:r>
              <a:rPr sz="1000" b="1" spc="405">
                <a:solidFill>
                  <a:srgbClr val="242424"/>
                </a:solidFill>
                <a:latin typeface="Segoe UI"/>
                <a:cs typeface="Segoe UI"/>
              </a:rPr>
              <a:t>  </a:t>
            </a:r>
            <a:r>
              <a:rPr sz="1000" b="1">
                <a:solidFill>
                  <a:srgbClr val="242424"/>
                </a:solidFill>
                <a:latin typeface="Segoe UI"/>
                <a:cs typeface="Segoe UI"/>
              </a:rPr>
              <a:t>0.90</a:t>
            </a:r>
            <a:r>
              <a:rPr sz="1000" b="1" spc="405">
                <a:solidFill>
                  <a:srgbClr val="242424"/>
                </a:solidFill>
                <a:latin typeface="Segoe UI"/>
                <a:cs typeface="Segoe UI"/>
              </a:rPr>
              <a:t>  </a:t>
            </a:r>
            <a:r>
              <a:rPr sz="1000" b="1">
                <a:solidFill>
                  <a:srgbClr val="242424"/>
                </a:solidFill>
                <a:latin typeface="Segoe UI"/>
                <a:cs typeface="Segoe UI"/>
              </a:rPr>
              <a:t>1.20</a:t>
            </a:r>
            <a:r>
              <a:rPr sz="1000" b="1" spc="150">
                <a:solidFill>
                  <a:srgbClr val="242424"/>
                </a:solidFill>
                <a:latin typeface="Segoe UI"/>
                <a:cs typeface="Segoe UI"/>
              </a:rPr>
              <a:t>  </a:t>
            </a:r>
            <a:r>
              <a:rPr sz="1000" b="1">
                <a:solidFill>
                  <a:srgbClr val="242424"/>
                </a:solidFill>
                <a:latin typeface="Segoe UI"/>
                <a:cs typeface="Segoe UI"/>
              </a:rPr>
              <a:t>0.60</a:t>
            </a:r>
            <a:r>
              <a:rPr sz="1000" b="1" spc="145">
                <a:solidFill>
                  <a:srgbClr val="242424"/>
                </a:solidFill>
                <a:latin typeface="Segoe UI"/>
                <a:cs typeface="Segoe UI"/>
              </a:rPr>
              <a:t>  </a:t>
            </a:r>
            <a:r>
              <a:rPr sz="1000" b="1">
                <a:solidFill>
                  <a:srgbClr val="242424"/>
                </a:solidFill>
                <a:latin typeface="Segoe UI"/>
                <a:cs typeface="Segoe UI"/>
              </a:rPr>
              <a:t>0.60</a:t>
            </a:r>
            <a:r>
              <a:rPr sz="1000" b="1" spc="409">
                <a:solidFill>
                  <a:srgbClr val="242424"/>
                </a:solidFill>
                <a:latin typeface="Segoe UI"/>
                <a:cs typeface="Segoe UI"/>
              </a:rPr>
              <a:t>  </a:t>
            </a:r>
            <a:r>
              <a:rPr sz="1000" b="1" spc="-25">
                <a:solidFill>
                  <a:srgbClr val="242424"/>
                </a:solidFill>
                <a:latin typeface="Segoe UI"/>
                <a:cs typeface="Segoe UI"/>
              </a:rPr>
              <a:t>1.8</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 pos="10949940" algn="l"/>
                <a:tab pos="11378565" algn="l"/>
                <a:tab pos="11807190" algn="l"/>
                <a:tab pos="12235815" algn="l"/>
                <a:tab pos="12664440" algn="l"/>
                <a:tab pos="13093065" algn="l"/>
                <a:tab pos="13521690" algn="l"/>
                <a:tab pos="13950315" algn="l"/>
              </a:tabLst>
            </a:pPr>
            <a:r>
              <a:rPr sz="1000" b="1" spc="-20">
                <a:solidFill>
                  <a:srgbClr val="242424"/>
                </a:solidFill>
                <a:latin typeface="Segoe UI"/>
                <a:cs typeface="Segoe UI"/>
              </a:rPr>
              <a:t>3.40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0.30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0.60</a:t>
            </a:r>
            <a:r>
              <a:rPr sz="1000" b="1">
                <a:solidFill>
                  <a:srgbClr val="242424"/>
                </a:solidFill>
                <a:latin typeface="Segoe UI"/>
                <a:cs typeface="Segoe UI"/>
              </a:rPr>
              <a:t>	</a:t>
            </a:r>
            <a:r>
              <a:rPr sz="1000" b="1" spc="-20">
                <a:solidFill>
                  <a:srgbClr val="242424"/>
                </a:solidFill>
                <a:latin typeface="Segoe UI"/>
                <a:cs typeface="Segoe UI"/>
              </a:rPr>
              <a:t>0.50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0.60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0.80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0.60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1.70</a:t>
            </a:r>
            <a:r>
              <a:rPr sz="1000" b="1" spc="405">
                <a:solidFill>
                  <a:srgbClr val="242424"/>
                </a:solidFill>
                <a:latin typeface="Segoe UI"/>
                <a:cs typeface="Segoe UI"/>
              </a:rPr>
              <a:t>  </a:t>
            </a:r>
            <a:r>
              <a:rPr sz="1000" b="1">
                <a:solidFill>
                  <a:srgbClr val="242424"/>
                </a:solidFill>
                <a:latin typeface="Segoe UI"/>
                <a:cs typeface="Segoe UI"/>
              </a:rPr>
              <a:t>0.90</a:t>
            </a:r>
            <a:r>
              <a:rPr sz="1000" b="1" spc="405">
                <a:solidFill>
                  <a:srgbClr val="242424"/>
                </a:solidFill>
                <a:latin typeface="Segoe UI"/>
                <a:cs typeface="Segoe UI"/>
              </a:rPr>
              <a:t>  </a:t>
            </a:r>
            <a:r>
              <a:rPr sz="1000" b="1">
                <a:solidFill>
                  <a:srgbClr val="242424"/>
                </a:solidFill>
                <a:latin typeface="Segoe UI"/>
                <a:cs typeface="Segoe UI"/>
              </a:rPr>
              <a:t>1.80</a:t>
            </a:r>
            <a:r>
              <a:rPr sz="1000" b="1" spc="150">
                <a:solidFill>
                  <a:srgbClr val="242424"/>
                </a:solidFill>
                <a:latin typeface="Segoe UI"/>
                <a:cs typeface="Segoe UI"/>
              </a:rPr>
              <a:t>  </a:t>
            </a:r>
            <a:r>
              <a:rPr sz="1000" b="1">
                <a:solidFill>
                  <a:srgbClr val="242424"/>
                </a:solidFill>
                <a:latin typeface="Segoe UI"/>
                <a:cs typeface="Segoe UI"/>
              </a:rPr>
              <a:t>1.20</a:t>
            </a:r>
            <a:r>
              <a:rPr sz="1000" b="1" spc="145">
                <a:solidFill>
                  <a:srgbClr val="242424"/>
                </a:solidFill>
                <a:latin typeface="Segoe UI"/>
                <a:cs typeface="Segoe UI"/>
              </a:rPr>
              <a:t>  </a:t>
            </a:r>
            <a:r>
              <a:rPr sz="1000" b="1">
                <a:solidFill>
                  <a:srgbClr val="242424"/>
                </a:solidFill>
                <a:latin typeface="Segoe UI"/>
                <a:cs typeface="Segoe UI"/>
              </a:rPr>
              <a:t>0.60</a:t>
            </a:r>
            <a:r>
              <a:rPr sz="1000" b="1" spc="409">
                <a:solidFill>
                  <a:srgbClr val="242424"/>
                </a:solidFill>
                <a:latin typeface="Segoe UI"/>
                <a:cs typeface="Segoe UI"/>
              </a:rPr>
              <a:t>  </a:t>
            </a:r>
            <a:r>
              <a:rPr sz="1000" b="1" spc="-25">
                <a:solidFill>
                  <a:srgbClr val="242424"/>
                </a:solidFill>
                <a:latin typeface="Segoe UI"/>
                <a:cs typeface="Segoe UI"/>
              </a:rPr>
              <a:t>1.4</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 pos="10949940" algn="l"/>
                <a:tab pos="11378565" algn="l"/>
                <a:tab pos="11807190" algn="l"/>
                <a:tab pos="12235815" algn="l"/>
                <a:tab pos="12664440" algn="l"/>
                <a:tab pos="13093065" algn="l"/>
                <a:tab pos="13521690" algn="l"/>
                <a:tab pos="13950315" algn="l"/>
              </a:tabLst>
            </a:pP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2.20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2.20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0.60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1.60</a:t>
            </a:r>
            <a:r>
              <a:rPr sz="1000" b="1" spc="405">
                <a:solidFill>
                  <a:srgbClr val="242424"/>
                </a:solidFill>
                <a:latin typeface="Segoe UI"/>
                <a:cs typeface="Segoe UI"/>
              </a:rPr>
              <a:t>  </a:t>
            </a:r>
            <a:r>
              <a:rPr sz="1000" b="1">
                <a:solidFill>
                  <a:srgbClr val="242424"/>
                </a:solidFill>
                <a:latin typeface="Segoe UI"/>
                <a:cs typeface="Segoe UI"/>
              </a:rPr>
              <a:t>1.60</a:t>
            </a:r>
            <a:r>
              <a:rPr sz="1000" b="1" spc="405">
                <a:solidFill>
                  <a:srgbClr val="242424"/>
                </a:solidFill>
                <a:latin typeface="Segoe UI"/>
                <a:cs typeface="Segoe UI"/>
              </a:rPr>
              <a:t>  </a:t>
            </a:r>
            <a:r>
              <a:rPr sz="1000" b="1">
                <a:solidFill>
                  <a:srgbClr val="242424"/>
                </a:solidFill>
                <a:latin typeface="Segoe UI"/>
                <a:cs typeface="Segoe UI"/>
              </a:rPr>
              <a:t>1.70</a:t>
            </a:r>
            <a:r>
              <a:rPr sz="1000" b="1" spc="150">
                <a:solidFill>
                  <a:srgbClr val="242424"/>
                </a:solidFill>
                <a:latin typeface="Segoe UI"/>
                <a:cs typeface="Segoe UI"/>
              </a:rPr>
              <a:t>  </a:t>
            </a:r>
            <a:r>
              <a:rPr sz="1000" b="1">
                <a:solidFill>
                  <a:srgbClr val="242424"/>
                </a:solidFill>
                <a:latin typeface="Segoe UI"/>
                <a:cs typeface="Segoe UI"/>
              </a:rPr>
              <a:t>1.00</a:t>
            </a:r>
            <a:r>
              <a:rPr sz="1000" b="1" spc="145">
                <a:solidFill>
                  <a:srgbClr val="242424"/>
                </a:solidFill>
                <a:latin typeface="Segoe UI"/>
                <a:cs typeface="Segoe UI"/>
              </a:rPr>
              <a:t>  </a:t>
            </a:r>
            <a:r>
              <a:rPr sz="1000" b="1">
                <a:solidFill>
                  <a:srgbClr val="242424"/>
                </a:solidFill>
                <a:latin typeface="Segoe UI"/>
                <a:cs typeface="Segoe UI"/>
              </a:rPr>
              <a:t>2.30</a:t>
            </a:r>
            <a:r>
              <a:rPr sz="1000" b="1" spc="409">
                <a:solidFill>
                  <a:srgbClr val="242424"/>
                </a:solidFill>
                <a:latin typeface="Segoe UI"/>
                <a:cs typeface="Segoe UI"/>
              </a:rPr>
              <a:t>  </a:t>
            </a:r>
            <a:r>
              <a:rPr sz="1000" b="1" spc="-25">
                <a:solidFill>
                  <a:srgbClr val="242424"/>
                </a:solidFill>
                <a:latin typeface="Segoe UI"/>
                <a:cs typeface="Segoe UI"/>
              </a:rPr>
              <a:t>1.0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 pos="10949940" algn="l"/>
                <a:tab pos="11378565" algn="l"/>
                <a:tab pos="11807190" algn="l"/>
                <a:tab pos="12235815" algn="l"/>
                <a:tab pos="12664440" algn="l"/>
                <a:tab pos="13093065" algn="l"/>
                <a:tab pos="13521690" algn="l"/>
                <a:tab pos="13950315" algn="l"/>
              </a:tabLst>
            </a:pPr>
            <a:r>
              <a:rPr sz="1000" b="1" spc="-20">
                <a:solidFill>
                  <a:srgbClr val="242424"/>
                </a:solidFill>
                <a:latin typeface="Segoe UI"/>
                <a:cs typeface="Segoe UI"/>
              </a:rPr>
              <a:t>3.90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0.60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0.60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1.40</a:t>
            </a:r>
            <a:r>
              <a:rPr sz="1000" b="1" spc="405">
                <a:solidFill>
                  <a:srgbClr val="242424"/>
                </a:solidFill>
                <a:latin typeface="Segoe UI"/>
                <a:cs typeface="Segoe UI"/>
              </a:rPr>
              <a:t>  </a:t>
            </a:r>
            <a:r>
              <a:rPr sz="1000" b="1">
                <a:solidFill>
                  <a:srgbClr val="242424"/>
                </a:solidFill>
                <a:latin typeface="Segoe UI"/>
                <a:cs typeface="Segoe UI"/>
              </a:rPr>
              <a:t>1.60</a:t>
            </a:r>
            <a:r>
              <a:rPr sz="1000" b="1" spc="405">
                <a:solidFill>
                  <a:srgbClr val="242424"/>
                </a:solidFill>
                <a:latin typeface="Segoe UI"/>
                <a:cs typeface="Segoe UI"/>
              </a:rPr>
              <a:t>  </a:t>
            </a:r>
            <a:r>
              <a:rPr sz="1000" b="1">
                <a:solidFill>
                  <a:srgbClr val="242424"/>
                </a:solidFill>
                <a:latin typeface="Segoe UI"/>
                <a:cs typeface="Segoe UI"/>
              </a:rPr>
              <a:t>0.40</a:t>
            </a:r>
            <a:r>
              <a:rPr sz="1000" b="1" spc="150">
                <a:solidFill>
                  <a:srgbClr val="242424"/>
                </a:solidFill>
                <a:latin typeface="Segoe UI"/>
                <a:cs typeface="Segoe UI"/>
              </a:rPr>
              <a:t>  </a:t>
            </a:r>
            <a:r>
              <a:rPr sz="1000" b="1">
                <a:solidFill>
                  <a:srgbClr val="242424"/>
                </a:solidFill>
                <a:latin typeface="Segoe UI"/>
                <a:cs typeface="Segoe UI"/>
              </a:rPr>
              <a:t>1.00</a:t>
            </a:r>
            <a:r>
              <a:rPr sz="1000" b="1" spc="145">
                <a:solidFill>
                  <a:srgbClr val="242424"/>
                </a:solidFill>
                <a:latin typeface="Segoe UI"/>
                <a:cs typeface="Segoe UI"/>
              </a:rPr>
              <a:t>  </a:t>
            </a:r>
            <a:r>
              <a:rPr sz="1000" b="1" spc="-20">
                <a:solidFill>
                  <a:srgbClr val="242424"/>
                </a:solidFill>
                <a:latin typeface="Segoe UI"/>
                <a:cs typeface="Segoe UI"/>
              </a:rPr>
              <a:t>1.20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 pos="10949940" algn="l"/>
                <a:tab pos="11378565" algn="l"/>
                <a:tab pos="11807190" algn="l"/>
                <a:tab pos="12235815" algn="l"/>
                <a:tab pos="12664440" algn="l"/>
                <a:tab pos="13093065" algn="l"/>
                <a:tab pos="13521690" algn="l"/>
                <a:tab pos="13950315" algn="l"/>
              </a:tabLst>
            </a:pPr>
            <a:r>
              <a:rPr sz="1000" b="1" spc="-20">
                <a:solidFill>
                  <a:srgbClr val="242424"/>
                </a:solidFill>
                <a:latin typeface="Segoe UI"/>
                <a:cs typeface="Segoe UI"/>
              </a:rPr>
              <a:t>2.70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2.70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2.40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1.60</a:t>
            </a:r>
            <a:r>
              <a:rPr sz="1000" b="1" spc="405">
                <a:solidFill>
                  <a:srgbClr val="242424"/>
                </a:solidFill>
                <a:latin typeface="Segoe UI"/>
                <a:cs typeface="Segoe UI"/>
              </a:rPr>
              <a:t>  </a:t>
            </a:r>
            <a:r>
              <a:rPr sz="1000" b="1">
                <a:solidFill>
                  <a:srgbClr val="242424"/>
                </a:solidFill>
                <a:latin typeface="Segoe UI"/>
                <a:cs typeface="Segoe UI"/>
              </a:rPr>
              <a:t>1.90</a:t>
            </a:r>
            <a:r>
              <a:rPr sz="1000" b="1" spc="405">
                <a:solidFill>
                  <a:srgbClr val="242424"/>
                </a:solidFill>
                <a:latin typeface="Segoe UI"/>
                <a:cs typeface="Segoe UI"/>
              </a:rPr>
              <a:t>  </a:t>
            </a:r>
            <a:r>
              <a:rPr sz="1000" b="1">
                <a:solidFill>
                  <a:srgbClr val="242424"/>
                </a:solidFill>
                <a:latin typeface="Segoe UI"/>
                <a:cs typeface="Segoe UI"/>
              </a:rPr>
              <a:t>1.30</a:t>
            </a:r>
            <a:r>
              <a:rPr sz="1000" b="1" spc="150">
                <a:solidFill>
                  <a:srgbClr val="242424"/>
                </a:solidFill>
                <a:latin typeface="Segoe UI"/>
                <a:cs typeface="Segoe UI"/>
              </a:rPr>
              <a:t>  </a:t>
            </a:r>
            <a:r>
              <a:rPr sz="1000" b="1" spc="-20">
                <a:solidFill>
                  <a:srgbClr val="242424"/>
                </a:solidFill>
                <a:latin typeface="Segoe UI"/>
                <a:cs typeface="Segoe UI"/>
              </a:rPr>
              <a:t>1.30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 pos="10949940" algn="l"/>
                <a:tab pos="11378565" algn="l"/>
                <a:tab pos="11807190" algn="l"/>
                <a:tab pos="12235815" algn="l"/>
                <a:tab pos="12664440" algn="l"/>
                <a:tab pos="13093065" algn="l"/>
                <a:tab pos="13521690" algn="l"/>
                <a:tab pos="13950315" algn="l"/>
              </a:tabLst>
            </a:pPr>
            <a:r>
              <a:rPr sz="1000" b="1" spc="-20">
                <a:solidFill>
                  <a:srgbClr val="242424"/>
                </a:solidFill>
                <a:latin typeface="Segoe UI"/>
                <a:cs typeface="Segoe UI"/>
              </a:rPr>
              <a:t>3.30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0.70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0.80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0.80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0.60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1.90</a:t>
            </a:r>
            <a:r>
              <a:rPr sz="1000" b="1" spc="405">
                <a:solidFill>
                  <a:srgbClr val="242424"/>
                </a:solidFill>
                <a:latin typeface="Segoe UI"/>
                <a:cs typeface="Segoe UI"/>
              </a:rPr>
              <a:t>  </a:t>
            </a:r>
            <a:r>
              <a:rPr sz="1000" b="1">
                <a:solidFill>
                  <a:srgbClr val="242424"/>
                </a:solidFill>
                <a:latin typeface="Segoe UI"/>
                <a:cs typeface="Segoe UI"/>
              </a:rPr>
              <a:t>1.70</a:t>
            </a:r>
            <a:r>
              <a:rPr sz="1000" b="1" spc="405">
                <a:solidFill>
                  <a:srgbClr val="242424"/>
                </a:solidFill>
                <a:latin typeface="Segoe UI"/>
                <a:cs typeface="Segoe UI"/>
              </a:rPr>
              <a:t>  </a:t>
            </a:r>
            <a:r>
              <a:rPr sz="1000" b="1" spc="-20">
                <a:solidFill>
                  <a:srgbClr val="242424"/>
                </a:solidFill>
                <a:latin typeface="Segoe UI"/>
                <a:cs typeface="Segoe UI"/>
              </a:rPr>
              <a:t>2.10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 pos="10949940" algn="l"/>
                <a:tab pos="11378565" algn="l"/>
                <a:tab pos="11807190" algn="l"/>
                <a:tab pos="12235815" algn="l"/>
                <a:tab pos="12664440" algn="l"/>
                <a:tab pos="13093065" algn="l"/>
                <a:tab pos="13521690" algn="l"/>
                <a:tab pos="13950315" algn="l"/>
              </a:tabLst>
            </a:pPr>
            <a:r>
              <a:rPr sz="1000" b="1" spc="-20">
                <a:solidFill>
                  <a:srgbClr val="242424"/>
                </a:solidFill>
                <a:latin typeface="Segoe UI"/>
                <a:cs typeface="Segoe UI"/>
              </a:rPr>
              <a:t>2.90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0.50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0.80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1.20</a:t>
            </a:r>
            <a:r>
              <a:rPr sz="1000" b="1" spc="405">
                <a:solidFill>
                  <a:srgbClr val="242424"/>
                </a:solidFill>
                <a:latin typeface="Segoe UI"/>
                <a:cs typeface="Segoe UI"/>
              </a:rPr>
              <a:t>  </a:t>
            </a:r>
            <a:r>
              <a:rPr sz="1000" b="1" spc="-20">
                <a:solidFill>
                  <a:srgbClr val="242424"/>
                </a:solidFill>
                <a:latin typeface="Segoe UI"/>
                <a:cs typeface="Segoe UI"/>
              </a:rPr>
              <a:t>1.00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 pos="10949940" algn="l"/>
                <a:tab pos="11378565" algn="l"/>
                <a:tab pos="11807190" algn="l"/>
                <a:tab pos="12235815" algn="l"/>
                <a:tab pos="12664440" algn="l"/>
                <a:tab pos="13093065" algn="l"/>
                <a:tab pos="13521690" algn="l"/>
                <a:tab pos="13950315" algn="l"/>
              </a:tabLst>
            </a:pPr>
            <a:r>
              <a:rPr sz="1000" b="1" spc="-20">
                <a:solidFill>
                  <a:srgbClr val="242424"/>
                </a:solidFill>
                <a:latin typeface="Segoe UI"/>
                <a:cs typeface="Segoe UI"/>
              </a:rPr>
              <a:t>2.60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2.40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1.00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 pos="10949940" algn="l"/>
                <a:tab pos="11378565" algn="l"/>
                <a:tab pos="11807190" algn="l"/>
                <a:tab pos="12235815" algn="l"/>
                <a:tab pos="12664440" algn="l"/>
                <a:tab pos="13093065" algn="l"/>
                <a:tab pos="13521690" algn="l"/>
              </a:tabLst>
            </a:pPr>
            <a:r>
              <a:rPr sz="1000" b="1" spc="-20">
                <a:solidFill>
                  <a:srgbClr val="242424"/>
                </a:solidFill>
                <a:latin typeface="Segoe UI"/>
                <a:cs typeface="Segoe UI"/>
              </a:rPr>
              <a:t>3.40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2.40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0.70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0.60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0.70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1.70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 pos="10949940" algn="l"/>
                <a:tab pos="11378565" algn="l"/>
                <a:tab pos="11807190" algn="l"/>
                <a:tab pos="12235815" algn="l"/>
                <a:tab pos="12664440" algn="l"/>
                <a:tab pos="13093065" algn="l"/>
              </a:tabLst>
            </a:pPr>
            <a:r>
              <a:rPr sz="1000" b="1" spc="-20">
                <a:solidFill>
                  <a:srgbClr val="242424"/>
                </a:solidFill>
                <a:latin typeface="Segoe UI"/>
                <a:cs typeface="Segoe UI"/>
              </a:rPr>
              <a:t>4.40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0.50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1.00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 pos="10949940" algn="l"/>
                <a:tab pos="11378565" algn="l"/>
                <a:tab pos="11807190" algn="l"/>
                <a:tab pos="12235815" algn="l"/>
                <a:tab pos="12664440" algn="l"/>
              </a:tabLst>
            </a:pPr>
            <a:r>
              <a:rPr sz="1000" b="1" spc="-20">
                <a:solidFill>
                  <a:srgbClr val="242424"/>
                </a:solidFill>
                <a:latin typeface="Segoe UI"/>
                <a:cs typeface="Segoe UI"/>
              </a:rPr>
              <a:t>3.40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0.70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0.70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1.10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 pos="10949940" algn="l"/>
                <a:tab pos="11378565" algn="l"/>
                <a:tab pos="11807190" algn="l"/>
                <a:tab pos="12235815" algn="l"/>
              </a:tabLst>
            </a:pPr>
            <a:r>
              <a:rPr sz="1000" b="1" spc="-20">
                <a:solidFill>
                  <a:srgbClr val="242424"/>
                </a:solidFill>
                <a:latin typeface="Segoe UI"/>
                <a:cs typeface="Segoe UI"/>
              </a:rPr>
              <a:t>3.70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0.80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2.70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0.70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1.40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 pos="10949940" algn="l"/>
                <a:tab pos="11378565" algn="l"/>
                <a:tab pos="11807190" algn="l"/>
              </a:tabLst>
            </a:pPr>
            <a:r>
              <a:rPr sz="1000" b="1" spc="-20">
                <a:solidFill>
                  <a:srgbClr val="242424"/>
                </a:solidFill>
                <a:latin typeface="Segoe UI"/>
                <a:cs typeface="Segoe UI"/>
              </a:rPr>
              <a:t>3.90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3.20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0.90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 pos="10949940" algn="l"/>
                <a:tab pos="11378565" algn="l"/>
              </a:tabLst>
            </a:pPr>
            <a:r>
              <a:rPr sz="1000" b="1" spc="-20">
                <a:solidFill>
                  <a:srgbClr val="242424"/>
                </a:solidFill>
                <a:latin typeface="Segoe UI"/>
                <a:cs typeface="Segoe UI"/>
              </a:rPr>
              <a:t>3.40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2.60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1.20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 pos="10949940" algn="l"/>
              </a:tabLst>
            </a:pPr>
            <a:r>
              <a:rPr sz="1000" b="1" spc="-20">
                <a:solidFill>
                  <a:srgbClr val="242424"/>
                </a:solidFill>
                <a:latin typeface="Segoe UI"/>
                <a:cs typeface="Segoe UI"/>
              </a:rPr>
              <a:t>3.70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2.20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1.00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0.90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 pos="10521315" algn="l"/>
              </a:tabLst>
            </a:pPr>
            <a:r>
              <a:rPr sz="1000" b="1" spc="-20">
                <a:solidFill>
                  <a:srgbClr val="242424"/>
                </a:solidFill>
                <a:latin typeface="Segoe UI"/>
                <a:cs typeface="Segoe UI"/>
              </a:rPr>
              <a:t>3.80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2.90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2.60</a:t>
            </a:r>
            <a:r>
              <a:rPr sz="1000" b="1">
                <a:solidFill>
                  <a:srgbClr val="242424"/>
                </a:solidFill>
                <a:latin typeface="Segoe UI"/>
                <a:cs typeface="Segoe UI"/>
              </a:rPr>
              <a:t>	</a:t>
            </a:r>
            <a:r>
              <a:rPr sz="1000" b="1" spc="-20">
                <a:solidFill>
                  <a:srgbClr val="242424"/>
                </a:solidFill>
                <a:latin typeface="Segoe UI"/>
                <a:cs typeface="Segoe UI"/>
              </a:rPr>
              <a:t>2.40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0.90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 pos="10092690" algn="l"/>
              </a:tabLst>
            </a:pPr>
            <a:r>
              <a:rPr sz="1000" b="1" spc="-20">
                <a:solidFill>
                  <a:srgbClr val="242424"/>
                </a:solidFill>
                <a:latin typeface="Segoe UI"/>
                <a:cs typeface="Segoe UI"/>
              </a:rPr>
              <a:t>3.50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2.90</a:t>
            </a:r>
            <a:r>
              <a:rPr sz="1000" b="1">
                <a:solidFill>
                  <a:srgbClr val="242424"/>
                </a:solidFill>
                <a:latin typeface="Segoe UI"/>
                <a:cs typeface="Segoe UI"/>
              </a:rPr>
              <a:t>	</a:t>
            </a:r>
            <a:r>
              <a:rPr sz="1000" b="1" spc="-20">
                <a:solidFill>
                  <a:srgbClr val="242424"/>
                </a:solidFill>
                <a:latin typeface="Segoe UI"/>
                <a:cs typeface="Segoe UI"/>
              </a:rPr>
              <a:t>2.80</a:t>
            </a:r>
            <a:r>
              <a:rPr sz="1000" b="1">
                <a:solidFill>
                  <a:srgbClr val="242424"/>
                </a:solidFill>
                <a:latin typeface="Segoe UI"/>
                <a:cs typeface="Segoe UI"/>
              </a:rPr>
              <a:t>	</a:t>
            </a:r>
            <a:r>
              <a:rPr sz="1000" b="1" spc="-20">
                <a:solidFill>
                  <a:srgbClr val="242424"/>
                </a:solidFill>
                <a:latin typeface="Segoe UI"/>
                <a:cs typeface="Segoe UI"/>
              </a:rPr>
              <a:t>2.40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2.40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2.80</a:t>
            </a:r>
            <a:r>
              <a:rPr sz="1000" b="1">
                <a:solidFill>
                  <a:srgbClr val="242424"/>
                </a:solidFill>
                <a:latin typeface="Segoe UI"/>
                <a:cs typeface="Segoe UI"/>
              </a:rPr>
              <a:t>	</a:t>
            </a:r>
            <a:r>
              <a:rPr sz="1000" b="1" spc="-20">
                <a:solidFill>
                  <a:srgbClr val="242424"/>
                </a:solidFill>
                <a:latin typeface="Segoe UI"/>
                <a:cs typeface="Segoe UI"/>
              </a:rPr>
              <a:t>1.30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 pos="9664065" algn="l"/>
              </a:tabLst>
            </a:pPr>
            <a:r>
              <a:rPr sz="1000" b="1" spc="-20">
                <a:solidFill>
                  <a:srgbClr val="242424"/>
                </a:solidFill>
                <a:latin typeface="Segoe UI"/>
                <a:cs typeface="Segoe UI"/>
              </a:rPr>
              <a:t>5.40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2.70</a:t>
            </a:r>
            <a:r>
              <a:rPr sz="1000" b="1">
                <a:solidFill>
                  <a:srgbClr val="242424"/>
                </a:solidFill>
                <a:latin typeface="Segoe UI"/>
                <a:cs typeface="Segoe UI"/>
              </a:rPr>
              <a:t>	</a:t>
            </a:r>
            <a:r>
              <a:rPr sz="1000" b="1" spc="-20">
                <a:solidFill>
                  <a:srgbClr val="242424"/>
                </a:solidFill>
                <a:latin typeface="Segoe UI"/>
                <a:cs typeface="Segoe UI"/>
              </a:rPr>
              <a:t>2.60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3.00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2.70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2.40</a:t>
            </a:r>
            <a:r>
              <a:rPr sz="1000" b="1">
                <a:solidFill>
                  <a:srgbClr val="242424"/>
                </a:solidFill>
                <a:latin typeface="Segoe UI"/>
                <a:cs typeface="Segoe UI"/>
              </a:rPr>
              <a:t>	</a:t>
            </a:r>
            <a:r>
              <a:rPr sz="1000" b="1" spc="-20">
                <a:solidFill>
                  <a:srgbClr val="242424"/>
                </a:solidFill>
                <a:latin typeface="Segoe UI"/>
                <a:cs typeface="Segoe UI"/>
              </a:rPr>
              <a:t>1.20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 pos="9235440" algn="l"/>
              </a:tabLst>
            </a:pPr>
            <a:r>
              <a:rPr sz="1000" b="1" spc="-20">
                <a:solidFill>
                  <a:srgbClr val="242424"/>
                </a:solidFill>
                <a:latin typeface="Segoe UI"/>
                <a:cs typeface="Segoe UI"/>
              </a:rPr>
              <a:t>3.80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3.00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2.60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2.20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1.10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 pos="8806815" algn="l"/>
              </a:tabLst>
            </a:pPr>
            <a:r>
              <a:rPr sz="1000" b="1" spc="-20">
                <a:solidFill>
                  <a:srgbClr val="242424"/>
                </a:solidFill>
                <a:latin typeface="Segoe UI"/>
                <a:cs typeface="Segoe UI"/>
              </a:rPr>
              <a:t>3.80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2.70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2.80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1.50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 pos="8378190" algn="l"/>
              </a:tabLst>
            </a:pPr>
            <a:r>
              <a:rPr sz="1000" b="1" spc="-20">
                <a:solidFill>
                  <a:srgbClr val="242424"/>
                </a:solidFill>
                <a:latin typeface="Segoe UI"/>
                <a:cs typeface="Segoe UI"/>
              </a:rPr>
              <a:t>3.70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2.40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2.20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2.40</a:t>
            </a:r>
            <a:r>
              <a:rPr sz="1000" b="1">
                <a:solidFill>
                  <a:srgbClr val="242424"/>
                </a:solidFill>
                <a:latin typeface="Segoe UI"/>
                <a:cs typeface="Segoe UI"/>
              </a:rPr>
              <a:t>	</a:t>
            </a:r>
            <a:r>
              <a:rPr sz="1000" b="1" spc="-20">
                <a:solidFill>
                  <a:srgbClr val="242424"/>
                </a:solidFill>
                <a:latin typeface="Segoe UI"/>
                <a:cs typeface="Segoe UI"/>
              </a:rPr>
              <a:t>2.20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2.20</a:t>
            </a:r>
            <a:r>
              <a:rPr sz="1000" b="1">
                <a:solidFill>
                  <a:srgbClr val="242424"/>
                </a:solidFill>
                <a:latin typeface="Segoe UI"/>
                <a:cs typeface="Segoe UI"/>
              </a:rPr>
              <a:t>	</a:t>
            </a:r>
            <a:r>
              <a:rPr sz="1000" b="1" spc="-20">
                <a:solidFill>
                  <a:srgbClr val="242424"/>
                </a:solidFill>
                <a:latin typeface="Segoe UI"/>
                <a:cs typeface="Segoe UI"/>
              </a:rPr>
              <a:t>1.10</a:t>
            </a:r>
            <a:r>
              <a:rPr sz="1000" b="1">
                <a:solidFill>
                  <a:srgbClr val="242424"/>
                </a:solidFill>
                <a:latin typeface="Segoe UI"/>
                <a:cs typeface="Segoe UI"/>
              </a:rPr>
              <a:t>	</a:t>
            </a:r>
            <a:r>
              <a:rPr sz="1000" b="1" spc="-20">
                <a:solidFill>
                  <a:srgbClr val="242424"/>
                </a:solidFill>
                <a:latin typeface="Segoe UI"/>
                <a:cs typeface="Segoe UI"/>
              </a:rPr>
              <a:t>2.70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1.60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 pos="7949565" algn="l"/>
              </a:tabLst>
            </a:pPr>
            <a:r>
              <a:rPr sz="1000" b="1" spc="-20">
                <a:solidFill>
                  <a:srgbClr val="242424"/>
                </a:solidFill>
                <a:latin typeface="Segoe UI"/>
                <a:cs typeface="Segoe UI"/>
              </a:rPr>
              <a:t>4.10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2.60</a:t>
            </a:r>
            <a:r>
              <a:rPr sz="1000" b="1">
                <a:solidFill>
                  <a:srgbClr val="242424"/>
                </a:solidFill>
                <a:latin typeface="Segoe UI"/>
                <a:cs typeface="Segoe UI"/>
              </a:rPr>
              <a:t>	</a:t>
            </a:r>
            <a:r>
              <a:rPr sz="1000" b="1" spc="-20">
                <a:solidFill>
                  <a:srgbClr val="242424"/>
                </a:solidFill>
                <a:latin typeface="Segoe UI"/>
                <a:cs typeface="Segoe UI"/>
              </a:rPr>
              <a:t>2.90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1.20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2.20</a:t>
            </a:r>
            <a:r>
              <a:rPr sz="1000" b="1">
                <a:solidFill>
                  <a:srgbClr val="242424"/>
                </a:solidFill>
                <a:latin typeface="Segoe UI"/>
                <a:cs typeface="Segoe UI"/>
              </a:rPr>
              <a:t>	</a:t>
            </a:r>
            <a:r>
              <a:rPr sz="1000" b="1" spc="-20">
                <a:solidFill>
                  <a:srgbClr val="242424"/>
                </a:solidFill>
                <a:latin typeface="Segoe UI"/>
                <a:cs typeface="Segoe UI"/>
              </a:rPr>
              <a:t>1.50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3.10</a:t>
            </a:r>
            <a:r>
              <a:rPr sz="1000" b="1">
                <a:solidFill>
                  <a:srgbClr val="242424"/>
                </a:solidFill>
                <a:latin typeface="Segoe UI"/>
                <a:cs typeface="Segoe UI"/>
              </a:rPr>
              <a:t>	</a:t>
            </a:r>
            <a:r>
              <a:rPr sz="1000" b="1" spc="-20">
                <a:solidFill>
                  <a:srgbClr val="242424"/>
                </a:solidFill>
                <a:latin typeface="Segoe UI"/>
                <a:cs typeface="Segoe UI"/>
              </a:rPr>
              <a:t>2.20</a:t>
            </a:r>
            <a:r>
              <a:rPr sz="1000" b="1">
                <a:solidFill>
                  <a:srgbClr val="242424"/>
                </a:solidFill>
                <a:latin typeface="Segoe UI"/>
                <a:cs typeface="Segoe UI"/>
              </a:rPr>
              <a:t>	</a:t>
            </a:r>
            <a:r>
              <a:rPr sz="1000" b="1" spc="-20">
                <a:solidFill>
                  <a:srgbClr val="242424"/>
                </a:solidFill>
                <a:latin typeface="Segoe UI"/>
                <a:cs typeface="Segoe UI"/>
              </a:rPr>
              <a:t>2.00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 pos="7520940" algn="l"/>
              </a:tabLst>
            </a:pPr>
            <a:r>
              <a:rPr sz="1000" b="1" spc="-20">
                <a:solidFill>
                  <a:srgbClr val="242424"/>
                </a:solidFill>
                <a:latin typeface="Segoe UI"/>
                <a:cs typeface="Segoe UI"/>
              </a:rPr>
              <a:t>3.20</a:t>
            </a:r>
            <a:r>
              <a:rPr sz="1000" b="1">
                <a:solidFill>
                  <a:srgbClr val="242424"/>
                </a:solidFill>
                <a:latin typeface="Segoe UI"/>
                <a:cs typeface="Segoe UI"/>
              </a:rPr>
              <a:t>	</a:t>
            </a:r>
            <a:r>
              <a:rPr sz="1000" b="1" spc="-20">
                <a:solidFill>
                  <a:srgbClr val="242424"/>
                </a:solidFill>
                <a:latin typeface="Segoe UI"/>
                <a:cs typeface="Segoe UI"/>
              </a:rPr>
              <a:t>2.60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2.20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1.60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2.20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3.10</a:t>
            </a:r>
            <a:r>
              <a:rPr sz="1000" b="1">
                <a:solidFill>
                  <a:srgbClr val="242424"/>
                </a:solidFill>
                <a:latin typeface="Segoe UI"/>
                <a:cs typeface="Segoe UI"/>
              </a:rPr>
              <a:t>	</a:t>
            </a:r>
            <a:r>
              <a:rPr sz="1000" b="1" spc="-20">
                <a:solidFill>
                  <a:srgbClr val="242424"/>
                </a:solidFill>
                <a:latin typeface="Segoe UI"/>
                <a:cs typeface="Segoe UI"/>
              </a:rPr>
              <a:t>0.90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1.70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 pos="7092315" algn="l"/>
              </a:tabLst>
            </a:pPr>
            <a:r>
              <a:rPr sz="1000" b="1" spc="-20">
                <a:solidFill>
                  <a:srgbClr val="242424"/>
                </a:solidFill>
                <a:latin typeface="Segoe UI"/>
                <a:cs typeface="Segoe UI"/>
              </a:rPr>
              <a:t>4.70</a:t>
            </a:r>
            <a:r>
              <a:rPr sz="1000" b="1">
                <a:solidFill>
                  <a:srgbClr val="242424"/>
                </a:solidFill>
                <a:latin typeface="Segoe UI"/>
                <a:cs typeface="Segoe UI"/>
              </a:rPr>
              <a:t>	</a:t>
            </a:r>
            <a:r>
              <a:rPr sz="1000" b="1" spc="-20">
                <a:solidFill>
                  <a:srgbClr val="242424"/>
                </a:solidFill>
                <a:latin typeface="Segoe UI"/>
                <a:cs typeface="Segoe UI"/>
              </a:rPr>
              <a:t>2.20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2.80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2.40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2.80</a:t>
            </a:r>
            <a:r>
              <a:rPr sz="1000" b="1">
                <a:solidFill>
                  <a:srgbClr val="242424"/>
                </a:solidFill>
                <a:latin typeface="Segoe UI"/>
                <a:cs typeface="Segoe UI"/>
              </a:rPr>
              <a:t>	</a:t>
            </a:r>
            <a:r>
              <a:rPr sz="1000" b="1" spc="-20">
                <a:solidFill>
                  <a:srgbClr val="242424"/>
                </a:solidFill>
                <a:latin typeface="Segoe UI"/>
                <a:cs typeface="Segoe UI"/>
              </a:rPr>
              <a:t>1.50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 pos="6663690" algn="l"/>
              </a:tabLst>
            </a:pPr>
            <a:r>
              <a:rPr sz="1000" b="1" spc="-20">
                <a:solidFill>
                  <a:srgbClr val="242424"/>
                </a:solidFill>
                <a:latin typeface="Segoe UI"/>
                <a:cs typeface="Segoe UI"/>
              </a:rPr>
              <a:t>3.70</a:t>
            </a:r>
            <a:r>
              <a:rPr sz="1000" b="1">
                <a:solidFill>
                  <a:srgbClr val="242424"/>
                </a:solidFill>
                <a:latin typeface="Segoe UI"/>
                <a:cs typeface="Segoe UI"/>
              </a:rPr>
              <a:t>	</a:t>
            </a:r>
            <a:r>
              <a:rPr sz="1000" b="1" spc="-20">
                <a:solidFill>
                  <a:srgbClr val="242424"/>
                </a:solidFill>
                <a:latin typeface="Segoe UI"/>
                <a:cs typeface="Segoe UI"/>
              </a:rPr>
              <a:t>1.70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2.00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2.60</a:t>
            </a:r>
            <a:r>
              <a:rPr sz="1000" b="1">
                <a:solidFill>
                  <a:srgbClr val="242424"/>
                </a:solidFill>
                <a:latin typeface="Segoe UI"/>
                <a:cs typeface="Segoe UI"/>
              </a:rPr>
              <a:t>	</a:t>
            </a:r>
            <a:r>
              <a:rPr sz="1000" b="1" spc="-20">
                <a:solidFill>
                  <a:srgbClr val="242424"/>
                </a:solidFill>
                <a:latin typeface="Segoe UI"/>
                <a:cs typeface="Segoe UI"/>
              </a:rPr>
              <a:t>2.70</a:t>
            </a:r>
            <a:r>
              <a:rPr sz="1000" b="1">
                <a:solidFill>
                  <a:srgbClr val="242424"/>
                </a:solidFill>
                <a:latin typeface="Segoe UI"/>
                <a:cs typeface="Segoe UI"/>
              </a:rPr>
              <a:t>	</a:t>
            </a:r>
            <a:r>
              <a:rPr sz="1000" b="1" spc="-20">
                <a:solidFill>
                  <a:srgbClr val="242424"/>
                </a:solidFill>
                <a:latin typeface="Segoe UI"/>
                <a:cs typeface="Segoe UI"/>
              </a:rPr>
              <a:t>1.40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1.80</a:t>
            </a:r>
            <a:r>
              <a:rPr sz="1000" b="1">
                <a:solidFill>
                  <a:srgbClr val="242424"/>
                </a:solidFill>
                <a:latin typeface="Segoe UI"/>
                <a:cs typeface="Segoe UI"/>
              </a:rPr>
              <a:t>	</a:t>
            </a:r>
            <a:r>
              <a:rPr sz="1000" b="1" spc="-20">
                <a:solidFill>
                  <a:srgbClr val="242424"/>
                </a:solidFill>
                <a:latin typeface="Segoe UI"/>
                <a:cs typeface="Segoe UI"/>
              </a:rPr>
              <a:t>2.40</a:t>
            </a:r>
            <a:r>
              <a:rPr sz="1000" b="1">
                <a:solidFill>
                  <a:srgbClr val="242424"/>
                </a:solidFill>
                <a:latin typeface="Segoe UI"/>
                <a:cs typeface="Segoe UI"/>
              </a:rPr>
              <a:t>	</a:t>
            </a:r>
            <a:r>
              <a:rPr sz="1000" b="1" spc="-20">
                <a:solidFill>
                  <a:srgbClr val="242424"/>
                </a:solidFill>
                <a:latin typeface="Segoe UI"/>
                <a:cs typeface="Segoe UI"/>
              </a:rPr>
              <a:t>3.10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2.80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1.30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 pos="6235065" algn="l"/>
              </a:tabLst>
            </a:pPr>
            <a:r>
              <a:rPr sz="1000" b="1" spc="-20">
                <a:solidFill>
                  <a:srgbClr val="242424"/>
                </a:solidFill>
                <a:latin typeface="Segoe UI"/>
                <a:cs typeface="Segoe UI"/>
              </a:rPr>
              <a:t>4.20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2.70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1.30</a:t>
            </a:r>
            <a:r>
              <a:rPr sz="1000" b="1">
                <a:solidFill>
                  <a:srgbClr val="242424"/>
                </a:solidFill>
                <a:latin typeface="Segoe UI"/>
                <a:cs typeface="Segoe UI"/>
              </a:rPr>
              <a:t>	</a:t>
            </a:r>
            <a:r>
              <a:rPr sz="1000" b="1" spc="-20">
                <a:solidFill>
                  <a:srgbClr val="242424"/>
                </a:solidFill>
                <a:latin typeface="Segoe UI"/>
                <a:cs typeface="Segoe UI"/>
              </a:rPr>
              <a:t>2.70</a:t>
            </a:r>
            <a:r>
              <a:rPr sz="1000" b="1">
                <a:solidFill>
                  <a:srgbClr val="242424"/>
                </a:solidFill>
                <a:latin typeface="Segoe UI"/>
                <a:cs typeface="Segoe UI"/>
              </a:rPr>
              <a:t>	</a:t>
            </a:r>
            <a:r>
              <a:rPr sz="1000" b="1" spc="-20">
                <a:solidFill>
                  <a:srgbClr val="242424"/>
                </a:solidFill>
                <a:latin typeface="Segoe UI"/>
                <a:cs typeface="Segoe UI"/>
              </a:rPr>
              <a:t>2.40</a:t>
            </a:r>
            <a:r>
              <a:rPr sz="1000" b="1">
                <a:solidFill>
                  <a:srgbClr val="242424"/>
                </a:solidFill>
                <a:latin typeface="Segoe UI"/>
                <a:cs typeface="Segoe UI"/>
              </a:rPr>
              <a:t>	</a:t>
            </a:r>
            <a:r>
              <a:rPr sz="1000" b="1" spc="-20">
                <a:solidFill>
                  <a:srgbClr val="242424"/>
                </a:solidFill>
                <a:latin typeface="Segoe UI"/>
                <a:cs typeface="Segoe UI"/>
              </a:rPr>
              <a:t>2.20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2.40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1.50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 pos="5806440" algn="l"/>
              </a:tabLst>
            </a:pPr>
            <a:r>
              <a:rPr sz="1000" b="1" spc="-20">
                <a:solidFill>
                  <a:srgbClr val="242424"/>
                </a:solidFill>
                <a:latin typeface="Segoe UI"/>
                <a:cs typeface="Segoe UI"/>
              </a:rPr>
              <a:t>5.00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3.20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2.70</a:t>
            </a:r>
            <a:r>
              <a:rPr sz="1000" b="1">
                <a:solidFill>
                  <a:srgbClr val="242424"/>
                </a:solidFill>
                <a:latin typeface="Segoe UI"/>
                <a:cs typeface="Segoe UI"/>
              </a:rPr>
              <a:t>	</a:t>
            </a:r>
            <a:r>
              <a:rPr sz="1000" b="1" spc="-20">
                <a:solidFill>
                  <a:srgbClr val="242424"/>
                </a:solidFill>
                <a:latin typeface="Segoe UI"/>
                <a:cs typeface="Segoe UI"/>
              </a:rPr>
              <a:t>3.00</a:t>
            </a:r>
            <a:r>
              <a:rPr sz="1000" b="1">
                <a:solidFill>
                  <a:srgbClr val="242424"/>
                </a:solidFill>
                <a:latin typeface="Segoe UI"/>
                <a:cs typeface="Segoe UI"/>
              </a:rPr>
              <a:t>	</a:t>
            </a:r>
            <a:r>
              <a:rPr sz="1000" b="1" spc="-20">
                <a:solidFill>
                  <a:srgbClr val="242424"/>
                </a:solidFill>
                <a:latin typeface="Segoe UI"/>
                <a:cs typeface="Segoe UI"/>
              </a:rPr>
              <a:t>2.40</a:t>
            </a:r>
            <a:r>
              <a:rPr sz="1000" b="1">
                <a:solidFill>
                  <a:srgbClr val="242424"/>
                </a:solidFill>
                <a:latin typeface="Segoe UI"/>
                <a:cs typeface="Segoe UI"/>
              </a:rPr>
              <a:t>	</a:t>
            </a:r>
            <a:r>
              <a:rPr sz="1000" b="1" spc="-20">
                <a:solidFill>
                  <a:srgbClr val="242424"/>
                </a:solidFill>
                <a:latin typeface="Segoe UI"/>
                <a:cs typeface="Segoe UI"/>
              </a:rPr>
              <a:t>2.90</a:t>
            </a:r>
            <a:r>
              <a:rPr sz="1000" b="1">
                <a:solidFill>
                  <a:srgbClr val="242424"/>
                </a:solidFill>
                <a:latin typeface="Segoe UI"/>
                <a:cs typeface="Segoe UI"/>
              </a:rPr>
              <a:t>	</a:t>
            </a:r>
            <a:r>
              <a:rPr sz="1000" b="1" spc="-20">
                <a:solidFill>
                  <a:srgbClr val="242424"/>
                </a:solidFill>
                <a:latin typeface="Segoe UI"/>
                <a:cs typeface="Segoe UI"/>
              </a:rPr>
              <a:t>2.10</a:t>
            </a:r>
            <a:r>
              <a:rPr sz="1000" b="1">
                <a:solidFill>
                  <a:srgbClr val="242424"/>
                </a:solidFill>
                <a:latin typeface="Segoe UI"/>
                <a:cs typeface="Segoe UI"/>
              </a:rPr>
              <a:t>	</a:t>
            </a:r>
            <a:r>
              <a:rPr sz="1000" b="1" spc="-20">
                <a:solidFill>
                  <a:srgbClr val="242424"/>
                </a:solidFill>
                <a:latin typeface="Segoe UI"/>
                <a:cs typeface="Segoe UI"/>
              </a:rPr>
              <a:t>3.20</a:t>
            </a:r>
            <a:r>
              <a:rPr sz="1000" b="1">
                <a:solidFill>
                  <a:srgbClr val="242424"/>
                </a:solidFill>
                <a:latin typeface="Segoe UI"/>
                <a:cs typeface="Segoe UI"/>
              </a:rPr>
              <a:t>	</a:t>
            </a:r>
            <a:r>
              <a:rPr sz="1000" b="1" spc="-20">
                <a:solidFill>
                  <a:srgbClr val="242424"/>
                </a:solidFill>
                <a:latin typeface="Segoe UI"/>
                <a:cs typeface="Segoe UI"/>
              </a:rPr>
              <a:t>2.90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2.80</a:t>
            </a:r>
            <a:r>
              <a:rPr sz="1000" b="1">
                <a:solidFill>
                  <a:srgbClr val="242424"/>
                </a:solidFill>
                <a:latin typeface="Segoe UI"/>
                <a:cs typeface="Segoe UI"/>
              </a:rPr>
              <a:t>	</a:t>
            </a:r>
            <a:r>
              <a:rPr sz="1000" b="1" spc="-20">
                <a:solidFill>
                  <a:srgbClr val="242424"/>
                </a:solidFill>
                <a:latin typeface="Segoe UI"/>
                <a:cs typeface="Segoe UI"/>
              </a:rPr>
              <a:t>2.40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 pos="5377815" algn="l"/>
              </a:tabLst>
            </a:pPr>
            <a:r>
              <a:rPr sz="1000" b="1" spc="-20">
                <a:solidFill>
                  <a:srgbClr val="242424"/>
                </a:solidFill>
                <a:latin typeface="Segoe UI"/>
                <a:cs typeface="Segoe UI"/>
              </a:rPr>
              <a:t>4.10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2.20</a:t>
            </a:r>
            <a:r>
              <a:rPr sz="1000" b="1">
                <a:solidFill>
                  <a:srgbClr val="242424"/>
                </a:solidFill>
                <a:latin typeface="Segoe UI"/>
                <a:cs typeface="Segoe UI"/>
              </a:rPr>
              <a:t>	</a:t>
            </a:r>
            <a:r>
              <a:rPr sz="1000" b="1" spc="-20">
                <a:solidFill>
                  <a:srgbClr val="242424"/>
                </a:solidFill>
                <a:latin typeface="Segoe UI"/>
                <a:cs typeface="Segoe UI"/>
              </a:rPr>
              <a:t>1.90</a:t>
            </a:r>
            <a:r>
              <a:rPr sz="1000" b="1">
                <a:solidFill>
                  <a:srgbClr val="242424"/>
                </a:solidFill>
                <a:latin typeface="Segoe UI"/>
                <a:cs typeface="Segoe UI"/>
              </a:rPr>
              <a:t>	</a:t>
            </a:r>
            <a:r>
              <a:rPr sz="1000" b="1" spc="-20">
                <a:solidFill>
                  <a:srgbClr val="242424"/>
                </a:solidFill>
                <a:latin typeface="Segoe UI"/>
                <a:cs typeface="Segoe UI"/>
              </a:rPr>
              <a:t>3.30</a:t>
            </a:r>
            <a:r>
              <a:rPr sz="1000" b="1">
                <a:solidFill>
                  <a:srgbClr val="242424"/>
                </a:solidFill>
                <a:latin typeface="Segoe UI"/>
                <a:cs typeface="Segoe UI"/>
              </a:rPr>
              <a:t>	</a:t>
            </a:r>
            <a:r>
              <a:rPr sz="1000" b="1" spc="-20">
                <a:solidFill>
                  <a:srgbClr val="242424"/>
                </a:solidFill>
                <a:latin typeface="Segoe UI"/>
                <a:cs typeface="Segoe UI"/>
              </a:rPr>
              <a:t>2.90</a:t>
            </a:r>
            <a:r>
              <a:rPr sz="1000" b="1">
                <a:solidFill>
                  <a:srgbClr val="242424"/>
                </a:solidFill>
                <a:latin typeface="Segoe UI"/>
                <a:cs typeface="Segoe UI"/>
              </a:rPr>
              <a:t>	</a:t>
            </a:r>
            <a:r>
              <a:rPr sz="1000" b="1" spc="-20">
                <a:solidFill>
                  <a:srgbClr val="242424"/>
                </a:solidFill>
                <a:latin typeface="Segoe UI"/>
                <a:cs typeface="Segoe UI"/>
              </a:rPr>
              <a:t>3.00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3.30</a:t>
            </a:r>
            <a:r>
              <a:rPr sz="1000" b="1">
                <a:solidFill>
                  <a:srgbClr val="242424"/>
                </a:solidFill>
                <a:latin typeface="Segoe UI"/>
                <a:cs typeface="Segoe UI"/>
              </a:rPr>
              <a:t>	</a:t>
            </a:r>
            <a:r>
              <a:rPr sz="1000" b="1" spc="-20">
                <a:solidFill>
                  <a:srgbClr val="242424"/>
                </a:solidFill>
                <a:latin typeface="Segoe UI"/>
                <a:cs typeface="Segoe UI"/>
              </a:rPr>
              <a:t>2.80</a:t>
            </a:r>
            <a:r>
              <a:rPr sz="1000" b="1">
                <a:solidFill>
                  <a:srgbClr val="242424"/>
                </a:solidFill>
                <a:latin typeface="Segoe UI"/>
                <a:cs typeface="Segoe UI"/>
              </a:rPr>
              <a:t>	</a:t>
            </a:r>
            <a:r>
              <a:rPr sz="1000" b="1" spc="-20">
                <a:solidFill>
                  <a:srgbClr val="242424"/>
                </a:solidFill>
                <a:latin typeface="Segoe UI"/>
                <a:cs typeface="Segoe UI"/>
              </a:rPr>
              <a:t>3.00</a:t>
            </a:r>
            <a:r>
              <a:rPr sz="1000" b="1">
                <a:solidFill>
                  <a:srgbClr val="242424"/>
                </a:solidFill>
                <a:latin typeface="Segoe UI"/>
                <a:cs typeface="Segoe UI"/>
              </a:rPr>
              <a:t>	</a:t>
            </a:r>
            <a:r>
              <a:rPr sz="1000" b="1" spc="-20">
                <a:solidFill>
                  <a:srgbClr val="242424"/>
                </a:solidFill>
                <a:latin typeface="Segoe UI"/>
                <a:cs typeface="Segoe UI"/>
              </a:rPr>
              <a:t>1.70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 pos="4949190" algn="l"/>
              </a:tabLst>
            </a:pPr>
            <a:r>
              <a:rPr sz="1000" b="1" spc="-20">
                <a:solidFill>
                  <a:srgbClr val="242424"/>
                </a:solidFill>
                <a:latin typeface="Segoe UI"/>
                <a:cs typeface="Segoe UI"/>
              </a:rPr>
              <a:t>5.40</a:t>
            </a:r>
            <a:r>
              <a:rPr sz="1000" b="1">
                <a:solidFill>
                  <a:srgbClr val="242424"/>
                </a:solidFill>
                <a:latin typeface="Segoe UI"/>
                <a:cs typeface="Segoe UI"/>
              </a:rPr>
              <a:t>	</a:t>
            </a:r>
            <a:r>
              <a:rPr sz="1000" b="1" spc="-20">
                <a:solidFill>
                  <a:srgbClr val="242424"/>
                </a:solidFill>
                <a:latin typeface="Segoe UI"/>
                <a:cs typeface="Segoe UI"/>
              </a:rPr>
              <a:t>2.60</a:t>
            </a:r>
            <a:r>
              <a:rPr sz="1000" b="1">
                <a:solidFill>
                  <a:srgbClr val="242424"/>
                </a:solidFill>
                <a:latin typeface="Segoe UI"/>
                <a:cs typeface="Segoe UI"/>
              </a:rPr>
              <a:t>	</a:t>
            </a:r>
            <a:r>
              <a:rPr sz="1000" b="1" spc="-20">
                <a:solidFill>
                  <a:srgbClr val="242424"/>
                </a:solidFill>
                <a:latin typeface="Segoe UI"/>
                <a:cs typeface="Segoe UI"/>
              </a:rPr>
              <a:t>2.80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3.10</a:t>
            </a:r>
            <a:r>
              <a:rPr sz="1000" b="1">
                <a:solidFill>
                  <a:srgbClr val="242424"/>
                </a:solidFill>
                <a:latin typeface="Segoe UI"/>
                <a:cs typeface="Segoe UI"/>
              </a:rPr>
              <a:t>	</a:t>
            </a:r>
            <a:r>
              <a:rPr sz="1000" b="1" spc="-20">
                <a:solidFill>
                  <a:srgbClr val="242424"/>
                </a:solidFill>
                <a:latin typeface="Segoe UI"/>
                <a:cs typeface="Segoe UI"/>
              </a:rPr>
              <a:t>3.50</a:t>
            </a:r>
            <a:r>
              <a:rPr sz="1000" b="1">
                <a:solidFill>
                  <a:srgbClr val="242424"/>
                </a:solidFill>
                <a:latin typeface="Segoe UI"/>
                <a:cs typeface="Segoe UI"/>
              </a:rPr>
              <a:t>	</a:t>
            </a:r>
            <a:r>
              <a:rPr sz="1000" b="1" spc="-20">
                <a:solidFill>
                  <a:srgbClr val="242424"/>
                </a:solidFill>
                <a:latin typeface="Segoe UI"/>
                <a:cs typeface="Segoe UI"/>
              </a:rPr>
              <a:t>2.30</a:t>
            </a:r>
            <a:r>
              <a:rPr sz="1000" b="1">
                <a:solidFill>
                  <a:srgbClr val="242424"/>
                </a:solidFill>
                <a:latin typeface="Segoe UI"/>
                <a:cs typeface="Segoe UI"/>
              </a:rPr>
              <a:t>	</a:t>
            </a:r>
            <a:r>
              <a:rPr sz="1000" b="1" spc="-20">
                <a:solidFill>
                  <a:srgbClr val="242424"/>
                </a:solidFill>
                <a:latin typeface="Segoe UI"/>
                <a:cs typeface="Segoe UI"/>
              </a:rPr>
              <a:t>3.40</a:t>
            </a:r>
            <a:r>
              <a:rPr sz="1000" b="1">
                <a:solidFill>
                  <a:srgbClr val="242424"/>
                </a:solidFill>
                <a:latin typeface="Segoe UI"/>
                <a:cs typeface="Segoe UI"/>
              </a:rPr>
              <a:t>	</a:t>
            </a:r>
            <a:r>
              <a:rPr sz="1000" b="1" spc="-20">
                <a:solidFill>
                  <a:srgbClr val="242424"/>
                </a:solidFill>
                <a:latin typeface="Segoe UI"/>
                <a:cs typeface="Segoe UI"/>
              </a:rPr>
              <a:t>4.20</a:t>
            </a:r>
            <a:r>
              <a:rPr sz="1000" b="1">
                <a:solidFill>
                  <a:srgbClr val="242424"/>
                </a:solidFill>
                <a:latin typeface="Segoe UI"/>
                <a:cs typeface="Segoe UI"/>
              </a:rPr>
              <a:t>	</a:t>
            </a:r>
            <a:r>
              <a:rPr sz="1000" b="1" spc="-20">
                <a:solidFill>
                  <a:srgbClr val="242424"/>
                </a:solidFill>
                <a:latin typeface="Segoe UI"/>
                <a:cs typeface="Segoe UI"/>
              </a:rPr>
              <a:t>2.90</a:t>
            </a:r>
            <a:r>
              <a:rPr sz="1000" b="1">
                <a:solidFill>
                  <a:srgbClr val="242424"/>
                </a:solidFill>
                <a:latin typeface="Segoe UI"/>
                <a:cs typeface="Segoe UI"/>
              </a:rPr>
              <a:t>	</a:t>
            </a:r>
            <a:r>
              <a:rPr sz="1000" b="1" spc="-20">
                <a:solidFill>
                  <a:srgbClr val="242424"/>
                </a:solidFill>
                <a:latin typeface="Segoe UI"/>
                <a:cs typeface="Segoe UI"/>
              </a:rPr>
              <a:t>2.60</a:t>
            </a:r>
            <a:r>
              <a:rPr sz="1000" b="1">
                <a:solidFill>
                  <a:srgbClr val="242424"/>
                </a:solidFill>
                <a:latin typeface="Segoe UI"/>
                <a:cs typeface="Segoe UI"/>
              </a:rPr>
              <a:t>	</a:t>
            </a:r>
            <a:r>
              <a:rPr sz="1000" b="1" spc="-20">
                <a:solidFill>
                  <a:srgbClr val="242424"/>
                </a:solidFill>
                <a:latin typeface="Segoe UI"/>
                <a:cs typeface="Segoe UI"/>
              </a:rPr>
              <a:t>2.10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 pos="4520565" algn="l"/>
              </a:tabLst>
            </a:pPr>
            <a:r>
              <a:rPr sz="1000" b="1" spc="-20">
                <a:solidFill>
                  <a:srgbClr val="242424"/>
                </a:solidFill>
                <a:latin typeface="Segoe UI"/>
                <a:cs typeface="Segoe UI"/>
              </a:rPr>
              <a:t>6.20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2.60</a:t>
            </a:r>
            <a:r>
              <a:rPr sz="1000" b="1">
                <a:solidFill>
                  <a:srgbClr val="242424"/>
                </a:solidFill>
                <a:latin typeface="Segoe UI"/>
                <a:cs typeface="Segoe UI"/>
              </a:rPr>
              <a:t>	</a:t>
            </a:r>
            <a:r>
              <a:rPr sz="1000" b="1" spc="-20">
                <a:solidFill>
                  <a:srgbClr val="242424"/>
                </a:solidFill>
                <a:latin typeface="Segoe UI"/>
                <a:cs typeface="Segoe UI"/>
              </a:rPr>
              <a:t>2.90</a:t>
            </a:r>
            <a:r>
              <a:rPr sz="1000" b="1">
                <a:solidFill>
                  <a:srgbClr val="242424"/>
                </a:solidFill>
                <a:latin typeface="Segoe UI"/>
                <a:cs typeface="Segoe UI"/>
              </a:rPr>
              <a:t>	</a:t>
            </a:r>
            <a:r>
              <a:rPr sz="1000" b="1" spc="-20">
                <a:solidFill>
                  <a:srgbClr val="242424"/>
                </a:solidFill>
                <a:latin typeface="Segoe UI"/>
                <a:cs typeface="Segoe UI"/>
              </a:rPr>
              <a:t>3.40</a:t>
            </a:r>
            <a:r>
              <a:rPr sz="1000" b="1">
                <a:solidFill>
                  <a:srgbClr val="242424"/>
                </a:solidFill>
                <a:latin typeface="Segoe UI"/>
                <a:cs typeface="Segoe UI"/>
              </a:rPr>
              <a:t>	</a:t>
            </a:r>
            <a:r>
              <a:rPr sz="1000" b="1" spc="-20">
                <a:solidFill>
                  <a:srgbClr val="242424"/>
                </a:solidFill>
                <a:latin typeface="Segoe UI"/>
                <a:cs typeface="Segoe UI"/>
              </a:rPr>
              <a:t>2.40</a:t>
            </a:r>
            <a:r>
              <a:rPr sz="1000" b="1">
                <a:solidFill>
                  <a:srgbClr val="242424"/>
                </a:solidFill>
                <a:latin typeface="Segoe UI"/>
                <a:cs typeface="Segoe UI"/>
              </a:rPr>
              <a:t>	</a:t>
            </a:r>
            <a:r>
              <a:rPr sz="1000" b="1" spc="-20">
                <a:solidFill>
                  <a:srgbClr val="242424"/>
                </a:solidFill>
                <a:latin typeface="Segoe UI"/>
                <a:cs typeface="Segoe UI"/>
              </a:rPr>
              <a:t>3.60</a:t>
            </a:r>
            <a:r>
              <a:rPr sz="1000" b="1">
                <a:solidFill>
                  <a:srgbClr val="242424"/>
                </a:solidFill>
                <a:latin typeface="Segoe UI"/>
                <a:cs typeface="Segoe UI"/>
              </a:rPr>
              <a:t>	</a:t>
            </a:r>
            <a:r>
              <a:rPr sz="1000" b="1" spc="-20">
                <a:solidFill>
                  <a:srgbClr val="242424"/>
                </a:solidFill>
                <a:latin typeface="Segoe UI"/>
                <a:cs typeface="Segoe UI"/>
              </a:rPr>
              <a:t>2.50</a:t>
            </a:r>
            <a:r>
              <a:rPr sz="1000" b="1">
                <a:solidFill>
                  <a:srgbClr val="242424"/>
                </a:solidFill>
                <a:latin typeface="Segoe UI"/>
                <a:cs typeface="Segoe UI"/>
              </a:rPr>
              <a:t>	</a:t>
            </a:r>
            <a:r>
              <a:rPr sz="1000" b="1" spc="-20">
                <a:solidFill>
                  <a:srgbClr val="242424"/>
                </a:solidFill>
                <a:latin typeface="Segoe UI"/>
                <a:cs typeface="Segoe UI"/>
              </a:rPr>
              <a:t>3.40</a:t>
            </a:r>
            <a:r>
              <a:rPr sz="1000" b="1">
                <a:solidFill>
                  <a:srgbClr val="242424"/>
                </a:solidFill>
                <a:latin typeface="Segoe UI"/>
                <a:cs typeface="Segoe UI"/>
              </a:rPr>
              <a:t>	</a:t>
            </a:r>
            <a:r>
              <a:rPr sz="1000" b="1" spc="-20">
                <a:solidFill>
                  <a:srgbClr val="242424"/>
                </a:solidFill>
                <a:latin typeface="Segoe UI"/>
                <a:cs typeface="Segoe UI"/>
              </a:rPr>
              <a:t>3.00</a:t>
            </a:r>
            <a:r>
              <a:rPr sz="1000" b="1">
                <a:solidFill>
                  <a:srgbClr val="242424"/>
                </a:solidFill>
                <a:latin typeface="Segoe UI"/>
                <a:cs typeface="Segoe UI"/>
              </a:rPr>
              <a:t>	</a:t>
            </a:r>
            <a:r>
              <a:rPr sz="1000" b="1" spc="-20">
                <a:solidFill>
                  <a:srgbClr val="242424"/>
                </a:solidFill>
                <a:latin typeface="Segoe UI"/>
                <a:cs typeface="Segoe UI"/>
              </a:rPr>
              <a:t>2.00</a:t>
            </a:r>
            <a:endParaRPr sz="1000">
              <a:latin typeface="Segoe UI"/>
              <a:cs typeface="Segoe UI"/>
            </a:endParaRPr>
          </a:p>
          <a:p>
            <a:pPr marL="158115">
              <a:lnSpc>
                <a:spcPct val="100000"/>
              </a:lnSpc>
              <a:spcBef>
                <a:spcPts val="825"/>
              </a:spcBef>
              <a:tabLst>
                <a:tab pos="662940" algn="l"/>
                <a:tab pos="1091565" algn="l"/>
                <a:tab pos="1520190" algn="l"/>
                <a:tab pos="1948814" algn="l"/>
                <a:tab pos="2377440" algn="l"/>
                <a:tab pos="2806065" algn="l"/>
                <a:tab pos="3234690" algn="l"/>
                <a:tab pos="3663315" algn="l"/>
                <a:tab pos="4091940" algn="l"/>
              </a:tabLst>
            </a:pPr>
            <a:r>
              <a:rPr sz="1000" b="1" spc="-20">
                <a:solidFill>
                  <a:srgbClr val="242424"/>
                </a:solidFill>
                <a:latin typeface="Segoe UI"/>
                <a:cs typeface="Segoe UI"/>
              </a:rPr>
              <a:t>4.80</a:t>
            </a:r>
            <a:r>
              <a:rPr sz="1000" b="1">
                <a:solidFill>
                  <a:srgbClr val="242424"/>
                </a:solidFill>
                <a:latin typeface="Segoe UI"/>
                <a:cs typeface="Segoe UI"/>
              </a:rPr>
              <a:t>	</a:t>
            </a:r>
            <a:r>
              <a:rPr sz="1000" b="1" spc="-20">
                <a:solidFill>
                  <a:srgbClr val="242424"/>
                </a:solidFill>
                <a:latin typeface="Segoe UI"/>
                <a:cs typeface="Segoe UI"/>
              </a:rPr>
              <a:t>3.20</a:t>
            </a:r>
            <a:r>
              <a:rPr sz="1000" b="1">
                <a:solidFill>
                  <a:srgbClr val="242424"/>
                </a:solidFill>
                <a:latin typeface="Segoe UI"/>
                <a:cs typeface="Segoe UI"/>
              </a:rPr>
              <a:t>	</a:t>
            </a:r>
            <a:r>
              <a:rPr sz="1000" b="1" spc="-20">
                <a:solidFill>
                  <a:srgbClr val="242424"/>
                </a:solidFill>
                <a:latin typeface="Segoe UI"/>
                <a:cs typeface="Segoe UI"/>
              </a:rPr>
              <a:t>3.80</a:t>
            </a:r>
            <a:r>
              <a:rPr sz="1000" b="1">
                <a:solidFill>
                  <a:srgbClr val="242424"/>
                </a:solidFill>
                <a:latin typeface="Segoe UI"/>
                <a:cs typeface="Segoe UI"/>
              </a:rPr>
              <a:t>	</a:t>
            </a:r>
            <a:r>
              <a:rPr sz="1000" b="1" spc="-20">
                <a:solidFill>
                  <a:srgbClr val="242424"/>
                </a:solidFill>
                <a:latin typeface="Segoe UI"/>
                <a:cs typeface="Segoe UI"/>
              </a:rPr>
              <a:t>3.20</a:t>
            </a:r>
            <a:r>
              <a:rPr sz="1000" b="1">
                <a:solidFill>
                  <a:srgbClr val="242424"/>
                </a:solidFill>
                <a:latin typeface="Segoe UI"/>
                <a:cs typeface="Segoe UI"/>
              </a:rPr>
              <a:t>	</a:t>
            </a:r>
            <a:r>
              <a:rPr sz="1000" b="1" spc="-20">
                <a:solidFill>
                  <a:srgbClr val="242424"/>
                </a:solidFill>
                <a:latin typeface="Segoe UI"/>
                <a:cs typeface="Segoe UI"/>
              </a:rPr>
              <a:t>2.70</a:t>
            </a:r>
            <a:r>
              <a:rPr sz="1000" b="1">
                <a:solidFill>
                  <a:srgbClr val="242424"/>
                </a:solidFill>
                <a:latin typeface="Segoe UI"/>
                <a:cs typeface="Segoe UI"/>
              </a:rPr>
              <a:t>	</a:t>
            </a:r>
            <a:r>
              <a:rPr sz="1000" b="1" spc="-20">
                <a:solidFill>
                  <a:srgbClr val="242424"/>
                </a:solidFill>
                <a:latin typeface="Segoe UI"/>
                <a:cs typeface="Segoe UI"/>
              </a:rPr>
              <a:t>3.20</a:t>
            </a:r>
            <a:r>
              <a:rPr sz="1000" b="1">
                <a:solidFill>
                  <a:srgbClr val="242424"/>
                </a:solidFill>
                <a:latin typeface="Segoe UI"/>
                <a:cs typeface="Segoe UI"/>
              </a:rPr>
              <a:t>	</a:t>
            </a:r>
            <a:r>
              <a:rPr sz="1000" b="1" spc="-20">
                <a:solidFill>
                  <a:srgbClr val="242424"/>
                </a:solidFill>
                <a:latin typeface="Segoe UI"/>
                <a:cs typeface="Segoe UI"/>
              </a:rPr>
              <a:t>2.40</a:t>
            </a:r>
            <a:r>
              <a:rPr sz="1000" b="1">
                <a:solidFill>
                  <a:srgbClr val="242424"/>
                </a:solidFill>
                <a:latin typeface="Segoe UI"/>
                <a:cs typeface="Segoe UI"/>
              </a:rPr>
              <a:t>	</a:t>
            </a:r>
            <a:r>
              <a:rPr sz="1000" b="1" spc="-20">
                <a:solidFill>
                  <a:srgbClr val="242424"/>
                </a:solidFill>
                <a:latin typeface="Segoe UI"/>
                <a:cs typeface="Segoe UI"/>
              </a:rPr>
              <a:t>3.10</a:t>
            </a:r>
            <a:r>
              <a:rPr sz="1000" b="1">
                <a:solidFill>
                  <a:srgbClr val="242424"/>
                </a:solidFill>
                <a:latin typeface="Segoe UI"/>
                <a:cs typeface="Segoe UI"/>
              </a:rPr>
              <a:t>	</a:t>
            </a:r>
            <a:r>
              <a:rPr sz="1000" b="1" spc="-20">
                <a:solidFill>
                  <a:srgbClr val="242424"/>
                </a:solidFill>
                <a:latin typeface="Segoe UI"/>
                <a:cs typeface="Segoe UI"/>
              </a:rPr>
              <a:t>3.20</a:t>
            </a:r>
            <a:r>
              <a:rPr sz="1000" b="1">
                <a:solidFill>
                  <a:srgbClr val="242424"/>
                </a:solidFill>
                <a:latin typeface="Segoe UI"/>
                <a:cs typeface="Segoe UI"/>
              </a:rPr>
              <a:t>	</a:t>
            </a:r>
            <a:r>
              <a:rPr sz="1000" b="1" spc="-20">
                <a:solidFill>
                  <a:srgbClr val="242424"/>
                </a:solidFill>
                <a:latin typeface="Segoe UI"/>
                <a:cs typeface="Segoe UI"/>
              </a:rPr>
              <a:t>2.10</a:t>
            </a:r>
            <a:endParaRPr sz="1000">
              <a:latin typeface="Segoe UI"/>
              <a:cs typeface="Segoe UI"/>
            </a:endParaRPr>
          </a:p>
          <a:p>
            <a:pPr marL="12700">
              <a:lnSpc>
                <a:spcPct val="100000"/>
              </a:lnSpc>
              <a:spcBef>
                <a:spcPts val="300"/>
              </a:spcBef>
            </a:pPr>
            <a:r>
              <a:rPr sz="1000" b="1">
                <a:solidFill>
                  <a:srgbClr val="242424"/>
                </a:solidFill>
                <a:latin typeface="Segoe UI"/>
                <a:cs typeface="Segoe UI"/>
              </a:rPr>
              <a:t>201.10</a:t>
            </a:r>
            <a:r>
              <a:rPr sz="1000" b="1" spc="130">
                <a:solidFill>
                  <a:srgbClr val="242424"/>
                </a:solidFill>
                <a:latin typeface="Segoe UI"/>
                <a:cs typeface="Segoe UI"/>
              </a:rPr>
              <a:t>  </a:t>
            </a:r>
            <a:r>
              <a:rPr sz="1000" b="1">
                <a:solidFill>
                  <a:srgbClr val="242424"/>
                </a:solidFill>
                <a:latin typeface="Segoe UI"/>
                <a:cs typeface="Segoe UI"/>
              </a:rPr>
              <a:t>102.70</a:t>
            </a:r>
            <a:r>
              <a:rPr sz="1000" b="1" spc="125">
                <a:solidFill>
                  <a:srgbClr val="242424"/>
                </a:solidFill>
                <a:latin typeface="Segoe UI"/>
                <a:cs typeface="Segoe UI"/>
              </a:rPr>
              <a:t>  </a:t>
            </a:r>
            <a:r>
              <a:rPr sz="1000" b="1">
                <a:solidFill>
                  <a:srgbClr val="242424"/>
                </a:solidFill>
                <a:latin typeface="Segoe UI"/>
                <a:cs typeface="Segoe UI"/>
              </a:rPr>
              <a:t>98.10</a:t>
            </a:r>
            <a:r>
              <a:rPr sz="1000" b="1" spc="120">
                <a:solidFill>
                  <a:srgbClr val="242424"/>
                </a:solidFill>
                <a:latin typeface="Segoe UI"/>
                <a:cs typeface="Segoe UI"/>
              </a:rPr>
              <a:t>  </a:t>
            </a:r>
            <a:r>
              <a:rPr sz="1000" b="1">
                <a:solidFill>
                  <a:srgbClr val="242424"/>
                </a:solidFill>
                <a:latin typeface="Segoe UI"/>
                <a:cs typeface="Segoe UI"/>
              </a:rPr>
              <a:t>86.10</a:t>
            </a:r>
            <a:r>
              <a:rPr sz="1000" b="1" spc="125">
                <a:solidFill>
                  <a:srgbClr val="242424"/>
                </a:solidFill>
                <a:latin typeface="Segoe UI"/>
                <a:cs typeface="Segoe UI"/>
              </a:rPr>
              <a:t>  </a:t>
            </a:r>
            <a:r>
              <a:rPr sz="1000" b="1">
                <a:solidFill>
                  <a:srgbClr val="242424"/>
                </a:solidFill>
                <a:latin typeface="Segoe UI"/>
                <a:cs typeface="Segoe UI"/>
              </a:rPr>
              <a:t>77.40</a:t>
            </a:r>
            <a:r>
              <a:rPr sz="1000" b="1" spc="120">
                <a:solidFill>
                  <a:srgbClr val="242424"/>
                </a:solidFill>
                <a:latin typeface="Segoe UI"/>
                <a:cs typeface="Segoe UI"/>
              </a:rPr>
              <a:t>  </a:t>
            </a:r>
            <a:r>
              <a:rPr sz="1000" b="1">
                <a:solidFill>
                  <a:srgbClr val="242424"/>
                </a:solidFill>
                <a:latin typeface="Segoe UI"/>
                <a:cs typeface="Segoe UI"/>
              </a:rPr>
              <a:t>81.20</a:t>
            </a:r>
            <a:r>
              <a:rPr sz="1000" b="1" spc="125">
                <a:solidFill>
                  <a:srgbClr val="242424"/>
                </a:solidFill>
                <a:latin typeface="Segoe UI"/>
                <a:cs typeface="Segoe UI"/>
              </a:rPr>
              <a:t>  </a:t>
            </a:r>
            <a:r>
              <a:rPr sz="1000" b="1">
                <a:solidFill>
                  <a:srgbClr val="242424"/>
                </a:solidFill>
                <a:latin typeface="Segoe UI"/>
                <a:cs typeface="Segoe UI"/>
              </a:rPr>
              <a:t>72.80</a:t>
            </a:r>
            <a:r>
              <a:rPr sz="1000" b="1" spc="120">
                <a:solidFill>
                  <a:srgbClr val="242424"/>
                </a:solidFill>
                <a:latin typeface="Segoe UI"/>
                <a:cs typeface="Segoe UI"/>
              </a:rPr>
              <a:t>  </a:t>
            </a:r>
            <a:r>
              <a:rPr sz="1000" b="1">
                <a:solidFill>
                  <a:srgbClr val="242424"/>
                </a:solidFill>
                <a:latin typeface="Segoe UI"/>
                <a:cs typeface="Segoe UI"/>
              </a:rPr>
              <a:t>71.80</a:t>
            </a:r>
            <a:r>
              <a:rPr sz="1000" b="1" spc="125">
                <a:solidFill>
                  <a:srgbClr val="242424"/>
                </a:solidFill>
                <a:latin typeface="Segoe UI"/>
                <a:cs typeface="Segoe UI"/>
              </a:rPr>
              <a:t>  </a:t>
            </a:r>
            <a:r>
              <a:rPr sz="1000" b="1">
                <a:solidFill>
                  <a:srgbClr val="242424"/>
                </a:solidFill>
                <a:latin typeface="Segoe UI"/>
                <a:cs typeface="Segoe UI"/>
              </a:rPr>
              <a:t>66.50</a:t>
            </a:r>
            <a:r>
              <a:rPr sz="1000" b="1" spc="120">
                <a:solidFill>
                  <a:srgbClr val="242424"/>
                </a:solidFill>
                <a:latin typeface="Segoe UI"/>
                <a:cs typeface="Segoe UI"/>
              </a:rPr>
              <a:t>  </a:t>
            </a:r>
            <a:r>
              <a:rPr sz="1000" b="1">
                <a:solidFill>
                  <a:srgbClr val="242424"/>
                </a:solidFill>
                <a:latin typeface="Segoe UI"/>
                <a:cs typeface="Segoe UI"/>
              </a:rPr>
              <a:t>60.80</a:t>
            </a:r>
            <a:r>
              <a:rPr sz="1000" b="1" spc="125">
                <a:solidFill>
                  <a:srgbClr val="242424"/>
                </a:solidFill>
                <a:latin typeface="Segoe UI"/>
                <a:cs typeface="Segoe UI"/>
              </a:rPr>
              <a:t>  </a:t>
            </a:r>
            <a:r>
              <a:rPr sz="1000" b="1">
                <a:solidFill>
                  <a:srgbClr val="242424"/>
                </a:solidFill>
                <a:latin typeface="Segoe UI"/>
                <a:cs typeface="Segoe UI"/>
              </a:rPr>
              <a:t>55.90</a:t>
            </a:r>
            <a:r>
              <a:rPr sz="1000" b="1" spc="120">
                <a:solidFill>
                  <a:srgbClr val="242424"/>
                </a:solidFill>
                <a:latin typeface="Segoe UI"/>
                <a:cs typeface="Segoe UI"/>
              </a:rPr>
              <a:t>  </a:t>
            </a:r>
            <a:r>
              <a:rPr sz="1000" b="1">
                <a:solidFill>
                  <a:srgbClr val="242424"/>
                </a:solidFill>
                <a:latin typeface="Segoe UI"/>
                <a:cs typeface="Segoe UI"/>
              </a:rPr>
              <a:t>57.30</a:t>
            </a:r>
            <a:r>
              <a:rPr sz="1000" b="1" spc="120">
                <a:solidFill>
                  <a:srgbClr val="242424"/>
                </a:solidFill>
                <a:latin typeface="Segoe UI"/>
                <a:cs typeface="Segoe UI"/>
              </a:rPr>
              <a:t>  </a:t>
            </a:r>
            <a:r>
              <a:rPr sz="1000" b="1">
                <a:solidFill>
                  <a:srgbClr val="242424"/>
                </a:solidFill>
                <a:latin typeface="Segoe UI"/>
                <a:cs typeface="Segoe UI"/>
              </a:rPr>
              <a:t>54.30</a:t>
            </a:r>
            <a:r>
              <a:rPr sz="1000" b="1" spc="125">
                <a:solidFill>
                  <a:srgbClr val="242424"/>
                </a:solidFill>
                <a:latin typeface="Segoe UI"/>
                <a:cs typeface="Segoe UI"/>
              </a:rPr>
              <a:t>  </a:t>
            </a:r>
            <a:r>
              <a:rPr sz="1000" b="1">
                <a:solidFill>
                  <a:srgbClr val="242424"/>
                </a:solidFill>
                <a:latin typeface="Segoe UI"/>
                <a:cs typeface="Segoe UI"/>
              </a:rPr>
              <a:t>53.00</a:t>
            </a:r>
            <a:r>
              <a:rPr sz="1000" b="1" spc="120">
                <a:solidFill>
                  <a:srgbClr val="242424"/>
                </a:solidFill>
                <a:latin typeface="Segoe UI"/>
                <a:cs typeface="Segoe UI"/>
              </a:rPr>
              <a:t>  </a:t>
            </a:r>
            <a:r>
              <a:rPr sz="1000" b="1">
                <a:solidFill>
                  <a:srgbClr val="242424"/>
                </a:solidFill>
                <a:latin typeface="Segoe UI"/>
                <a:cs typeface="Segoe UI"/>
              </a:rPr>
              <a:t>46.80</a:t>
            </a:r>
            <a:r>
              <a:rPr sz="1000" b="1" spc="125">
                <a:solidFill>
                  <a:srgbClr val="242424"/>
                </a:solidFill>
                <a:latin typeface="Segoe UI"/>
                <a:cs typeface="Segoe UI"/>
              </a:rPr>
              <a:t>  </a:t>
            </a:r>
            <a:r>
              <a:rPr sz="1000" b="1">
                <a:solidFill>
                  <a:srgbClr val="242424"/>
                </a:solidFill>
                <a:latin typeface="Segoe UI"/>
                <a:cs typeface="Segoe UI"/>
              </a:rPr>
              <a:t>46.50</a:t>
            </a:r>
            <a:r>
              <a:rPr sz="1000" b="1" spc="120">
                <a:solidFill>
                  <a:srgbClr val="242424"/>
                </a:solidFill>
                <a:latin typeface="Segoe UI"/>
                <a:cs typeface="Segoe UI"/>
              </a:rPr>
              <a:t>  </a:t>
            </a:r>
            <a:r>
              <a:rPr sz="1000" b="1">
                <a:solidFill>
                  <a:srgbClr val="242424"/>
                </a:solidFill>
                <a:latin typeface="Segoe UI"/>
                <a:cs typeface="Segoe UI"/>
              </a:rPr>
              <a:t>48.00</a:t>
            </a:r>
            <a:r>
              <a:rPr sz="1000" b="1" spc="125">
                <a:solidFill>
                  <a:srgbClr val="242424"/>
                </a:solidFill>
                <a:latin typeface="Segoe UI"/>
                <a:cs typeface="Segoe UI"/>
              </a:rPr>
              <a:t>  </a:t>
            </a:r>
            <a:r>
              <a:rPr sz="1000" b="1">
                <a:solidFill>
                  <a:srgbClr val="242424"/>
                </a:solidFill>
                <a:latin typeface="Segoe UI"/>
                <a:cs typeface="Segoe UI"/>
              </a:rPr>
              <a:t>39.80</a:t>
            </a:r>
            <a:r>
              <a:rPr sz="1000" b="1" spc="120">
                <a:solidFill>
                  <a:srgbClr val="242424"/>
                </a:solidFill>
                <a:latin typeface="Segoe UI"/>
                <a:cs typeface="Segoe UI"/>
              </a:rPr>
              <a:t>  </a:t>
            </a:r>
            <a:r>
              <a:rPr sz="1000" b="1">
                <a:solidFill>
                  <a:srgbClr val="242424"/>
                </a:solidFill>
                <a:latin typeface="Segoe UI"/>
                <a:cs typeface="Segoe UI"/>
              </a:rPr>
              <a:t>44.30</a:t>
            </a:r>
            <a:r>
              <a:rPr sz="1000" b="1" spc="125">
                <a:solidFill>
                  <a:srgbClr val="242424"/>
                </a:solidFill>
                <a:latin typeface="Segoe UI"/>
                <a:cs typeface="Segoe UI"/>
              </a:rPr>
              <a:t>  </a:t>
            </a:r>
            <a:r>
              <a:rPr sz="1000" b="1">
                <a:solidFill>
                  <a:srgbClr val="242424"/>
                </a:solidFill>
                <a:latin typeface="Segoe UI"/>
                <a:cs typeface="Segoe UI"/>
              </a:rPr>
              <a:t>38.00</a:t>
            </a:r>
            <a:r>
              <a:rPr sz="1000" b="1" spc="120">
                <a:solidFill>
                  <a:srgbClr val="242424"/>
                </a:solidFill>
                <a:latin typeface="Segoe UI"/>
                <a:cs typeface="Segoe UI"/>
              </a:rPr>
              <a:t>  </a:t>
            </a:r>
            <a:r>
              <a:rPr sz="1000" b="1">
                <a:solidFill>
                  <a:srgbClr val="242424"/>
                </a:solidFill>
                <a:latin typeface="Segoe UI"/>
                <a:cs typeface="Segoe UI"/>
              </a:rPr>
              <a:t>35.20</a:t>
            </a:r>
            <a:r>
              <a:rPr sz="1000" b="1" spc="120">
                <a:solidFill>
                  <a:srgbClr val="242424"/>
                </a:solidFill>
                <a:latin typeface="Segoe UI"/>
                <a:cs typeface="Segoe UI"/>
              </a:rPr>
              <a:t>  </a:t>
            </a:r>
            <a:r>
              <a:rPr sz="1000" b="1">
                <a:solidFill>
                  <a:srgbClr val="242424"/>
                </a:solidFill>
                <a:latin typeface="Segoe UI"/>
                <a:cs typeface="Segoe UI"/>
              </a:rPr>
              <a:t>32.60</a:t>
            </a:r>
            <a:r>
              <a:rPr sz="1000" b="1" spc="125">
                <a:solidFill>
                  <a:srgbClr val="242424"/>
                </a:solidFill>
                <a:latin typeface="Segoe UI"/>
                <a:cs typeface="Segoe UI"/>
              </a:rPr>
              <a:t>  </a:t>
            </a:r>
            <a:r>
              <a:rPr sz="1000" b="1">
                <a:solidFill>
                  <a:srgbClr val="242424"/>
                </a:solidFill>
                <a:latin typeface="Segoe UI"/>
                <a:cs typeface="Segoe UI"/>
              </a:rPr>
              <a:t>33.40</a:t>
            </a:r>
            <a:r>
              <a:rPr sz="1000" b="1" spc="120">
                <a:solidFill>
                  <a:srgbClr val="242424"/>
                </a:solidFill>
                <a:latin typeface="Segoe UI"/>
                <a:cs typeface="Segoe UI"/>
              </a:rPr>
              <a:t>  </a:t>
            </a:r>
            <a:r>
              <a:rPr sz="1000" b="1">
                <a:solidFill>
                  <a:srgbClr val="242424"/>
                </a:solidFill>
                <a:latin typeface="Segoe UI"/>
                <a:cs typeface="Segoe UI"/>
              </a:rPr>
              <a:t>29.40</a:t>
            </a:r>
            <a:r>
              <a:rPr sz="1000" b="1" spc="125">
                <a:solidFill>
                  <a:srgbClr val="242424"/>
                </a:solidFill>
                <a:latin typeface="Segoe UI"/>
                <a:cs typeface="Segoe UI"/>
              </a:rPr>
              <a:t>  </a:t>
            </a:r>
            <a:r>
              <a:rPr sz="1000" b="1">
                <a:solidFill>
                  <a:srgbClr val="242424"/>
                </a:solidFill>
                <a:latin typeface="Segoe UI"/>
                <a:cs typeface="Segoe UI"/>
              </a:rPr>
              <a:t>25.90</a:t>
            </a:r>
            <a:r>
              <a:rPr sz="1000" b="1" spc="120">
                <a:solidFill>
                  <a:srgbClr val="242424"/>
                </a:solidFill>
                <a:latin typeface="Segoe UI"/>
                <a:cs typeface="Segoe UI"/>
              </a:rPr>
              <a:t>  </a:t>
            </a:r>
            <a:r>
              <a:rPr sz="1000" b="1">
                <a:solidFill>
                  <a:srgbClr val="242424"/>
                </a:solidFill>
                <a:latin typeface="Segoe UI"/>
                <a:cs typeface="Segoe UI"/>
              </a:rPr>
              <a:t>27.60</a:t>
            </a:r>
            <a:r>
              <a:rPr sz="1000" b="1" spc="125">
                <a:solidFill>
                  <a:srgbClr val="242424"/>
                </a:solidFill>
                <a:latin typeface="Segoe UI"/>
                <a:cs typeface="Segoe UI"/>
              </a:rPr>
              <a:t>  </a:t>
            </a:r>
            <a:r>
              <a:rPr sz="1000" b="1">
                <a:solidFill>
                  <a:srgbClr val="242424"/>
                </a:solidFill>
                <a:latin typeface="Segoe UI"/>
                <a:cs typeface="Segoe UI"/>
              </a:rPr>
              <a:t>25.40</a:t>
            </a:r>
            <a:r>
              <a:rPr sz="1000" b="1" spc="120">
                <a:solidFill>
                  <a:srgbClr val="242424"/>
                </a:solidFill>
                <a:latin typeface="Segoe UI"/>
                <a:cs typeface="Segoe UI"/>
              </a:rPr>
              <a:t>  </a:t>
            </a:r>
            <a:r>
              <a:rPr sz="1000" b="1">
                <a:solidFill>
                  <a:srgbClr val="242424"/>
                </a:solidFill>
                <a:latin typeface="Segoe UI"/>
                <a:cs typeface="Segoe UI"/>
              </a:rPr>
              <a:t>22.20</a:t>
            </a:r>
            <a:r>
              <a:rPr sz="1000" b="1" spc="125">
                <a:solidFill>
                  <a:srgbClr val="242424"/>
                </a:solidFill>
                <a:latin typeface="Segoe UI"/>
                <a:cs typeface="Segoe UI"/>
              </a:rPr>
              <a:t>  </a:t>
            </a:r>
            <a:r>
              <a:rPr sz="1000" b="1">
                <a:solidFill>
                  <a:srgbClr val="242424"/>
                </a:solidFill>
                <a:latin typeface="Segoe UI"/>
                <a:cs typeface="Segoe UI"/>
              </a:rPr>
              <a:t>23.20</a:t>
            </a:r>
            <a:r>
              <a:rPr sz="1000" b="1" spc="120">
                <a:solidFill>
                  <a:srgbClr val="242424"/>
                </a:solidFill>
                <a:latin typeface="Segoe UI"/>
                <a:cs typeface="Segoe UI"/>
              </a:rPr>
              <a:t>  </a:t>
            </a:r>
            <a:r>
              <a:rPr sz="1000" b="1">
                <a:solidFill>
                  <a:srgbClr val="242424"/>
                </a:solidFill>
                <a:latin typeface="Segoe UI"/>
                <a:cs typeface="Segoe UI"/>
              </a:rPr>
              <a:t>22.60</a:t>
            </a:r>
            <a:r>
              <a:rPr sz="1000" b="1" spc="125">
                <a:solidFill>
                  <a:srgbClr val="242424"/>
                </a:solidFill>
                <a:latin typeface="Segoe UI"/>
                <a:cs typeface="Segoe UI"/>
              </a:rPr>
              <a:t>  </a:t>
            </a:r>
            <a:r>
              <a:rPr sz="1000" b="1">
                <a:solidFill>
                  <a:srgbClr val="242424"/>
                </a:solidFill>
                <a:latin typeface="Segoe UI"/>
                <a:cs typeface="Segoe UI"/>
              </a:rPr>
              <a:t>17.20</a:t>
            </a:r>
            <a:r>
              <a:rPr sz="1000" b="1" spc="120">
                <a:solidFill>
                  <a:srgbClr val="242424"/>
                </a:solidFill>
                <a:latin typeface="Segoe UI"/>
                <a:cs typeface="Segoe UI"/>
              </a:rPr>
              <a:t>  </a:t>
            </a:r>
            <a:r>
              <a:rPr sz="1000" b="1">
                <a:solidFill>
                  <a:srgbClr val="242424"/>
                </a:solidFill>
                <a:latin typeface="Segoe UI"/>
                <a:cs typeface="Segoe UI"/>
              </a:rPr>
              <a:t>18.30</a:t>
            </a:r>
            <a:r>
              <a:rPr sz="1000" b="1" spc="120">
                <a:solidFill>
                  <a:srgbClr val="242424"/>
                </a:solidFill>
                <a:latin typeface="Segoe UI"/>
                <a:cs typeface="Segoe UI"/>
              </a:rPr>
              <a:t>  </a:t>
            </a:r>
            <a:r>
              <a:rPr sz="1000" b="1">
                <a:solidFill>
                  <a:srgbClr val="242424"/>
                </a:solidFill>
                <a:latin typeface="Segoe UI"/>
                <a:cs typeface="Segoe UI"/>
              </a:rPr>
              <a:t>16.90</a:t>
            </a:r>
            <a:r>
              <a:rPr sz="1000" b="1" spc="125">
                <a:solidFill>
                  <a:srgbClr val="242424"/>
                </a:solidFill>
                <a:latin typeface="Segoe UI"/>
                <a:cs typeface="Segoe UI"/>
              </a:rPr>
              <a:t>  </a:t>
            </a:r>
            <a:r>
              <a:rPr sz="1000" b="1">
                <a:solidFill>
                  <a:srgbClr val="242424"/>
                </a:solidFill>
                <a:latin typeface="Segoe UI"/>
                <a:cs typeface="Segoe UI"/>
              </a:rPr>
              <a:t>13.60</a:t>
            </a:r>
            <a:r>
              <a:rPr sz="1000" b="1" spc="120">
                <a:solidFill>
                  <a:srgbClr val="242424"/>
                </a:solidFill>
                <a:latin typeface="Segoe UI"/>
                <a:cs typeface="Segoe UI"/>
              </a:rPr>
              <a:t>  </a:t>
            </a:r>
            <a:r>
              <a:rPr sz="1000" b="1">
                <a:solidFill>
                  <a:srgbClr val="242424"/>
                </a:solidFill>
                <a:latin typeface="Segoe UI"/>
                <a:cs typeface="Segoe UI"/>
              </a:rPr>
              <a:t>13.40</a:t>
            </a:r>
            <a:r>
              <a:rPr sz="1000" b="1" spc="150">
                <a:solidFill>
                  <a:srgbClr val="242424"/>
                </a:solidFill>
                <a:latin typeface="Segoe UI"/>
                <a:cs typeface="Segoe UI"/>
              </a:rPr>
              <a:t>  </a:t>
            </a:r>
            <a:r>
              <a:rPr sz="1000" b="1">
                <a:solidFill>
                  <a:srgbClr val="242424"/>
                </a:solidFill>
                <a:latin typeface="Segoe UI"/>
                <a:cs typeface="Segoe UI"/>
              </a:rPr>
              <a:t>9.80</a:t>
            </a:r>
            <a:r>
              <a:rPr sz="1000" b="1" spc="145">
                <a:solidFill>
                  <a:srgbClr val="242424"/>
                </a:solidFill>
                <a:latin typeface="Segoe UI"/>
                <a:cs typeface="Segoe UI"/>
              </a:rPr>
              <a:t>  </a:t>
            </a:r>
            <a:r>
              <a:rPr sz="1000" b="1">
                <a:solidFill>
                  <a:srgbClr val="242424"/>
                </a:solidFill>
                <a:latin typeface="Segoe UI"/>
                <a:cs typeface="Segoe UI"/>
              </a:rPr>
              <a:t>8.10</a:t>
            </a:r>
            <a:r>
              <a:rPr sz="1000" b="1" spc="125">
                <a:solidFill>
                  <a:srgbClr val="242424"/>
                </a:solidFill>
                <a:latin typeface="Segoe UI"/>
                <a:cs typeface="Segoe UI"/>
              </a:rPr>
              <a:t>  </a:t>
            </a:r>
            <a:r>
              <a:rPr sz="1000" b="1" spc="-20">
                <a:solidFill>
                  <a:srgbClr val="242424"/>
                </a:solidFill>
                <a:latin typeface="Segoe UI"/>
                <a:cs typeface="Segoe UI"/>
              </a:rPr>
              <a:t>10.3</a:t>
            </a:r>
            <a:endParaRPr sz="1000">
              <a:latin typeface="Segoe UI"/>
              <a:cs typeface="Segoe UI"/>
            </a:endParaRPr>
          </a:p>
        </p:txBody>
      </p:sp>
      <p:grpSp>
        <p:nvGrpSpPr>
          <p:cNvPr id="30" name="object 30"/>
          <p:cNvGrpSpPr/>
          <p:nvPr/>
        </p:nvGrpSpPr>
        <p:grpSpPr>
          <a:xfrm>
            <a:off x="495299" y="714374"/>
            <a:ext cx="17849850" cy="9639300"/>
            <a:chOff x="495299" y="714374"/>
            <a:chExt cx="17849850" cy="9639300"/>
          </a:xfrm>
        </p:grpSpPr>
        <p:sp>
          <p:nvSpPr>
            <p:cNvPr id="31" name="object 31"/>
            <p:cNvSpPr/>
            <p:nvPr/>
          </p:nvSpPr>
          <p:spPr>
            <a:xfrm>
              <a:off x="495299" y="10267949"/>
              <a:ext cx="17764125" cy="85725"/>
            </a:xfrm>
            <a:custGeom>
              <a:avLst/>
              <a:gdLst/>
              <a:ahLst/>
              <a:cxnLst/>
              <a:rect l="l" t="t" r="r" b="b"/>
              <a:pathLst>
                <a:path w="17764125" h="85725">
                  <a:moveTo>
                    <a:pt x="17726943" y="85723"/>
                  </a:moveTo>
                  <a:lnTo>
                    <a:pt x="37178" y="85723"/>
                  </a:lnTo>
                  <a:lnTo>
                    <a:pt x="31710" y="84636"/>
                  </a:lnTo>
                  <a:lnTo>
                    <a:pt x="1087" y="54012"/>
                  </a:lnTo>
                  <a:lnTo>
                    <a:pt x="0" y="48545"/>
                  </a:lnTo>
                  <a:lnTo>
                    <a:pt x="0" y="42862"/>
                  </a:lnTo>
                  <a:lnTo>
                    <a:pt x="0" y="37177"/>
                  </a:lnTo>
                  <a:lnTo>
                    <a:pt x="21208" y="5436"/>
                  </a:lnTo>
                  <a:lnTo>
                    <a:pt x="37178" y="0"/>
                  </a:lnTo>
                  <a:lnTo>
                    <a:pt x="17726943" y="0"/>
                  </a:lnTo>
                  <a:lnTo>
                    <a:pt x="17758682" y="21207"/>
                  </a:lnTo>
                  <a:lnTo>
                    <a:pt x="17764122" y="37177"/>
                  </a:lnTo>
                  <a:lnTo>
                    <a:pt x="17764122" y="48545"/>
                  </a:lnTo>
                  <a:lnTo>
                    <a:pt x="17742913" y="80285"/>
                  </a:lnTo>
                  <a:lnTo>
                    <a:pt x="17732409" y="84636"/>
                  </a:lnTo>
                  <a:lnTo>
                    <a:pt x="17726943" y="85723"/>
                  </a:lnTo>
                  <a:close/>
                </a:path>
              </a:pathLst>
            </a:custGeom>
            <a:solidFill>
              <a:srgbClr val="FFFFFF">
                <a:alpha val="50000"/>
              </a:srgbClr>
            </a:solidFill>
          </p:spPr>
          <p:txBody>
            <a:bodyPr wrap="square" lIns="0" tIns="0" rIns="0" bIns="0" rtlCol="0"/>
            <a:lstStyle/>
            <a:p>
              <a:endParaRPr/>
            </a:p>
          </p:txBody>
        </p:sp>
        <p:sp>
          <p:nvSpPr>
            <p:cNvPr id="32" name="object 32"/>
            <p:cNvSpPr/>
            <p:nvPr/>
          </p:nvSpPr>
          <p:spPr>
            <a:xfrm>
              <a:off x="500062" y="10272712"/>
              <a:ext cx="15173325" cy="76200"/>
            </a:xfrm>
            <a:custGeom>
              <a:avLst/>
              <a:gdLst/>
              <a:ahLst/>
              <a:cxnLst/>
              <a:rect l="l" t="t" r="r" b="b"/>
              <a:pathLst>
                <a:path w="15173325" h="76200">
                  <a:moveTo>
                    <a:pt x="15140274" y="76199"/>
                  </a:moveTo>
                  <a:lnTo>
                    <a:pt x="33047" y="76199"/>
                  </a:lnTo>
                  <a:lnTo>
                    <a:pt x="28187" y="75233"/>
                  </a:lnTo>
                  <a:lnTo>
                    <a:pt x="966" y="48012"/>
                  </a:lnTo>
                  <a:lnTo>
                    <a:pt x="0" y="43152"/>
                  </a:lnTo>
                  <a:lnTo>
                    <a:pt x="0" y="38099"/>
                  </a:lnTo>
                  <a:lnTo>
                    <a:pt x="0" y="33047"/>
                  </a:lnTo>
                  <a:lnTo>
                    <a:pt x="28187" y="966"/>
                  </a:lnTo>
                  <a:lnTo>
                    <a:pt x="33047" y="0"/>
                  </a:lnTo>
                  <a:lnTo>
                    <a:pt x="15140274" y="0"/>
                  </a:lnTo>
                  <a:lnTo>
                    <a:pt x="15172355" y="28187"/>
                  </a:lnTo>
                  <a:lnTo>
                    <a:pt x="15173322" y="33047"/>
                  </a:lnTo>
                  <a:lnTo>
                    <a:pt x="15173322" y="43152"/>
                  </a:lnTo>
                  <a:lnTo>
                    <a:pt x="15145133" y="75233"/>
                  </a:lnTo>
                  <a:lnTo>
                    <a:pt x="15140274" y="76199"/>
                  </a:lnTo>
                  <a:close/>
                </a:path>
              </a:pathLst>
            </a:custGeom>
            <a:solidFill>
              <a:srgbClr val="605D5C">
                <a:alpha val="50000"/>
              </a:srgbClr>
            </a:solidFill>
          </p:spPr>
          <p:txBody>
            <a:bodyPr wrap="square" lIns="0" tIns="0" rIns="0" bIns="0" rtlCol="0"/>
            <a:lstStyle/>
            <a:p>
              <a:endParaRPr/>
            </a:p>
          </p:txBody>
        </p:sp>
        <p:sp>
          <p:nvSpPr>
            <p:cNvPr id="33" name="object 33"/>
            <p:cNvSpPr/>
            <p:nvPr/>
          </p:nvSpPr>
          <p:spPr>
            <a:xfrm>
              <a:off x="500062" y="10272712"/>
              <a:ext cx="15173325" cy="76200"/>
            </a:xfrm>
            <a:custGeom>
              <a:avLst/>
              <a:gdLst/>
              <a:ahLst/>
              <a:cxnLst/>
              <a:rect l="l" t="t" r="r" b="b"/>
              <a:pathLst>
                <a:path w="15173325" h="76200">
                  <a:moveTo>
                    <a:pt x="0" y="38099"/>
                  </a:moveTo>
                  <a:lnTo>
                    <a:pt x="0" y="33047"/>
                  </a:lnTo>
                  <a:lnTo>
                    <a:pt x="966" y="28187"/>
                  </a:lnTo>
                  <a:lnTo>
                    <a:pt x="2900" y="23519"/>
                  </a:lnTo>
                  <a:lnTo>
                    <a:pt x="4833" y="18851"/>
                  </a:lnTo>
                  <a:lnTo>
                    <a:pt x="7586" y="14731"/>
                  </a:lnTo>
                  <a:lnTo>
                    <a:pt x="11159" y="11159"/>
                  </a:lnTo>
                  <a:lnTo>
                    <a:pt x="14731" y="7586"/>
                  </a:lnTo>
                  <a:lnTo>
                    <a:pt x="18851" y="4833"/>
                  </a:lnTo>
                  <a:lnTo>
                    <a:pt x="23519" y="2900"/>
                  </a:lnTo>
                  <a:lnTo>
                    <a:pt x="28187" y="966"/>
                  </a:lnTo>
                  <a:lnTo>
                    <a:pt x="33047" y="0"/>
                  </a:lnTo>
                  <a:lnTo>
                    <a:pt x="38099" y="0"/>
                  </a:lnTo>
                  <a:lnTo>
                    <a:pt x="15135223" y="0"/>
                  </a:lnTo>
                  <a:lnTo>
                    <a:pt x="15140274" y="0"/>
                  </a:lnTo>
                  <a:lnTo>
                    <a:pt x="15145133" y="966"/>
                  </a:lnTo>
                  <a:lnTo>
                    <a:pt x="15149800" y="2900"/>
                  </a:lnTo>
                  <a:lnTo>
                    <a:pt x="15154470" y="4833"/>
                  </a:lnTo>
                  <a:lnTo>
                    <a:pt x="15170421" y="23519"/>
                  </a:lnTo>
                  <a:lnTo>
                    <a:pt x="15172355" y="28187"/>
                  </a:lnTo>
                  <a:lnTo>
                    <a:pt x="15173322" y="33047"/>
                  </a:lnTo>
                  <a:lnTo>
                    <a:pt x="15173323" y="38099"/>
                  </a:lnTo>
                  <a:lnTo>
                    <a:pt x="15173322" y="43152"/>
                  </a:lnTo>
                  <a:lnTo>
                    <a:pt x="15172355" y="48012"/>
                  </a:lnTo>
                  <a:lnTo>
                    <a:pt x="15170421" y="52680"/>
                  </a:lnTo>
                  <a:lnTo>
                    <a:pt x="15168488" y="57348"/>
                  </a:lnTo>
                  <a:lnTo>
                    <a:pt x="15135223" y="76199"/>
                  </a:lnTo>
                  <a:lnTo>
                    <a:pt x="38099" y="76199"/>
                  </a:lnTo>
                  <a:lnTo>
                    <a:pt x="4833" y="57348"/>
                  </a:lnTo>
                  <a:lnTo>
                    <a:pt x="0" y="43152"/>
                  </a:lnTo>
                  <a:lnTo>
                    <a:pt x="0" y="38099"/>
                  </a:lnTo>
                  <a:close/>
                </a:path>
              </a:pathLst>
            </a:custGeom>
            <a:ln w="9524">
              <a:solidFill>
                <a:srgbClr val="FFFFFF"/>
              </a:solidFill>
            </a:ln>
          </p:spPr>
          <p:txBody>
            <a:bodyPr wrap="square" lIns="0" tIns="0" rIns="0" bIns="0" rtlCol="0"/>
            <a:lstStyle/>
            <a:p>
              <a:endParaRPr/>
            </a:p>
          </p:txBody>
        </p:sp>
        <p:sp>
          <p:nvSpPr>
            <p:cNvPr id="34" name="object 34"/>
            <p:cNvSpPr/>
            <p:nvPr/>
          </p:nvSpPr>
          <p:spPr>
            <a:xfrm>
              <a:off x="18259421" y="714374"/>
              <a:ext cx="85725" cy="9553575"/>
            </a:xfrm>
            <a:custGeom>
              <a:avLst/>
              <a:gdLst/>
              <a:ahLst/>
              <a:cxnLst/>
              <a:rect l="l" t="t" r="r" b="b"/>
              <a:pathLst>
                <a:path w="85725" h="9553575">
                  <a:moveTo>
                    <a:pt x="48547" y="9553573"/>
                  </a:moveTo>
                  <a:lnTo>
                    <a:pt x="37177" y="9553573"/>
                  </a:lnTo>
                  <a:lnTo>
                    <a:pt x="31709" y="9552484"/>
                  </a:lnTo>
                  <a:lnTo>
                    <a:pt x="1085" y="9521862"/>
                  </a:lnTo>
                  <a:lnTo>
                    <a:pt x="0" y="9516395"/>
                  </a:lnTo>
                  <a:lnTo>
                    <a:pt x="0" y="9510711"/>
                  </a:lnTo>
                  <a:lnTo>
                    <a:pt x="0" y="37178"/>
                  </a:lnTo>
                  <a:lnTo>
                    <a:pt x="21206" y="5437"/>
                  </a:lnTo>
                  <a:lnTo>
                    <a:pt x="37177" y="0"/>
                  </a:lnTo>
                  <a:lnTo>
                    <a:pt x="48547" y="0"/>
                  </a:lnTo>
                  <a:lnTo>
                    <a:pt x="80285" y="21208"/>
                  </a:lnTo>
                  <a:lnTo>
                    <a:pt x="85724" y="37178"/>
                  </a:lnTo>
                  <a:lnTo>
                    <a:pt x="85724" y="9516395"/>
                  </a:lnTo>
                  <a:lnTo>
                    <a:pt x="64515" y="9548133"/>
                  </a:lnTo>
                  <a:lnTo>
                    <a:pt x="54014" y="9552484"/>
                  </a:lnTo>
                  <a:lnTo>
                    <a:pt x="48547" y="9553573"/>
                  </a:lnTo>
                  <a:close/>
                </a:path>
              </a:pathLst>
            </a:custGeom>
            <a:solidFill>
              <a:srgbClr val="FFFFFF">
                <a:alpha val="50000"/>
              </a:srgbClr>
            </a:solidFill>
          </p:spPr>
          <p:txBody>
            <a:bodyPr wrap="square" lIns="0" tIns="0" rIns="0" bIns="0" rtlCol="0"/>
            <a:lstStyle/>
            <a:p>
              <a:endParaRPr/>
            </a:p>
          </p:txBody>
        </p:sp>
        <p:sp>
          <p:nvSpPr>
            <p:cNvPr id="35" name="object 35"/>
            <p:cNvSpPr/>
            <p:nvPr/>
          </p:nvSpPr>
          <p:spPr>
            <a:xfrm>
              <a:off x="18264187" y="719137"/>
              <a:ext cx="76200" cy="7362825"/>
            </a:xfrm>
            <a:custGeom>
              <a:avLst/>
              <a:gdLst/>
              <a:ahLst/>
              <a:cxnLst/>
              <a:rect l="l" t="t" r="r" b="b"/>
              <a:pathLst>
                <a:path w="76200" h="7362825">
                  <a:moveTo>
                    <a:pt x="43152" y="7362823"/>
                  </a:moveTo>
                  <a:lnTo>
                    <a:pt x="33047" y="7362823"/>
                  </a:lnTo>
                  <a:lnTo>
                    <a:pt x="28187" y="7361857"/>
                  </a:lnTo>
                  <a:lnTo>
                    <a:pt x="966" y="7334635"/>
                  </a:lnTo>
                  <a:lnTo>
                    <a:pt x="0" y="7329775"/>
                  </a:lnTo>
                  <a:lnTo>
                    <a:pt x="0" y="7324724"/>
                  </a:lnTo>
                  <a:lnTo>
                    <a:pt x="0" y="33047"/>
                  </a:lnTo>
                  <a:lnTo>
                    <a:pt x="28187" y="966"/>
                  </a:lnTo>
                  <a:lnTo>
                    <a:pt x="33047" y="0"/>
                  </a:lnTo>
                  <a:lnTo>
                    <a:pt x="43152" y="0"/>
                  </a:lnTo>
                  <a:lnTo>
                    <a:pt x="75233" y="28187"/>
                  </a:lnTo>
                  <a:lnTo>
                    <a:pt x="76199" y="33047"/>
                  </a:lnTo>
                  <a:lnTo>
                    <a:pt x="76199" y="7329775"/>
                  </a:lnTo>
                  <a:lnTo>
                    <a:pt x="48012" y="7361857"/>
                  </a:lnTo>
                  <a:lnTo>
                    <a:pt x="43152" y="7362823"/>
                  </a:lnTo>
                  <a:close/>
                </a:path>
              </a:pathLst>
            </a:custGeom>
            <a:solidFill>
              <a:srgbClr val="605D5C">
                <a:alpha val="50000"/>
              </a:srgbClr>
            </a:solidFill>
          </p:spPr>
          <p:txBody>
            <a:bodyPr wrap="square" lIns="0" tIns="0" rIns="0" bIns="0" rtlCol="0"/>
            <a:lstStyle/>
            <a:p>
              <a:endParaRPr/>
            </a:p>
          </p:txBody>
        </p:sp>
        <p:sp>
          <p:nvSpPr>
            <p:cNvPr id="36" name="object 36"/>
            <p:cNvSpPr/>
            <p:nvPr/>
          </p:nvSpPr>
          <p:spPr>
            <a:xfrm>
              <a:off x="18264187" y="719137"/>
              <a:ext cx="76200" cy="7362825"/>
            </a:xfrm>
            <a:custGeom>
              <a:avLst/>
              <a:gdLst/>
              <a:ahLst/>
              <a:cxnLst/>
              <a:rect l="l" t="t" r="r" b="b"/>
              <a:pathLst>
                <a:path w="76200" h="7362825">
                  <a:moveTo>
                    <a:pt x="0" y="7324724"/>
                  </a:moveTo>
                  <a:lnTo>
                    <a:pt x="0" y="38099"/>
                  </a:lnTo>
                  <a:lnTo>
                    <a:pt x="0" y="33047"/>
                  </a:lnTo>
                  <a:lnTo>
                    <a:pt x="966" y="28187"/>
                  </a:lnTo>
                  <a:lnTo>
                    <a:pt x="2900" y="23519"/>
                  </a:lnTo>
                  <a:lnTo>
                    <a:pt x="4833" y="18851"/>
                  </a:lnTo>
                  <a:lnTo>
                    <a:pt x="7586" y="14731"/>
                  </a:lnTo>
                  <a:lnTo>
                    <a:pt x="11159" y="11159"/>
                  </a:lnTo>
                  <a:lnTo>
                    <a:pt x="14731" y="7586"/>
                  </a:lnTo>
                  <a:lnTo>
                    <a:pt x="18851" y="4833"/>
                  </a:lnTo>
                  <a:lnTo>
                    <a:pt x="23519" y="2900"/>
                  </a:lnTo>
                  <a:lnTo>
                    <a:pt x="28187" y="966"/>
                  </a:lnTo>
                  <a:lnTo>
                    <a:pt x="33047" y="0"/>
                  </a:lnTo>
                  <a:lnTo>
                    <a:pt x="38099" y="0"/>
                  </a:lnTo>
                  <a:lnTo>
                    <a:pt x="43152" y="0"/>
                  </a:lnTo>
                  <a:lnTo>
                    <a:pt x="73299" y="23519"/>
                  </a:lnTo>
                  <a:lnTo>
                    <a:pt x="76199" y="38099"/>
                  </a:lnTo>
                  <a:lnTo>
                    <a:pt x="76199" y="7324724"/>
                  </a:lnTo>
                  <a:lnTo>
                    <a:pt x="57348" y="7357989"/>
                  </a:lnTo>
                  <a:lnTo>
                    <a:pt x="52680" y="7359922"/>
                  </a:lnTo>
                  <a:lnTo>
                    <a:pt x="48012" y="7361857"/>
                  </a:lnTo>
                  <a:lnTo>
                    <a:pt x="43152" y="7362823"/>
                  </a:lnTo>
                  <a:lnTo>
                    <a:pt x="38099" y="7362824"/>
                  </a:lnTo>
                  <a:lnTo>
                    <a:pt x="33047" y="7362823"/>
                  </a:lnTo>
                  <a:lnTo>
                    <a:pt x="2900" y="7339303"/>
                  </a:lnTo>
                  <a:lnTo>
                    <a:pt x="966" y="7334635"/>
                  </a:lnTo>
                  <a:lnTo>
                    <a:pt x="0" y="7329775"/>
                  </a:lnTo>
                  <a:lnTo>
                    <a:pt x="0" y="7324724"/>
                  </a:lnTo>
                  <a:close/>
                </a:path>
              </a:pathLst>
            </a:custGeom>
            <a:ln w="9524">
              <a:solidFill>
                <a:srgbClr val="FFFFFF"/>
              </a:solidFill>
            </a:ln>
          </p:spPr>
          <p:txBody>
            <a:bodyPr wrap="square" lIns="0" tIns="0" rIns="0" bIns="0" rtlCol="0"/>
            <a:lstStyle/>
            <a:p>
              <a:endParaRPr/>
            </a:p>
          </p:txBody>
        </p:sp>
      </p:grpSp>
      <p:sp>
        <p:nvSpPr>
          <p:cNvPr id="37" name="テキスト ボックス 36">
            <a:extLst>
              <a:ext uri="{FF2B5EF4-FFF2-40B4-BE49-F238E27FC236}">
                <a16:creationId xmlns:a16="http://schemas.microsoft.com/office/drawing/2014/main" id="{682176A6-BFF9-3DC0-9BF2-D2D9956C728E}"/>
              </a:ext>
            </a:extLst>
          </p:cNvPr>
          <p:cNvSpPr txBox="1"/>
          <p:nvPr/>
        </p:nvSpPr>
        <p:spPr>
          <a:xfrm>
            <a:off x="10955124" y="279319"/>
            <a:ext cx="1811443" cy="369332"/>
          </a:xfrm>
          <a:prstGeom prst="rect">
            <a:avLst/>
          </a:prstGeom>
          <a:noFill/>
        </p:spPr>
        <p:txBody>
          <a:bodyPr wrap="square" rtlCol="0">
            <a:spAutoFit/>
          </a:bodyPr>
          <a:lstStyle/>
          <a:p>
            <a:r>
              <a:rPr kumimoji="1" lang="en-US" altLang="ja-JP" b="1"/>
              <a:t>powerBI </a:t>
            </a:r>
            <a:r>
              <a:rPr kumimoji="1" lang="ja-JP" altLang="en-US" b="1"/>
              <a:t>作成</a:t>
            </a:r>
            <a:endParaRPr kumimoji="1" lang="en-US" altLang="ja-JP"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09F6AC-2B8E-DEDF-53FB-127900E23A94}"/>
              </a:ext>
            </a:extLst>
          </p:cNvPr>
          <p:cNvSpPr>
            <a:spLocks noGrp="1"/>
          </p:cNvSpPr>
          <p:nvPr>
            <p:ph type="title"/>
          </p:nvPr>
        </p:nvSpPr>
        <p:spPr>
          <a:xfrm>
            <a:off x="5810249" y="723900"/>
            <a:ext cx="7124700" cy="685800"/>
          </a:xfrm>
        </p:spPr>
        <p:txBody>
          <a:bodyPr/>
          <a:lstStyle/>
          <a:p>
            <a:r>
              <a:rPr kumimoji="1" lang="ja-JP" altLang="en-US"/>
              <a:t>　</a:t>
            </a:r>
            <a:r>
              <a:rPr kumimoji="1" lang="ja-JP" altLang="en-US" sz="3600"/>
              <a:t>ユーザー継続率（コホート分析）</a:t>
            </a:r>
          </a:p>
        </p:txBody>
      </p:sp>
      <p:pic>
        <p:nvPicPr>
          <p:cNvPr id="5" name="図 4">
            <a:extLst>
              <a:ext uri="{FF2B5EF4-FFF2-40B4-BE49-F238E27FC236}">
                <a16:creationId xmlns:a16="http://schemas.microsoft.com/office/drawing/2014/main" id="{EB2EA130-EC62-2BFA-A397-8F1A53EDA85E}"/>
              </a:ext>
            </a:extLst>
          </p:cNvPr>
          <p:cNvPicPr>
            <a:picLocks noChangeAspect="1"/>
          </p:cNvPicPr>
          <p:nvPr/>
        </p:nvPicPr>
        <p:blipFill>
          <a:blip r:embed="rId2"/>
          <a:stretch>
            <a:fillRect/>
          </a:stretch>
        </p:blipFill>
        <p:spPr>
          <a:xfrm>
            <a:off x="625731" y="3009900"/>
            <a:ext cx="17426003" cy="5011235"/>
          </a:xfrm>
          <a:prstGeom prst="rect">
            <a:avLst/>
          </a:prstGeom>
        </p:spPr>
      </p:pic>
      <p:sp>
        <p:nvSpPr>
          <p:cNvPr id="6" name="テキスト ボックス 5">
            <a:extLst>
              <a:ext uri="{FF2B5EF4-FFF2-40B4-BE49-F238E27FC236}">
                <a16:creationId xmlns:a16="http://schemas.microsoft.com/office/drawing/2014/main" id="{FEA2B749-C36D-1A17-DD89-F65B104CB244}"/>
              </a:ext>
            </a:extLst>
          </p:cNvPr>
          <p:cNvSpPr txBox="1"/>
          <p:nvPr/>
        </p:nvSpPr>
        <p:spPr>
          <a:xfrm>
            <a:off x="625731" y="2136688"/>
            <a:ext cx="4343400" cy="523220"/>
          </a:xfrm>
          <a:prstGeom prst="rect">
            <a:avLst/>
          </a:prstGeom>
          <a:noFill/>
        </p:spPr>
        <p:txBody>
          <a:bodyPr wrap="square" rtlCol="0">
            <a:spAutoFit/>
          </a:bodyPr>
          <a:lstStyle/>
          <a:p>
            <a:r>
              <a:rPr kumimoji="1" lang="en-US" altLang="ja-JP" sz="2800"/>
              <a:t>Excel </a:t>
            </a:r>
            <a:r>
              <a:rPr kumimoji="1" lang="ja-JP" altLang="en-US" sz="2800"/>
              <a:t>ピポットテーブル</a:t>
            </a:r>
          </a:p>
        </p:txBody>
      </p:sp>
    </p:spTree>
    <p:extLst>
      <p:ext uri="{BB962C8B-B14F-4D97-AF65-F5344CB8AC3E}">
        <p14:creationId xmlns:p14="http://schemas.microsoft.com/office/powerpoint/2010/main" val="3097534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7E1AD9-E19A-218A-D249-44B5FF4E9FD0}"/>
              </a:ext>
            </a:extLst>
          </p:cNvPr>
          <p:cNvSpPr>
            <a:spLocks noGrp="1"/>
          </p:cNvSpPr>
          <p:nvPr>
            <p:ph type="title"/>
          </p:nvPr>
        </p:nvSpPr>
        <p:spPr>
          <a:xfrm>
            <a:off x="6172200" y="723900"/>
            <a:ext cx="6400800" cy="1107996"/>
          </a:xfrm>
        </p:spPr>
        <p:txBody>
          <a:bodyPr/>
          <a:lstStyle/>
          <a:p>
            <a:r>
              <a:rPr kumimoji="1" lang="ja-JP" altLang="en-US" sz="3600"/>
              <a:t>ユーザー継続率（コホート分析）</a:t>
            </a:r>
          </a:p>
        </p:txBody>
      </p:sp>
      <p:sp>
        <p:nvSpPr>
          <p:cNvPr id="3" name="テキスト ボックス 2">
            <a:extLst>
              <a:ext uri="{FF2B5EF4-FFF2-40B4-BE49-F238E27FC236}">
                <a16:creationId xmlns:a16="http://schemas.microsoft.com/office/drawing/2014/main" id="{52237230-9A10-8AD0-6F0E-D202E4154038}"/>
              </a:ext>
            </a:extLst>
          </p:cNvPr>
          <p:cNvSpPr txBox="1"/>
          <p:nvPr/>
        </p:nvSpPr>
        <p:spPr>
          <a:xfrm>
            <a:off x="6972300" y="2083080"/>
            <a:ext cx="4800599" cy="523220"/>
          </a:xfrm>
          <a:prstGeom prst="rect">
            <a:avLst/>
          </a:prstGeom>
          <a:noFill/>
        </p:spPr>
        <p:txBody>
          <a:bodyPr wrap="square" rtlCol="0">
            <a:spAutoFit/>
          </a:bodyPr>
          <a:lstStyle/>
          <a:p>
            <a:r>
              <a:rPr kumimoji="1" lang="en-US" altLang="ja-JP" sz="2800"/>
              <a:t>Excel /</a:t>
            </a:r>
            <a:r>
              <a:rPr kumimoji="1" lang="ja-JP" altLang="en-US" sz="2800"/>
              <a:t>ピポットグラフ　</a:t>
            </a:r>
          </a:p>
        </p:txBody>
      </p:sp>
      <p:pic>
        <p:nvPicPr>
          <p:cNvPr id="7" name="図 6">
            <a:extLst>
              <a:ext uri="{FF2B5EF4-FFF2-40B4-BE49-F238E27FC236}">
                <a16:creationId xmlns:a16="http://schemas.microsoft.com/office/drawing/2014/main" id="{389F6958-0307-2763-B021-AFB88AC85EF9}"/>
              </a:ext>
            </a:extLst>
          </p:cNvPr>
          <p:cNvPicPr>
            <a:picLocks noChangeAspect="1"/>
          </p:cNvPicPr>
          <p:nvPr/>
        </p:nvPicPr>
        <p:blipFill>
          <a:blip r:embed="rId2"/>
          <a:stretch>
            <a:fillRect/>
          </a:stretch>
        </p:blipFill>
        <p:spPr>
          <a:xfrm>
            <a:off x="638313" y="4229100"/>
            <a:ext cx="17468573" cy="4432020"/>
          </a:xfrm>
          <a:prstGeom prst="rect">
            <a:avLst/>
          </a:prstGeom>
        </p:spPr>
      </p:pic>
    </p:spTree>
    <p:extLst>
      <p:ext uri="{BB962C8B-B14F-4D97-AF65-F5344CB8AC3E}">
        <p14:creationId xmlns:p14="http://schemas.microsoft.com/office/powerpoint/2010/main" val="3344289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92BF63-A94D-D635-B817-6E42E49D927B}"/>
              </a:ext>
            </a:extLst>
          </p:cNvPr>
          <p:cNvSpPr>
            <a:spLocks noGrp="1"/>
          </p:cNvSpPr>
          <p:nvPr>
            <p:ph type="title"/>
          </p:nvPr>
        </p:nvSpPr>
        <p:spPr>
          <a:xfrm>
            <a:off x="4724400" y="800100"/>
            <a:ext cx="9296400" cy="785588"/>
          </a:xfrm>
        </p:spPr>
        <p:txBody>
          <a:bodyPr/>
          <a:lstStyle/>
          <a:p>
            <a:r>
              <a:rPr kumimoji="1" lang="ja-JP" altLang="en-US"/>
              <a:t>　</a:t>
            </a:r>
            <a:r>
              <a:rPr lang="ja-JP" altLang="ja-JP"/>
              <a:t> </a:t>
            </a:r>
            <a:r>
              <a:rPr lang="ja-JP" altLang="ja-JP" sz="3600"/>
              <a:t>4. 分析結果からの考察</a:t>
            </a:r>
            <a:r>
              <a:rPr lang="en-US" altLang="ja-JP" sz="3600"/>
              <a:t> </a:t>
            </a:r>
            <a:r>
              <a:rPr lang="ja-JP" altLang="ja-JP" sz="3600"/>
              <a:t>（ビジネス提言の例）</a:t>
            </a:r>
            <a:endParaRPr kumimoji="1" lang="ja-JP" altLang="en-US" sz="3600"/>
          </a:p>
        </p:txBody>
      </p:sp>
      <p:sp>
        <p:nvSpPr>
          <p:cNvPr id="3" name="テキスト ボックス 2">
            <a:extLst>
              <a:ext uri="{FF2B5EF4-FFF2-40B4-BE49-F238E27FC236}">
                <a16:creationId xmlns:a16="http://schemas.microsoft.com/office/drawing/2014/main" id="{C372FBB9-AEEF-4C22-F17E-14EE58FE79B2}"/>
              </a:ext>
            </a:extLst>
          </p:cNvPr>
          <p:cNvSpPr txBox="1"/>
          <p:nvPr/>
        </p:nvSpPr>
        <p:spPr>
          <a:xfrm>
            <a:off x="1143000" y="2417444"/>
            <a:ext cx="16992600" cy="7386638"/>
          </a:xfrm>
          <a:prstGeom prst="rect">
            <a:avLst/>
          </a:prstGeom>
          <a:noFill/>
        </p:spPr>
        <p:txBody>
          <a:bodyPr wrap="square" rtlCol="0">
            <a:spAutoFit/>
          </a:bodyPr>
          <a:lstStyle/>
          <a:p>
            <a:pPr lvl="0" rtl="0"/>
            <a:r>
              <a:rPr lang="ja-JP" altLang="en-US" sz="2800" b="1"/>
              <a:t>・</a:t>
            </a:r>
            <a:r>
              <a:rPr lang="ja-JP" altLang="ja-JP" sz="2800" b="1"/>
              <a:t>客単価の改善（①の結果より）</a:t>
            </a:r>
            <a:br>
              <a:rPr lang="ja-JP" altLang="ja-JP" sz="2800"/>
            </a:br>
            <a:r>
              <a:rPr lang="ja-JP" altLang="en-US" sz="2800"/>
              <a:t>　　</a:t>
            </a:r>
            <a:r>
              <a:rPr lang="ja-JP" altLang="ja-JP" sz="2800"/>
              <a:t>売上は伸びている</a:t>
            </a:r>
            <a:r>
              <a:rPr lang="ja-JP" altLang="en-US" sz="2800"/>
              <a:t>が</a:t>
            </a:r>
            <a:r>
              <a:rPr lang="ja-JP" altLang="ja-JP" sz="2800"/>
              <a:t>客単価が横ばい</a:t>
            </a:r>
            <a:r>
              <a:rPr lang="ja-JP" altLang="en-US" sz="2800"/>
              <a:t>。</a:t>
            </a:r>
            <a:endParaRPr lang="en-US" altLang="ja-JP" sz="2800"/>
          </a:p>
          <a:p>
            <a:pPr lvl="0" rtl="0"/>
            <a:r>
              <a:rPr lang="ja-JP" altLang="en-US" sz="2800" b="1"/>
              <a:t>　　</a:t>
            </a:r>
            <a:r>
              <a:rPr lang="ja-JP" altLang="en-US" sz="2800"/>
              <a:t>条件付き送料無料</a:t>
            </a:r>
            <a:r>
              <a:rPr lang="ja-JP" altLang="ja-JP" sz="2800"/>
              <a:t>セット買いキャンペーンやレコメンド強化を提案。</a:t>
            </a:r>
          </a:p>
          <a:p>
            <a:pPr lvl="0" rtl="0"/>
            <a:endParaRPr lang="en-US" altLang="ja-JP" sz="2800" b="1"/>
          </a:p>
          <a:p>
            <a:pPr lvl="0" rtl="0"/>
            <a:endParaRPr lang="en-US" altLang="ja-JP" sz="2800" b="1"/>
          </a:p>
          <a:p>
            <a:pPr lvl="0" rtl="0"/>
            <a:r>
              <a:rPr lang="ja-JP" altLang="en-US" sz="2800" b="1"/>
              <a:t>・</a:t>
            </a:r>
            <a:r>
              <a:rPr lang="ja-JP" altLang="ja-JP" sz="2800" b="1"/>
              <a:t>在庫・プロモーションの最適化（②の結果より）</a:t>
            </a:r>
            <a:br>
              <a:rPr lang="ja-JP" altLang="ja-JP" sz="2800"/>
            </a:br>
            <a:r>
              <a:rPr lang="ja-JP" altLang="en-US" sz="2800"/>
              <a:t>　　</a:t>
            </a:r>
            <a:r>
              <a:rPr lang="ja-JP" altLang="ja-JP" sz="2800"/>
              <a:t>全体のわずか数％の「Aランク商品」が売上の7割を作っていることが確認</a:t>
            </a:r>
            <a:r>
              <a:rPr lang="ja-JP" altLang="en-US" sz="2800"/>
              <a:t>。</a:t>
            </a:r>
            <a:endParaRPr lang="en-US" altLang="ja-JP" sz="2800"/>
          </a:p>
          <a:p>
            <a:pPr lvl="0" rtl="0"/>
            <a:r>
              <a:rPr lang="ja-JP" altLang="en-US" sz="2800" b="1"/>
              <a:t>　　</a:t>
            </a:r>
            <a:r>
              <a:rPr lang="ja-JP" altLang="ja-JP" sz="2800"/>
              <a:t>Aランク商品の在庫切れを防ぐ体制を作り、売上</a:t>
            </a:r>
            <a:r>
              <a:rPr lang="ja-JP" altLang="en-US" sz="2800"/>
              <a:t>の低い</a:t>
            </a:r>
            <a:r>
              <a:rPr lang="ja-JP" altLang="ja-JP" sz="2800"/>
              <a:t>Cランク商品は</a:t>
            </a:r>
            <a:endParaRPr lang="en-US" altLang="ja-JP" sz="2800"/>
          </a:p>
          <a:p>
            <a:pPr lvl="0" rtl="0"/>
            <a:r>
              <a:rPr lang="ja-JP" altLang="en-US" sz="2800"/>
              <a:t>　　</a:t>
            </a:r>
            <a:r>
              <a:rPr lang="ja-JP" altLang="ja-JP" sz="2800"/>
              <a:t>セールの実施や取り扱い縮小を提案。</a:t>
            </a:r>
          </a:p>
          <a:p>
            <a:pPr lvl="0" rtl="0"/>
            <a:endParaRPr lang="en-US" altLang="ja-JP" sz="2800" b="1"/>
          </a:p>
          <a:p>
            <a:pPr lvl="0" rtl="0"/>
            <a:endParaRPr lang="en-US" altLang="ja-JP" sz="2800" b="1"/>
          </a:p>
          <a:p>
            <a:pPr lvl="0" rtl="0"/>
            <a:r>
              <a:rPr lang="ja-JP" altLang="en-US" sz="2800" b="1"/>
              <a:t>・</a:t>
            </a:r>
            <a:r>
              <a:rPr lang="ja-JP" altLang="ja-JP" sz="2800" b="1"/>
              <a:t>リピーター獲得の強化（③の結果より）</a:t>
            </a:r>
            <a:br>
              <a:rPr lang="ja-JP" altLang="ja-JP" sz="2800"/>
            </a:br>
            <a:r>
              <a:rPr lang="ja-JP" altLang="en-US" sz="2800"/>
              <a:t>　　</a:t>
            </a:r>
            <a:r>
              <a:rPr lang="ja-JP" altLang="ja-JP" sz="2800"/>
              <a:t>コホート分析の結果、例えば「購入から2ヶ月目にリピート率が落ちる」</a:t>
            </a:r>
            <a:r>
              <a:rPr lang="ja-JP" altLang="en-US" sz="2800"/>
              <a:t>などの</a:t>
            </a:r>
            <a:r>
              <a:rPr lang="ja-JP" altLang="ja-JP" sz="2800"/>
              <a:t>傾向が見えた場合、</a:t>
            </a:r>
            <a:r>
              <a:rPr lang="ja-JP" altLang="en-US" sz="2800"/>
              <a:t>　　　</a:t>
            </a:r>
            <a:endParaRPr lang="en-US" altLang="ja-JP" sz="2800"/>
          </a:p>
          <a:p>
            <a:pPr lvl="0" rtl="0"/>
            <a:r>
              <a:rPr lang="ja-JP" altLang="en-US" sz="2800" b="1"/>
              <a:t>　　</a:t>
            </a:r>
            <a:r>
              <a:rPr lang="ja-JP" altLang="ja-JP" sz="2800"/>
              <a:t>初回購入</a:t>
            </a:r>
            <a:r>
              <a:rPr lang="ja-JP" altLang="en-US" sz="2800"/>
              <a:t>後</a:t>
            </a:r>
            <a:r>
              <a:rPr lang="ja-JP" altLang="ja-JP" sz="2800"/>
              <a:t>45日目が経過したユーザーに対し、2回目の購入で使える限定クーポンを配信するなどの</a:t>
            </a:r>
            <a:endParaRPr lang="en-US" altLang="ja-JP" sz="2800"/>
          </a:p>
          <a:p>
            <a:pPr lvl="0" rtl="0"/>
            <a:r>
              <a:rPr lang="ja-JP" altLang="en-US" sz="2800"/>
              <a:t>　　</a:t>
            </a:r>
            <a:r>
              <a:rPr lang="ja-JP" altLang="ja-JP" sz="2800"/>
              <a:t>ピンポイントな離脱防止策を提案。</a:t>
            </a:r>
          </a:p>
          <a:p>
            <a:pPr rtl="0"/>
            <a:br>
              <a:rPr lang="ja-JP" altLang="ja-JP" sz="1800"/>
            </a:br>
            <a:endParaRPr lang="ja-JP" altLang="ja-JP" sz="1800"/>
          </a:p>
          <a:p>
            <a:endParaRPr kumimoji="1" lang="ja-JP" altLang="en-US" sz="2000" b="1">
              <a:solidFill>
                <a:srgbClr val="C00000"/>
              </a:solidFill>
            </a:endParaRPr>
          </a:p>
        </p:txBody>
      </p:sp>
    </p:spTree>
    <p:extLst>
      <p:ext uri="{BB962C8B-B14F-4D97-AF65-F5344CB8AC3E}">
        <p14:creationId xmlns:p14="http://schemas.microsoft.com/office/powerpoint/2010/main" val="20359659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42424"/>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234</TotalTime>
  <Words>3988</Words>
  <Application>Microsoft Office PowerPoint</Application>
  <PresentationFormat>ユーザー設定</PresentationFormat>
  <Paragraphs>369</Paragraphs>
  <Slides>20</Slides>
  <Notes>1</Notes>
  <HiddenSlides>0</HiddenSlides>
  <MMClips>0</MMClips>
  <ScaleCrop>false</ScaleCrop>
  <HeadingPairs>
    <vt:vector size="6" baseType="variant">
      <vt:variant>
        <vt:lpstr>使用されているフォント</vt:lpstr>
      </vt:variant>
      <vt:variant>
        <vt:i4>13</vt:i4>
      </vt:variant>
      <vt:variant>
        <vt:lpstr>テーマ</vt:lpstr>
      </vt:variant>
      <vt:variant>
        <vt:i4>1</vt:i4>
      </vt:variant>
      <vt:variant>
        <vt:lpstr>スライド タイトル</vt:lpstr>
      </vt:variant>
      <vt:variant>
        <vt:i4>20</vt:i4>
      </vt:variant>
    </vt:vector>
  </HeadingPairs>
  <TitlesOfParts>
    <vt:vector size="34" baseType="lpstr">
      <vt:lpstr>Adobe Clean Han ExtraBold</vt:lpstr>
      <vt:lpstr>Adobe Gothic Std L</vt:lpstr>
      <vt:lpstr>BIZ UDPGothic</vt:lpstr>
      <vt:lpstr>ＭＳ Ｐゴシック</vt:lpstr>
      <vt:lpstr>Nueva Std Cond</vt:lpstr>
      <vt:lpstr>Ryo Gothic Std B</vt:lpstr>
      <vt:lpstr>Ryo Gothic Std R</vt:lpstr>
      <vt:lpstr>SimSun</vt:lpstr>
      <vt:lpstr>游ゴシック</vt:lpstr>
      <vt:lpstr>Calibri</vt:lpstr>
      <vt:lpstr>Gadugi</vt:lpstr>
      <vt:lpstr>Segoe UI</vt:lpstr>
      <vt:lpstr>Segoe UI Symbol</vt:lpstr>
      <vt:lpstr>Office Theme</vt:lpstr>
      <vt:lpstr>PowerPoint プレゼンテーション</vt:lpstr>
      <vt:lpstr>ポートフォリオ/ アパレルECサイト「The Look」 購買データ分析</vt:lpstr>
      <vt:lpstr>2. 使用データと分析環境</vt:lpstr>
      <vt:lpstr>① 月別売上・注文数・客単価の推移（売上集計分析）  </vt:lpstr>
      <vt:lpstr>SQL/月別売上・注文数・客単価の推移</vt:lpstr>
      <vt:lpstr>月別の売上金額・注文数・客単価の推移（売上集計）</vt:lpstr>
      <vt:lpstr>PowerPoint プレゼンテーション</vt:lpstr>
      <vt:lpstr>② 商品別の売上ランキング（ABC分析） </vt:lpstr>
      <vt:lpstr> SQL / ABC分析①</vt:lpstr>
      <vt:lpstr>SQL / ABC分析② </vt:lpstr>
      <vt:lpstr>SQL / ABC分析③  </vt:lpstr>
      <vt:lpstr>商品別_売上ランキング</vt:lpstr>
      <vt:lpstr>　　③ ユーザー初回購入月からの継続率分析（コホート分析）</vt:lpstr>
      <vt:lpstr>　　SQL /コホート分析①</vt:lpstr>
      <vt:lpstr>　　　SQL /コホート分析② </vt:lpstr>
      <vt:lpstr>　　　SQL /コホート分析③ </vt:lpstr>
      <vt:lpstr>PowerPoint プレゼンテーション</vt:lpstr>
      <vt:lpstr>　ユーザー継続率（コホート分析）</vt:lpstr>
      <vt:lpstr>ユーザー継続率（コホート分析）</vt:lpstr>
      <vt:lpstr>　 4. 分析結果からの考察 （ビジネス提言の例）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斎藤こずえ</dc:creator>
  <cp:lastModifiedBy>こずえ 斎藤</cp:lastModifiedBy>
  <cp:revision>1</cp:revision>
  <dcterms:created xsi:type="dcterms:W3CDTF">2026-09-22T02:23:23Z</dcterms:created>
  <dcterms:modified xsi:type="dcterms:W3CDTF">2026-09-23T05:31:52Z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2026-09-22T00:00:00Z</vt:filetime>
  </property>
  <property fmtid="{D5CDD505-2E9C-101B-9397-08002B2CF9AE}" pid="3" name="Creator">
    <vt:lpwstr>PDFium</vt:lpwstr>
  </property>
  <property fmtid="{D5CDD505-2E9C-101B-9397-08002B2CF9AE}" pid="4" name="Producer">
    <vt:lpwstr>PDFium</vt:lpwstr>
  </property>
  <property fmtid="{D5CDD505-2E9C-101B-9397-08002B2CF9AE}" pid="5" name="LastSaved">
    <vt:filetime>2026-09-22T00:00:00Z</vt:filetime>
  </property>
</Properties>
</file>